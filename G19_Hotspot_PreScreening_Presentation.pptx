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1.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2.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2" r:id="rId17"/>
    <p:sldId id="271"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2" d="100"/>
          <a:sy n="52" d="100"/>
        </p:scale>
        <p:origin x="835" y="4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v>Baseline missed hotspots</c:v>
          </c:tx>
          <c:spPr>
            <a:solidFill>
              <a:srgbClr val="8295A6"/>
            </a:solidFill>
          </c:spPr>
          <c:invertIfNegative val="1"/>
          <c:dLbls>
            <c:spPr>
              <a:noFill/>
              <a:ln>
                <a:noFill/>
              </a:ln>
              <a:effectLst/>
            </c:spPr>
            <c:txPr>
              <a:bodyPr anchorCtr="1"/>
              <a:lstStyle/>
              <a:p>
                <a:pPr>
                  <a:defRPr sz="1425">
                    <a:solidFill>
                      <a:srgbClr val="172E40"/>
                    </a:solidFill>
                    <a:latin typeface="Arial"/>
                    <a:ea typeface="Arial"/>
                    <a:cs typeface="Aria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Data'!$A$2:$A$6</c:f>
              <c:strCache>
                <c:ptCount val="5"/>
                <c:pt idx="0">
                  <c:v>B1</c:v>
                </c:pt>
                <c:pt idx="1">
                  <c:v>B2</c:v>
                </c:pt>
                <c:pt idx="2">
                  <c:v>B3</c:v>
                </c:pt>
                <c:pt idx="3">
                  <c:v>B4</c:v>
                </c:pt>
                <c:pt idx="4">
                  <c:v>B5</c:v>
                </c:pt>
              </c:strCache>
            </c:strRef>
          </c:cat>
          <c:val>
            <c:numRef>
              <c:f>'Chart Data'!$B$2:$B$6</c:f>
              <c:numCache>
                <c:formatCode>0.00%</c:formatCode>
                <c:ptCount val="5"/>
                <c:pt idx="0">
                  <c:v>0.46902654999999999</c:v>
                </c:pt>
                <c:pt idx="1">
                  <c:v>6.0241000000000001E-3</c:v>
                </c:pt>
                <c:pt idx="2">
                  <c:v>2.0464599999999999E-2</c:v>
                </c:pt>
                <c:pt idx="3">
                  <c:v>2.8248590000000001E-2</c:v>
                </c:pt>
                <c:pt idx="4">
                  <c:v>7.3170730000000003E-2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D5BE-418A-BEA2-B173544DDAB5}"/>
            </c:ext>
          </c:extLst>
        </c:ser>
        <c:ser>
          <c:idx val="1"/>
          <c:order val="1"/>
          <c:tx>
            <c:v>Hotspots screened as safe</c:v>
          </c:tx>
          <c:spPr>
            <a:solidFill>
              <a:srgbClr val="087E82"/>
            </a:solidFill>
          </c:spPr>
          <c:invertIfNegative val="1"/>
          <c:dLbls>
            <c:spPr>
              <a:noFill/>
              <a:ln>
                <a:noFill/>
              </a:ln>
              <a:effectLst/>
            </c:spPr>
            <c:txPr>
              <a:bodyPr anchorCtr="1"/>
              <a:lstStyle/>
              <a:p>
                <a:pPr>
                  <a:defRPr sz="1425">
                    <a:solidFill>
                      <a:srgbClr val="172E40"/>
                    </a:solidFill>
                    <a:latin typeface="Arial"/>
                    <a:ea typeface="Arial"/>
                    <a:cs typeface="Aria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Data'!$C$2:$C$6</c:f>
              <c:strCache>
                <c:ptCount val="5"/>
                <c:pt idx="0">
                  <c:v>B1</c:v>
                </c:pt>
                <c:pt idx="1">
                  <c:v>B2</c:v>
                </c:pt>
                <c:pt idx="2">
                  <c:v>B3</c:v>
                </c:pt>
                <c:pt idx="3">
                  <c:v>B4</c:v>
                </c:pt>
                <c:pt idx="4">
                  <c:v>B5</c:v>
                </c:pt>
              </c:strCache>
            </c:strRef>
          </c:cat>
          <c:val>
            <c:numRef>
              <c:f>'Chart Data'!$D$2:$D$6</c:f>
              <c:numCache>
                <c:formatCode>0.00%</c:formatCode>
                <c:ptCount val="5"/>
                <c:pt idx="0">
                  <c:v>0.16814159000000001</c:v>
                </c:pt>
                <c:pt idx="1">
                  <c:v>4.0160600000000001E-3</c:v>
                </c:pt>
                <c:pt idx="2">
                  <c:v>1.935841E-2</c:v>
                </c:pt>
                <c:pt idx="3">
                  <c:v>2.259887E-2</c:v>
                </c:pt>
                <c:pt idx="4">
                  <c:v>2.4390240000000001E-2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D5BE-418A-BEA2-B173544DDAB5}"/>
            </c:ext>
          </c:extLst>
        </c:ser>
        <c:dLbls>
          <c:dLblPos val="outEnd"/>
          <c:showLegendKey val="0"/>
          <c:showVal val="1"/>
          <c:showCatName val="0"/>
          <c:showSerName val="0"/>
          <c:showPercent val="0"/>
          <c:showBubbleSize val="0"/>
        </c:dLbls>
        <c:gapWidth val="110"/>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D4D4D4"/>
            </a:solidFill>
            <a:prstDash val="solid"/>
          </a:ln>
        </c:spPr>
        <c:txPr>
          <a:bodyPr anchorCtr="1"/>
          <a:lstStyle/>
          <a:p>
            <a:pPr>
              <a:defRPr sz="1500">
                <a:solidFill>
                  <a:srgbClr val="526577"/>
                </a:solidFill>
                <a:latin typeface="Arial"/>
                <a:ea typeface="Arial"/>
                <a:cs typeface="Arial"/>
              </a:defRPr>
            </a:pPr>
            <a:endParaRPr lang="en-US"/>
          </a:p>
        </c:txPr>
        <c:crossAx val="48672768"/>
        <c:crosses val="autoZero"/>
        <c:auto val="1"/>
        <c:lblAlgn val="ctr"/>
        <c:lblOffset val="100"/>
        <c:noMultiLvlLbl val="1"/>
      </c:catAx>
      <c:valAx>
        <c:axId val="48672768"/>
        <c:scaling>
          <c:orientation val="minMax"/>
          <c:max val="0.55000000000000004"/>
          <c:min val="0"/>
        </c:scaling>
        <c:delete val="0"/>
        <c:axPos val="l"/>
        <c:majorGridlines>
          <c:spPr>
            <a:ln w="9525">
              <a:solidFill>
                <a:srgbClr val="DEE6EA"/>
              </a:solidFill>
            </a:ln>
          </c:spPr>
        </c:majorGridlines>
        <c:numFmt formatCode="0.00%" sourceLinked="1"/>
        <c:majorTickMark val="none"/>
        <c:minorTickMark val="none"/>
        <c:tickLblPos val="nextTo"/>
        <c:spPr>
          <a:ln w="9525">
            <a:solidFill>
              <a:srgbClr val="D4D4D4"/>
            </a:solidFill>
            <a:prstDash val="solid"/>
          </a:ln>
        </c:spPr>
        <c:txPr>
          <a:bodyPr anchorCtr="1"/>
          <a:lstStyle/>
          <a:p>
            <a:pPr>
              <a:defRPr sz="1500">
                <a:solidFill>
                  <a:srgbClr val="526577"/>
                </a:solidFill>
                <a:latin typeface="Arial"/>
                <a:ea typeface="Arial"/>
                <a:cs typeface="Arial"/>
              </a:defRPr>
            </a:pPr>
            <a:endParaRPr lang="en-US"/>
          </a:p>
        </c:txPr>
        <c:crossAx val="48650112"/>
        <c:crosses val="autoZero"/>
        <c:crossBetween val="between"/>
        <c:majorUnit val="0.1"/>
      </c:valAx>
      <c:spPr>
        <a:solidFill>
          <a:srgbClr val="FFFFFF"/>
        </a:solidFill>
        <a:ln w="0">
          <a:noFill/>
        </a:ln>
      </c:spPr>
    </c:plotArea>
    <c:legend>
      <c:legendPos val="b"/>
      <c:overlay val="0"/>
      <c:txPr>
        <a:bodyPr anchorCtr="1"/>
        <a:lstStyle/>
        <a:p>
          <a:pPr>
            <a:defRPr sz="1575">
              <a:solidFill>
                <a:srgbClr val="172E40"/>
              </a:solidFill>
              <a:latin typeface="Arial"/>
              <a:ea typeface="Arial"/>
              <a:cs typeface="Arial"/>
            </a:defRPr>
          </a:pPr>
          <a:endParaRPr lang="en-US"/>
        </a:p>
      </c:txPr>
    </c:legend>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stacked"/>
        <c:varyColors val="0"/>
        <c:ser>
          <c:idx val="0"/>
          <c:order val="0"/>
          <c:tx>
            <c:v>Screened as safe</c:v>
          </c:tx>
          <c:spPr>
            <a:solidFill>
              <a:srgbClr val="A8CFD0"/>
            </a:solidFill>
          </c:spPr>
          <c:invertIfNegative val="1"/>
          <c:cat>
            <c:strRef>
              <c:f>'Chart Data'!$A$2:$A$6</c:f>
              <c:strCache>
                <c:ptCount val="5"/>
                <c:pt idx="0">
                  <c:v>B1</c:v>
                </c:pt>
                <c:pt idx="1">
                  <c:v>B2</c:v>
                </c:pt>
                <c:pt idx="2">
                  <c:v>B3</c:v>
                </c:pt>
                <c:pt idx="3">
                  <c:v>B4</c:v>
                </c:pt>
                <c:pt idx="4">
                  <c:v>B5</c:v>
                </c:pt>
              </c:strCache>
            </c:strRef>
          </c:cat>
          <c:val>
            <c:numRef>
              <c:f>'Chart Data'!$B$2:$B$6</c:f>
              <c:numCache>
                <c:formatCode>0.00%</c:formatCode>
                <c:ptCount val="5"/>
                <c:pt idx="0">
                  <c:v>0.86483180000000004</c:v>
                </c:pt>
                <c:pt idx="1">
                  <c:v>0.96351324999999999</c:v>
                </c:pt>
                <c:pt idx="2">
                  <c:v>0.91190461</c:v>
                </c:pt>
                <c:pt idx="3">
                  <c:v>0.94973025</c:v>
                </c:pt>
                <c:pt idx="4">
                  <c:v>0.93143328999999997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1762-4D6F-8042-6A16650E3558}"/>
            </c:ext>
          </c:extLst>
        </c:ser>
        <c:ser>
          <c:idx val="1"/>
          <c:order val="1"/>
          <c:tx>
            <c:v>Referred</c:v>
          </c:tx>
          <c:spPr>
            <a:solidFill>
              <a:srgbClr val="C97925"/>
            </a:solidFill>
          </c:spPr>
          <c:invertIfNegative val="1"/>
          <c:cat>
            <c:strRef>
              <c:f>'Chart Data'!$C$2:$C$6</c:f>
              <c:strCache>
                <c:ptCount val="5"/>
                <c:pt idx="0">
                  <c:v>B1</c:v>
                </c:pt>
                <c:pt idx="1">
                  <c:v>B2</c:v>
                </c:pt>
                <c:pt idx="2">
                  <c:v>B3</c:v>
                </c:pt>
                <c:pt idx="3">
                  <c:v>B4</c:v>
                </c:pt>
                <c:pt idx="4">
                  <c:v>B5</c:v>
                </c:pt>
              </c:strCache>
            </c:strRef>
          </c:cat>
          <c:val>
            <c:numRef>
              <c:f>'Chart Data'!$D$2:$D$6</c:f>
              <c:numCache>
                <c:formatCode>0.00%</c:formatCode>
                <c:ptCount val="5"/>
                <c:pt idx="0">
                  <c:v>0.12110092</c:v>
                </c:pt>
                <c:pt idx="1">
                  <c:v>1.1245099999999999E-2</c:v>
                </c:pt>
                <c:pt idx="2">
                  <c:v>7.9142499999999994E-3</c:v>
                </c:pt>
                <c:pt idx="3">
                  <c:v>1.225559E-2</c:v>
                </c:pt>
                <c:pt idx="4">
                  <c:v>1.956836E-2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1762-4D6F-8042-6A16650E3558}"/>
            </c:ext>
          </c:extLst>
        </c:ser>
        <c:ser>
          <c:idx val="2"/>
          <c:order val="2"/>
          <c:tx>
            <c:v>Flagged</c:v>
          </c:tx>
          <c:spPr>
            <a:solidFill>
              <a:srgbClr val="152B3C"/>
            </a:solidFill>
          </c:spPr>
          <c:invertIfNegative val="1"/>
          <c:cat>
            <c:strRef>
              <c:f>'Chart Data'!$E$2:$E$6</c:f>
              <c:strCache>
                <c:ptCount val="5"/>
                <c:pt idx="0">
                  <c:v>B1</c:v>
                </c:pt>
                <c:pt idx="1">
                  <c:v>B2</c:v>
                </c:pt>
                <c:pt idx="2">
                  <c:v>B3</c:v>
                </c:pt>
                <c:pt idx="3">
                  <c:v>B4</c:v>
                </c:pt>
                <c:pt idx="4">
                  <c:v>B5</c:v>
                </c:pt>
              </c:strCache>
            </c:strRef>
          </c:cat>
          <c:val>
            <c:numRef>
              <c:f>'Chart Data'!$F$2:$F$6</c:f>
              <c:numCache>
                <c:formatCode>0.00%</c:formatCode>
                <c:ptCount val="5"/>
                <c:pt idx="0">
                  <c:v>1.406728E-2</c:v>
                </c:pt>
                <c:pt idx="1">
                  <c:v>2.5241650000000001E-2</c:v>
                </c:pt>
                <c:pt idx="2">
                  <c:v>8.0181130000000003E-2</c:v>
                </c:pt>
                <c:pt idx="3">
                  <c:v>3.8014159999999998E-2</c:v>
                </c:pt>
                <c:pt idx="4">
                  <c:v>4.8998350000000003E-2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1762-4D6F-8042-6A16650E3558}"/>
            </c:ext>
          </c:extLst>
        </c:ser>
        <c:dLbls>
          <c:showLegendKey val="0"/>
          <c:showVal val="0"/>
          <c:showCatName val="0"/>
          <c:showSerName val="0"/>
          <c:showPercent val="0"/>
          <c:showBubbleSize val="0"/>
        </c:dLbls>
        <c:gapWidth val="110"/>
        <c:overlap val="100"/>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D4D4D4"/>
            </a:solidFill>
            <a:prstDash val="solid"/>
          </a:ln>
        </c:spPr>
        <c:txPr>
          <a:bodyPr anchorCtr="1"/>
          <a:lstStyle/>
          <a:p>
            <a:pPr>
              <a:defRPr sz="1500">
                <a:solidFill>
                  <a:srgbClr val="526577"/>
                </a:solidFill>
                <a:latin typeface="Arial"/>
                <a:ea typeface="Arial"/>
                <a:cs typeface="Arial"/>
              </a:defRPr>
            </a:pPr>
            <a:endParaRPr lang="en-US"/>
          </a:p>
        </c:txPr>
        <c:crossAx val="48672768"/>
        <c:crosses val="autoZero"/>
        <c:auto val="1"/>
        <c:lblAlgn val="ctr"/>
        <c:lblOffset val="100"/>
        <c:noMultiLvlLbl val="1"/>
      </c:catAx>
      <c:valAx>
        <c:axId val="48672768"/>
        <c:scaling>
          <c:orientation val="minMax"/>
          <c:max val="1"/>
          <c:min val="0"/>
        </c:scaling>
        <c:delete val="0"/>
        <c:axPos val="l"/>
        <c:majorGridlines>
          <c:spPr>
            <a:ln w="9525">
              <a:solidFill>
                <a:srgbClr val="DEE6EA"/>
              </a:solidFill>
            </a:ln>
          </c:spPr>
        </c:majorGridlines>
        <c:numFmt formatCode="0.00%" sourceLinked="1"/>
        <c:majorTickMark val="none"/>
        <c:minorTickMark val="none"/>
        <c:tickLblPos val="nextTo"/>
        <c:spPr>
          <a:ln w="9525">
            <a:solidFill>
              <a:srgbClr val="D4D4D4"/>
            </a:solidFill>
            <a:prstDash val="solid"/>
          </a:ln>
        </c:spPr>
        <c:txPr>
          <a:bodyPr anchorCtr="1"/>
          <a:lstStyle/>
          <a:p>
            <a:pPr>
              <a:defRPr sz="1500">
                <a:solidFill>
                  <a:srgbClr val="526577"/>
                </a:solidFill>
                <a:latin typeface="Arial"/>
                <a:ea typeface="Arial"/>
                <a:cs typeface="Arial"/>
              </a:defRPr>
            </a:pPr>
            <a:endParaRPr lang="en-US"/>
          </a:p>
        </c:txPr>
        <c:crossAx val="48650112"/>
        <c:crosses val="autoZero"/>
        <c:crossBetween val="between"/>
        <c:majorUnit val="0.2"/>
      </c:valAx>
      <c:spPr>
        <a:solidFill>
          <a:srgbClr val="FFFFFF"/>
        </a:solidFill>
        <a:ln w="0">
          <a:noFill/>
        </a:ln>
      </c:spPr>
    </c:plotArea>
    <c:legend>
      <c:legendPos val="b"/>
      <c:overlay val="0"/>
      <c:txPr>
        <a:bodyPr anchorCtr="1"/>
        <a:lstStyle/>
        <a:p>
          <a:pPr>
            <a:defRPr sz="1575">
              <a:solidFill>
                <a:srgbClr val="172E40"/>
              </a:solidFill>
              <a:latin typeface="Arial"/>
              <a:ea typeface="Arial"/>
              <a:cs typeface="Arial"/>
            </a:defRPr>
          </a:pPr>
          <a:endParaRPr lang="en-US"/>
        </a:p>
      </c:txPr>
    </c:legend>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Project title, course, group and semester: DA2_BVD_AIML_4.9.2026.pdf, pages 1 and 5. The presentation summarizes supplied project scripts and saved outputs.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DA2_BVD_AIML_4.9.2026.pdf, page 1 for course details, page 5 for G19 allocation. Four names appear in the G19 group allocation, despite the generic cover statement of a three-student group. All four listed members are retained. Class number: CH2026270102565. Assignment submission date: 20/09/2026.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Background and figure: Ajay Verma, K Akhilesh Rao and Dhruva S Hegde, Lithography Hotspot Detection using Deep Learning, supplied Reference Paper.pdf, page 1, Figure 1. Research question adapted to the G19 statement in DA2_BVD_AIML_4.9.2026.pdf, page 10.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Reference result: Reference Paper.pdf, page 3, section V.B. The paper uses a 12,873-parameter CNN with ELU blocks and Nadam. Our supplied baseline uses two ReLU convolution blocks, Adam and a dense layer, so it is a separate implementation rather than an exact reproduction. Local sources: C:/Users/kamal/Downloads/aiml_project_output/01_baseline_model.py and 02_referral_logic.py.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Counts recalculated directly from predictions_benchmark_1.csv through predictions_benchmark_5.csv and checked against baseline_metrics_summary.csv. Total counts are descriptive only, and the primary experiments remain separate. Training protocol in 01_baseline_model.py: grayscale, 64 x 64 pixels, normalization by 255, validation_split=0.15 and split seed 42. Source training image folders were not included, so their class counts are not presented.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C:/Users/kamal/Downloads/aiml_project_output/01_baseline_model.py. Class weights equal total/(2 x class_count), calculated from the training subset. The loader determines the hotspot class index and flips sigmoid values when required, independently aligning test labels. Baseline prediction rule: score &gt;= 0.50 means hotspot. The displayed settings come from the supplied implementation, and no retraining was performed for this presentation.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C:/Users/kamal/Downloads/aiml_project_output/02_referral_logic.py and saved referral_labels_benchmark_* files. The executable bucket_label function and actual outputs define the behavior. Comments beside the threshold list reverse the wide/narrow interval interpretation, so this presentation uses the actual inequalities. The code label safe is a screening decision, not a guarantee that no hotspot exists. The project generates referrals but does not execute a lithography simulator or measure subsequent verifier accuracy.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baseline_metrics_summary.csv, verified against all five saved prediction files. Precision = TP/(TP+FP). Recall = TP/(TP+FN). Specificity = TN/(TN+FP). F1 = 2TP/(2TP+FP+FN). Balanced accuracy averages recall and specificity. The macro mean is the mean of five per-benchmark metrics, not a metric calculated from pooled counts. Overall accuracy is not used as the headline because the test sets are highly imbalanced.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baseline_metrics_summary.csv. All counts independently checked against the saved test labels and confidence values using the 0.50 threshold. The count 154 is the sum of five false-negative counts. This descriptive total does not replace per-benchmark evaluation.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predictions_benchmark_*.csv, baseline_metrics_summary.csv and referral_summary.csv. Baseline missed-hotspot rate = FN/(TP+FN), equivalently 1-recall. Referral missed-hotspot rate = true hotspots in the safe bucket / all true hotspots. The featured pair has mean referral rate 3.441684%. The reduction is 7.168588 percentage points. It does not demonstrate that a downstream verifier correctly recovers every referred hotspot.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referral_summary.csv and overall_average_summary.csv. Values recalculated from the saved predictions. Macro averages: (0.3,0.7) referral 2.049373%, miss 8.009325%; (0.2,0.8) referral 3.441684%, miss 4.770104%; (0.1,0.9) referral 5.676510%, miss 1.991180%. No validation-based threshold optimization or external operating-cost constraint is documented.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referral_summary.csv, screening_efficiency_table.csv. Screening rate = n_safe/N, referral rate = n_needs_check/N, flagged rate = n_risky/N. The three mutually exclusive bucket rates sum to 100% per benchmark, apart from displayed rounding. The screened bucket still contains true hotspots. Work on flagged patterns also contributes to downstream workload. These fractions do not by themselves establish actual compute or time savings.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proposed_bucket_confusion.csv for benchmark 1 at thresholds 0.2/0.8, plus baseline_metrics_summary.csv. Baseline false negatives: 106. New safe-bucket hotspots: 38. Difference: 68 true hotspots with scores in (0.2,0.5) move from baseline negative decisions into needs_check. Verification queue: 136 HS + 458 NHS = 594 patterns (12.1101% of 4,905). A referred true hotspot is not a verified detection until the downstream check succeeds.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Evidence limits assessed from the supplied scripts and outputs: there is no simulator, verifier outcome log, timing output, calibration study, repeated-run summary or uncertainty interval. Proposed post-verification balanced accuracy, precision, recall and F1 therefore remain unknown. The G19 assignment brief also differentiates potential screening efficiency from demonstrated simulation speed-up.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Conclusion based on verified per-benchmark test outputs. The selected headline pair is 0.20/0.80 as featured in 03_final_comparison.py. Macro baseline miss rate 11.938691%, macro safe-bucket miss rate 4.770104%, absolute difference 7.168588 percentage points. The base CNN is unchanged, and no downstream verifier outcomes were supplied.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files: C:/Users/kamal/Downloads/Reference Paper.pdf; C:/Users/kamal/Downloads/DA2_BVD_AIML_4.9.2026.pdf; C:/Users/kamal/Downloads/aiml_project_output/01_baseline_model.py; C:/Users/kamal/Downloads/aiml_project_output/02_referral_logic.py; C:/Users/kamal/Downloads/aiml_project_output/03_final_comparison.py; C:/Users/kamal/Downloads/aiml_project_output/outputs/. Numerical evidence primarily uses predictions_benchmark_1.csv through predictions_benchmark_5.csv, baseline_metrics_summary.csv, referral_summary.csv and proposed_bucket_confusion.csv. Charts and tables in the presentation use editable native objects.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52B3C"/>
        </a:solidFill>
        <a:effectLst/>
      </p:bgPr>
    </p:bg>
    <p:spTree>
      <p:nvGrpSpPr>
        <p:cNvPr id="1" name=""/>
        <p:cNvGrpSpPr/>
        <p:nvPr/>
      </p:nvGrpSpPr>
      <p:grpSpPr>
        <a:xfrm>
          <a:off x="0" y="0"/>
          <a:ext cx="0" cy="0"/>
          <a:chOff x="0" y="0"/>
          <a:chExt cx="0" cy="0"/>
        </a:xfrm>
      </p:grpSpPr>
      <p:sp>
        <p:nvSpPr>
          <p:cNvPr id="8" name="G19">
            <a:extLst>
              <a:ext uri="{FF2B5EF4-FFF2-40B4-BE49-F238E27FC236}">
                <a16:creationId xmlns:a16="http://schemas.microsoft.com/office/drawing/2014/main" id="{121D0629-C9F0-4F4F-B235-D810B72CDC6D}"/>
              </a:ext>
            </a:extLst>
          </p:cNvPr>
          <p:cNvSpPr>
            <a:spLocks noGrp="1"/>
          </p:cNvSpPr>
          <p:nvPr/>
        </p:nvSpPr>
        <p:spPr>
          <a:xfrm>
            <a:off x="609600" y="6467475"/>
            <a:ext cx="952500" cy="219075"/>
          </a:xfrm>
          <a:prstGeom prst="rect">
            <a:avLst/>
          </a:prstGeom>
          <a:noFill/>
          <a:ln w="0">
            <a:noFill/>
          </a:ln>
        </p:spPr>
        <p:txBody>
          <a:bodyPr wrap="square" lIns="0" tIns="0" rIns="0" bIns="0" anchor="t">
            <a:noAutofit/>
          </a:bodyPr>
          <a:lstStyle/>
          <a:p>
            <a:pPr algn="l">
              <a:defRPr sz="1200" b="0">
                <a:solidFill>
                  <a:srgbClr val="A4C5D1"/>
                </a:solidFill>
                <a:latin typeface="Arial"/>
                <a:ea typeface="Arial"/>
                <a:cs typeface="Arial"/>
              </a:defRPr>
            </a:pPr>
            <a:r>
              <a:rPr sz="1200" b="0">
                <a:solidFill>
                  <a:srgbClr val="A4C5D1"/>
                </a:solidFill>
                <a:latin typeface="Arial"/>
                <a:ea typeface="Arial"/>
                <a:cs typeface="Arial"/>
              </a:rPr>
              <a:t>G19</a:t>
            </a:r>
          </a:p>
        </p:txBody>
      </p:sp>
      <p:sp>
        <p:nvSpPr>
          <p:cNvPr id="2" name="01">
            <a:extLst>
              <a:ext uri="{FF2B5EF4-FFF2-40B4-BE49-F238E27FC236}">
                <a16:creationId xmlns:a16="http://schemas.microsoft.com/office/drawing/2014/main" id="{D247E65D-2118-4C9D-98CD-832E18769ADD}"/>
              </a:ext>
            </a:extLst>
          </p:cNvPr>
          <p:cNvSpPr>
            <a:spLocks noGrp="1"/>
          </p:cNvSpPr>
          <p:nvPr/>
        </p:nvSpPr>
        <p:spPr>
          <a:xfrm>
            <a:off x="10991850" y="6467475"/>
            <a:ext cx="571500" cy="219075"/>
          </a:xfrm>
          <a:prstGeom prst="rect">
            <a:avLst/>
          </a:prstGeom>
          <a:noFill/>
          <a:ln w="0">
            <a:noFill/>
          </a:ln>
        </p:spPr>
        <p:txBody>
          <a:bodyPr wrap="square" lIns="0" tIns="0" rIns="0" bIns="0" anchor="t">
            <a:noAutofit/>
          </a:bodyPr>
          <a:lstStyle/>
          <a:p>
            <a:pPr algn="r">
              <a:defRPr sz="1200" b="0">
                <a:solidFill>
                  <a:srgbClr val="A4C5D1"/>
                </a:solidFill>
                <a:latin typeface="Arial"/>
                <a:ea typeface="Arial"/>
                <a:cs typeface="Arial"/>
              </a:defRPr>
            </a:pPr>
            <a:r>
              <a:rPr sz="1200" b="0">
                <a:solidFill>
                  <a:srgbClr val="A4C5D1"/>
                </a:solidFill>
                <a:latin typeface="Arial"/>
                <a:ea typeface="Arial"/>
                <a:cs typeface="Arial"/>
              </a:rPr>
              <a:t>01</a:t>
            </a:r>
          </a:p>
        </p:txBody>
      </p:sp>
      <p:sp>
        <p:nvSpPr>
          <p:cNvPr id="3" name="DIGITAL ASSIGNMENT II">
            <a:extLst>
              <a:ext uri="{FF2B5EF4-FFF2-40B4-BE49-F238E27FC236}">
                <a16:creationId xmlns:a16="http://schemas.microsoft.com/office/drawing/2014/main" id="{81A8332A-394B-458A-9C8F-14AAE2F10BE1}"/>
              </a:ext>
            </a:extLst>
          </p:cNvPr>
          <p:cNvSpPr>
            <a:spLocks noGrp="1"/>
          </p:cNvSpPr>
          <p:nvPr/>
        </p:nvSpPr>
        <p:spPr>
          <a:xfrm>
            <a:off x="628650" y="552450"/>
            <a:ext cx="9048750" cy="323850"/>
          </a:xfrm>
          <a:prstGeom prst="rect">
            <a:avLst/>
          </a:prstGeom>
          <a:noFill/>
          <a:ln w="0">
            <a:noFill/>
          </a:ln>
        </p:spPr>
        <p:txBody>
          <a:bodyPr wrap="square" lIns="0" tIns="0" rIns="0" bIns="0" anchor="t">
            <a:noAutofit/>
          </a:bodyPr>
          <a:lstStyle/>
          <a:p>
            <a:pPr algn="l">
              <a:defRPr sz="1650" b="1">
                <a:solidFill>
                  <a:srgbClr val="A9CDDA"/>
                </a:solidFill>
                <a:latin typeface="Arial"/>
                <a:ea typeface="Arial"/>
                <a:cs typeface="Arial"/>
              </a:defRPr>
            </a:pPr>
            <a:r>
              <a:rPr sz="1650" b="1">
                <a:solidFill>
                  <a:srgbClr val="A9CDDA"/>
                </a:solidFill>
                <a:latin typeface="Arial"/>
                <a:ea typeface="Arial"/>
                <a:cs typeface="Arial"/>
              </a:rPr>
              <a:t>DIGITAL ASSIGNMENT II</a:t>
            </a:r>
          </a:p>
        </p:txBody>
      </p:sp>
      <p:sp>
        <p:nvSpPr>
          <p:cNvPr id="4" name="ML-Based Pre-Screening&#10;and Verification Referral&#10;for Hotspots">
            <a:extLst>
              <a:ext uri="{FF2B5EF4-FFF2-40B4-BE49-F238E27FC236}">
                <a16:creationId xmlns:a16="http://schemas.microsoft.com/office/drawing/2014/main" id="{FA9162B4-0227-4B1D-B427-C34134E5E8DE}"/>
              </a:ext>
            </a:extLst>
          </p:cNvPr>
          <p:cNvSpPr>
            <a:spLocks noGrp="1"/>
          </p:cNvSpPr>
          <p:nvPr/>
        </p:nvSpPr>
        <p:spPr>
          <a:xfrm>
            <a:off x="628650" y="1581150"/>
            <a:ext cx="10953750" cy="2286000"/>
          </a:xfrm>
          <a:prstGeom prst="rect">
            <a:avLst/>
          </a:prstGeom>
          <a:noFill/>
          <a:ln w="0">
            <a:noFill/>
          </a:ln>
        </p:spPr>
        <p:txBody>
          <a:bodyPr wrap="square" lIns="0" tIns="0" rIns="0" bIns="0" anchor="t">
            <a:noAutofit/>
          </a:bodyPr>
          <a:lstStyle/>
          <a:p>
            <a:pPr algn="l">
              <a:defRPr sz="4425" b="1">
                <a:solidFill>
                  <a:srgbClr val="FFFFFF"/>
                </a:solidFill>
                <a:latin typeface="Arial"/>
                <a:ea typeface="Arial"/>
                <a:cs typeface="Arial"/>
              </a:defRPr>
            </a:pPr>
            <a:r>
              <a:rPr sz="4425" b="1">
                <a:solidFill>
                  <a:srgbClr val="FFFFFF"/>
                </a:solidFill>
                <a:latin typeface="Arial"/>
                <a:ea typeface="Arial"/>
                <a:cs typeface="Arial"/>
              </a:rPr>
              <a:t>ML-Based Pre-Screening</a:t>
            </a:r>
          </a:p>
          <a:p>
            <a:pPr algn="l">
              <a:defRPr sz="4425" b="1">
                <a:solidFill>
                  <a:srgbClr val="FFFFFF"/>
                </a:solidFill>
                <a:latin typeface="Arial"/>
                <a:ea typeface="Arial"/>
                <a:cs typeface="Arial"/>
              </a:defRPr>
            </a:pPr>
            <a:r>
              <a:rPr sz="4425" b="1">
                <a:solidFill>
                  <a:srgbClr val="FFFFFF"/>
                </a:solidFill>
                <a:latin typeface="Arial"/>
                <a:ea typeface="Arial"/>
                <a:cs typeface="Arial"/>
              </a:rPr>
              <a:t>and Verification Referral</a:t>
            </a:r>
          </a:p>
          <a:p>
            <a:pPr algn="l">
              <a:defRPr sz="4425" b="1">
                <a:solidFill>
                  <a:srgbClr val="FFFFFF"/>
                </a:solidFill>
                <a:latin typeface="Arial"/>
                <a:ea typeface="Arial"/>
                <a:cs typeface="Arial"/>
              </a:defRPr>
            </a:pPr>
            <a:r>
              <a:rPr sz="4425" b="1">
                <a:solidFill>
                  <a:srgbClr val="FFFFFF"/>
                </a:solidFill>
                <a:latin typeface="Arial"/>
                <a:ea typeface="Arial"/>
                <a:cs typeface="Arial"/>
              </a:rPr>
              <a:t>for Hotspots</a:t>
            </a:r>
          </a:p>
        </p:txBody>
      </p:sp>
      <p:sp>
        <p:nvSpPr>
          <p:cNvPr id="5" name="Lithography hotspot detection on ICCAD-12 benchmarks">
            <a:extLst>
              <a:ext uri="{FF2B5EF4-FFF2-40B4-BE49-F238E27FC236}">
                <a16:creationId xmlns:a16="http://schemas.microsoft.com/office/drawing/2014/main" id="{48CAB155-353B-4977-B2CB-D3DB013D789F}"/>
              </a:ext>
            </a:extLst>
          </p:cNvPr>
          <p:cNvSpPr>
            <a:spLocks noGrp="1"/>
          </p:cNvSpPr>
          <p:nvPr/>
        </p:nvSpPr>
        <p:spPr>
          <a:xfrm>
            <a:off x="647700" y="4143375"/>
            <a:ext cx="10668000" cy="428625"/>
          </a:xfrm>
          <a:prstGeom prst="rect">
            <a:avLst/>
          </a:prstGeom>
          <a:noFill/>
          <a:ln w="0">
            <a:noFill/>
          </a:ln>
        </p:spPr>
        <p:txBody>
          <a:bodyPr wrap="square" lIns="0" tIns="0" rIns="0" bIns="0" anchor="t">
            <a:noAutofit/>
          </a:bodyPr>
          <a:lstStyle/>
          <a:p>
            <a:pPr algn="l">
              <a:defRPr sz="2100" b="0">
                <a:solidFill>
                  <a:srgbClr val="D8E7ED"/>
                </a:solidFill>
                <a:latin typeface="Arial"/>
                <a:ea typeface="Arial"/>
                <a:cs typeface="Arial"/>
              </a:defRPr>
            </a:pPr>
            <a:r>
              <a:rPr sz="2100" b="0">
                <a:solidFill>
                  <a:srgbClr val="D8E7ED"/>
                </a:solidFill>
                <a:latin typeface="Arial"/>
                <a:ea typeface="Arial"/>
                <a:cs typeface="Arial"/>
              </a:rPr>
              <a:t>Lithography hotspot detection on ICCAD-12 benchmarks</a:t>
            </a:r>
          </a:p>
        </p:txBody>
      </p:sp>
      <p:sp>
        <p:nvSpPr>
          <p:cNvPr id="6" name="AI and Machine Learning for IC">
            <a:extLst>
              <a:ext uri="{FF2B5EF4-FFF2-40B4-BE49-F238E27FC236}">
                <a16:creationId xmlns:a16="http://schemas.microsoft.com/office/drawing/2014/main" id="{DA1ACE26-198B-408B-AEC0-C269E72AB4AA}"/>
              </a:ext>
            </a:extLst>
          </p:cNvPr>
          <p:cNvSpPr>
            <a:spLocks noGrp="1"/>
          </p:cNvSpPr>
          <p:nvPr/>
        </p:nvSpPr>
        <p:spPr>
          <a:xfrm>
            <a:off x="647700" y="5133975"/>
            <a:ext cx="7620000" cy="342900"/>
          </a:xfrm>
          <a:prstGeom prst="rect">
            <a:avLst/>
          </a:prstGeom>
          <a:noFill/>
          <a:ln w="0">
            <a:noFill/>
          </a:ln>
        </p:spPr>
        <p:txBody>
          <a:bodyPr wrap="square" lIns="0" tIns="0" rIns="0" bIns="0" anchor="t">
            <a:noAutofit/>
          </a:bodyPr>
          <a:lstStyle/>
          <a:p>
            <a:pPr algn="l">
              <a:defRPr sz="1950" b="0">
                <a:solidFill>
                  <a:srgbClr val="FFFFFF"/>
                </a:solidFill>
                <a:latin typeface="Arial"/>
                <a:ea typeface="Arial"/>
                <a:cs typeface="Arial"/>
              </a:defRPr>
            </a:pPr>
            <a:r>
              <a:rPr sz="1950" b="0">
                <a:solidFill>
                  <a:srgbClr val="FFFFFF"/>
                </a:solidFill>
                <a:latin typeface="Arial"/>
                <a:ea typeface="Arial"/>
                <a:cs typeface="Arial"/>
              </a:rPr>
              <a:t>AI and Machine Learning for IC</a:t>
            </a:r>
          </a:p>
        </p:txBody>
      </p:sp>
      <p:sp>
        <p:nvSpPr>
          <p:cNvPr id="7" name="BEVD402L     Group G19     Fall 2026-27">
            <a:extLst>
              <a:ext uri="{FF2B5EF4-FFF2-40B4-BE49-F238E27FC236}">
                <a16:creationId xmlns:a16="http://schemas.microsoft.com/office/drawing/2014/main" id="{76CCCAAE-C704-4C4B-81AF-93CCF8F93CDB}"/>
              </a:ext>
            </a:extLst>
          </p:cNvPr>
          <p:cNvSpPr>
            <a:spLocks noGrp="1"/>
          </p:cNvSpPr>
          <p:nvPr/>
        </p:nvSpPr>
        <p:spPr>
          <a:xfrm>
            <a:off x="647700" y="5600700"/>
            <a:ext cx="10096500" cy="333375"/>
          </a:xfrm>
          <a:prstGeom prst="rect">
            <a:avLst/>
          </a:prstGeom>
          <a:noFill/>
          <a:ln w="0">
            <a:noFill/>
          </a:ln>
        </p:spPr>
        <p:txBody>
          <a:bodyPr wrap="square" lIns="0" tIns="0" rIns="0" bIns="0" anchor="t">
            <a:noAutofit/>
          </a:bodyPr>
          <a:lstStyle/>
          <a:p>
            <a:pPr algn="l">
              <a:defRPr sz="1725" b="0">
                <a:solidFill>
                  <a:srgbClr val="A9CDDA"/>
                </a:solidFill>
                <a:latin typeface="Arial"/>
                <a:ea typeface="Arial"/>
                <a:cs typeface="Arial"/>
              </a:defRPr>
            </a:pPr>
            <a:r>
              <a:rPr sz="1725" b="0">
                <a:solidFill>
                  <a:srgbClr val="A9CDDA"/>
                </a:solidFill>
                <a:latin typeface="Arial"/>
                <a:ea typeface="Arial"/>
                <a:cs typeface="Arial"/>
              </a:rPr>
              <a:t>BEVD402L     Group G19     Fall 2026-27</a:t>
            </a:r>
          </a:p>
        </p:txBody>
      </p:sp>
    </p:spTree>
    <p:extLst>
      <p:ext uri="{BB962C8B-B14F-4D97-AF65-F5344CB8AC3E}">
        <p14:creationId xmlns:p14="http://schemas.microsoft.com/office/powerpoint/2010/main" val="1853969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Group G19 and course details">
            <a:extLst>
              <a:ext uri="{FF2B5EF4-FFF2-40B4-BE49-F238E27FC236}">
                <a16:creationId xmlns:a16="http://schemas.microsoft.com/office/drawing/2014/main" id="{7BF6C2B1-F0A3-4B87-A117-1C1877EADE05}"/>
              </a:ext>
            </a:extLst>
          </p:cNvPr>
          <p:cNvSpPr>
            <a:spLocks noGrp="1"/>
          </p:cNvSpPr>
          <p:nvPr/>
        </p:nvSpPr>
        <p:spPr>
          <a:xfrm>
            <a:off x="609600" y="428625"/>
            <a:ext cx="10972800" cy="609600"/>
          </a:xfrm>
          <a:prstGeom prst="rect">
            <a:avLst/>
          </a:prstGeom>
          <a:noFill/>
          <a:ln w="0">
            <a:noFill/>
          </a:ln>
        </p:spPr>
        <p:txBody>
          <a:bodyPr wrap="square" lIns="0" tIns="0" rIns="0" bIns="0" anchor="t">
            <a:noAutofit/>
          </a:bodyPr>
          <a:lstStyle/>
          <a:p>
            <a:pPr algn="l">
              <a:defRPr sz="3225" b="1">
                <a:solidFill>
                  <a:srgbClr val="152B3C"/>
                </a:solidFill>
                <a:latin typeface="Arial"/>
                <a:ea typeface="Arial"/>
                <a:cs typeface="Arial"/>
              </a:defRPr>
            </a:pPr>
            <a:r>
              <a:rPr sz="3225" b="1">
                <a:solidFill>
                  <a:srgbClr val="152B3C"/>
                </a:solidFill>
                <a:latin typeface="Arial"/>
                <a:ea typeface="Arial"/>
                <a:cs typeface="Arial"/>
              </a:rPr>
              <a:t>Group G19 and course details</a:t>
            </a:r>
          </a:p>
        </p:txBody>
      </p:sp>
      <p:sp>
        <p:nvSpPr>
          <p:cNvPr id="2" name="G19">
            <a:extLst>
              <a:ext uri="{FF2B5EF4-FFF2-40B4-BE49-F238E27FC236}">
                <a16:creationId xmlns:a16="http://schemas.microsoft.com/office/drawing/2014/main" id="{EFDC2B7D-9F7F-404C-82F6-B1350C130A0E}"/>
              </a:ext>
            </a:extLst>
          </p:cNvPr>
          <p:cNvSpPr>
            <a:spLocks noGrp="1"/>
          </p:cNvSpPr>
          <p:nvPr/>
        </p:nvSpPr>
        <p:spPr>
          <a:xfrm>
            <a:off x="609600" y="6467475"/>
            <a:ext cx="952500" cy="219075"/>
          </a:xfrm>
          <a:prstGeom prst="rect">
            <a:avLst/>
          </a:prstGeom>
          <a:noFill/>
          <a:ln w="0">
            <a:noFill/>
          </a:ln>
        </p:spPr>
        <p:txBody>
          <a:bodyPr wrap="square" lIns="0" tIns="0" rIns="0" bIns="0" anchor="t">
            <a:noAutofit/>
          </a:bodyPr>
          <a:lstStyle/>
          <a:p>
            <a:pPr algn="l">
              <a:defRPr sz="1200" b="0">
                <a:solidFill>
                  <a:srgbClr val="526577"/>
                </a:solidFill>
                <a:latin typeface="Arial"/>
                <a:ea typeface="Arial"/>
                <a:cs typeface="Arial"/>
              </a:defRPr>
            </a:pPr>
            <a:r>
              <a:rPr sz="1200" b="0">
                <a:solidFill>
                  <a:srgbClr val="526577"/>
                </a:solidFill>
                <a:latin typeface="Arial"/>
                <a:ea typeface="Arial"/>
                <a:cs typeface="Arial"/>
              </a:rPr>
              <a:t>G19</a:t>
            </a:r>
          </a:p>
        </p:txBody>
      </p:sp>
      <p:sp>
        <p:nvSpPr>
          <p:cNvPr id="3" name="02">
            <a:extLst>
              <a:ext uri="{FF2B5EF4-FFF2-40B4-BE49-F238E27FC236}">
                <a16:creationId xmlns:a16="http://schemas.microsoft.com/office/drawing/2014/main" id="{4E0F533F-E60A-4E3B-BFD3-D01F48CEE430}"/>
              </a:ext>
            </a:extLst>
          </p:cNvPr>
          <p:cNvSpPr>
            <a:spLocks noGrp="1"/>
          </p:cNvSpPr>
          <p:nvPr/>
        </p:nvSpPr>
        <p:spPr>
          <a:xfrm>
            <a:off x="10991850" y="6467475"/>
            <a:ext cx="571500" cy="219075"/>
          </a:xfrm>
          <a:prstGeom prst="rect">
            <a:avLst/>
          </a:prstGeom>
          <a:noFill/>
          <a:ln w="0">
            <a:noFill/>
          </a:ln>
        </p:spPr>
        <p:txBody>
          <a:bodyPr wrap="square" lIns="0" tIns="0" rIns="0" bIns="0" anchor="t">
            <a:noAutofit/>
          </a:bodyPr>
          <a:lstStyle/>
          <a:p>
            <a:pPr algn="r">
              <a:defRPr sz="1200" b="0">
                <a:solidFill>
                  <a:srgbClr val="526577"/>
                </a:solidFill>
                <a:latin typeface="Arial"/>
                <a:ea typeface="Arial"/>
                <a:cs typeface="Arial"/>
              </a:defRPr>
            </a:pPr>
            <a:r>
              <a:rPr sz="1200" b="0">
                <a:solidFill>
                  <a:srgbClr val="526577"/>
                </a:solidFill>
                <a:latin typeface="Arial"/>
                <a:ea typeface="Arial"/>
                <a:cs typeface="Arial"/>
              </a:rPr>
              <a:t>02</a:t>
            </a:r>
          </a:p>
        </p:txBody>
      </p:sp>
      <p:graphicFrame>
        <p:nvGraphicFramePr>
          <p:cNvPr id="14" name="Table 13"/>
          <p:cNvGraphicFramePr/>
          <p:nvPr/>
        </p:nvGraphicFramePr>
        <p:xfrm>
          <a:off x="628650" y="1495425"/>
          <a:ext cx="6953250" cy="3095625"/>
        </p:xfrm>
        <a:graphic>
          <a:graphicData uri="http://schemas.openxmlformats.org/drawingml/2006/table">
            <a:tbl>
              <a:tblPr/>
              <a:tblGrid>
                <a:gridCol w="4381500">
                  <a:extLst>
                    <a:ext uri="{9D8B030D-6E8A-4147-A177-3AD203B41FA5}">
                      <a16:colId xmlns:a16="http://schemas.microsoft.com/office/drawing/2014/main" val="20000"/>
                    </a:ext>
                  </a:extLst>
                </a:gridCol>
                <a:gridCol w="2571750">
                  <a:extLst>
                    <a:ext uri="{9D8B030D-6E8A-4147-A177-3AD203B41FA5}">
                      <a16:colId xmlns:a16="http://schemas.microsoft.com/office/drawing/2014/main" val="20001"/>
                    </a:ext>
                  </a:extLst>
                </a:gridCol>
              </a:tblGrid>
              <a:tr h="619125">
                <a:tc>
                  <a:txBody>
                    <a:bodyPr/>
                    <a:lstStyle/>
                    <a:p>
                      <a:pPr algn="l"/>
                      <a:r>
                        <a:rPr sz="1725" b="1">
                          <a:solidFill>
                            <a:srgbClr val="FFFFFF"/>
                          </a:solidFill>
                          <a:latin typeface="Arial"/>
                          <a:ea typeface="Arial"/>
                          <a:cs typeface="Arial"/>
                        </a:rPr>
                        <a:t>Group member</a:t>
                      </a:r>
                    </a:p>
                  </a:txBody>
                  <a:tcPr anchor="ctr">
                    <a:solidFill>
                      <a:srgbClr val="152B3C"/>
                    </a:solidFill>
                  </a:tcPr>
                </a:tc>
                <a:tc>
                  <a:txBody>
                    <a:bodyPr/>
                    <a:lstStyle/>
                    <a:p>
                      <a:pPr algn="ctr"/>
                      <a:r>
                        <a:rPr sz="1725" b="1">
                          <a:solidFill>
                            <a:srgbClr val="FFFFFF"/>
                          </a:solidFill>
                          <a:latin typeface="Arial"/>
                          <a:ea typeface="Arial"/>
                          <a:cs typeface="Arial"/>
                        </a:rPr>
                        <a:t>Registration number</a:t>
                      </a:r>
                    </a:p>
                  </a:txBody>
                  <a:tcPr anchor="ctr">
                    <a:solidFill>
                      <a:srgbClr val="152B3C"/>
                    </a:solidFill>
                  </a:tcPr>
                </a:tc>
                <a:extLst>
                  <a:ext uri="{0D108BD9-81ED-4DB2-BD59-A6C34878D82A}">
                    <a16:rowId xmlns:a16="http://schemas.microsoft.com/office/drawing/2014/main" val="10000"/>
                  </a:ext>
                </a:extLst>
              </a:tr>
              <a:tr h="619125">
                <a:tc>
                  <a:txBody>
                    <a:bodyPr/>
                    <a:lstStyle/>
                    <a:p>
                      <a:pPr algn="l"/>
                      <a:r>
                        <a:rPr sz="1725" b="0">
                          <a:solidFill>
                            <a:srgbClr val="172E40"/>
                          </a:solidFill>
                          <a:latin typeface="Arial"/>
                          <a:ea typeface="Arial"/>
                          <a:cs typeface="Arial"/>
                        </a:rPr>
                        <a:t>BONTHALA SAI KIRAN</a:t>
                      </a:r>
                    </a:p>
                  </a:txBody>
                  <a:tcPr anchor="ctr">
                    <a:solidFill>
                      <a:srgbClr val="FFFFFF"/>
                    </a:solidFill>
                  </a:tcPr>
                </a:tc>
                <a:tc>
                  <a:txBody>
                    <a:bodyPr/>
                    <a:lstStyle/>
                    <a:p>
                      <a:pPr algn="ctr"/>
                      <a:r>
                        <a:rPr sz="1725" b="0">
                          <a:solidFill>
                            <a:srgbClr val="172E40"/>
                          </a:solidFill>
                          <a:latin typeface="Arial"/>
                          <a:ea typeface="Arial"/>
                          <a:cs typeface="Arial"/>
                        </a:rPr>
                        <a:t>24BVD1106</a:t>
                      </a:r>
                    </a:p>
                  </a:txBody>
                  <a:tcPr anchor="ctr">
                    <a:solidFill>
                      <a:srgbClr val="FFFFFF"/>
                    </a:solidFill>
                  </a:tcPr>
                </a:tc>
                <a:extLst>
                  <a:ext uri="{0D108BD9-81ED-4DB2-BD59-A6C34878D82A}">
                    <a16:rowId xmlns:a16="http://schemas.microsoft.com/office/drawing/2014/main" val="10001"/>
                  </a:ext>
                </a:extLst>
              </a:tr>
              <a:tr h="619125">
                <a:tc>
                  <a:txBody>
                    <a:bodyPr/>
                    <a:lstStyle/>
                    <a:p>
                      <a:pPr algn="l"/>
                      <a:r>
                        <a:rPr sz="1725" b="0" dirty="0">
                          <a:solidFill>
                            <a:srgbClr val="172E40"/>
                          </a:solidFill>
                          <a:latin typeface="Arial"/>
                          <a:ea typeface="Arial"/>
                          <a:cs typeface="Arial"/>
                        </a:rPr>
                        <a:t>BANDA SIRICHANDANA</a:t>
                      </a:r>
                    </a:p>
                  </a:txBody>
                  <a:tcPr anchor="ctr">
                    <a:solidFill>
                      <a:srgbClr val="F4F7FA"/>
                    </a:solidFill>
                  </a:tcPr>
                </a:tc>
                <a:tc>
                  <a:txBody>
                    <a:bodyPr/>
                    <a:lstStyle/>
                    <a:p>
                      <a:pPr algn="ctr"/>
                      <a:r>
                        <a:rPr sz="1725" b="0">
                          <a:solidFill>
                            <a:srgbClr val="172E40"/>
                          </a:solidFill>
                          <a:latin typeface="Arial"/>
                          <a:ea typeface="Arial"/>
                          <a:cs typeface="Arial"/>
                        </a:rPr>
                        <a:t>24BVD1114</a:t>
                      </a:r>
                    </a:p>
                  </a:txBody>
                  <a:tcPr anchor="ctr">
                    <a:solidFill>
                      <a:srgbClr val="F4F7FA"/>
                    </a:solidFill>
                  </a:tcPr>
                </a:tc>
                <a:extLst>
                  <a:ext uri="{0D108BD9-81ED-4DB2-BD59-A6C34878D82A}">
                    <a16:rowId xmlns:a16="http://schemas.microsoft.com/office/drawing/2014/main" val="10002"/>
                  </a:ext>
                </a:extLst>
              </a:tr>
              <a:tr h="619125">
                <a:tc>
                  <a:txBody>
                    <a:bodyPr/>
                    <a:lstStyle/>
                    <a:p>
                      <a:pPr algn="l"/>
                      <a:r>
                        <a:rPr sz="1725" b="0">
                          <a:solidFill>
                            <a:srgbClr val="172E40"/>
                          </a:solidFill>
                          <a:latin typeface="Arial"/>
                          <a:ea typeface="Arial"/>
                          <a:cs typeface="Arial"/>
                        </a:rPr>
                        <a:t>KAMAL SHARMA</a:t>
                      </a:r>
                    </a:p>
                  </a:txBody>
                  <a:tcPr anchor="ctr">
                    <a:solidFill>
                      <a:srgbClr val="FFFFFF"/>
                    </a:solidFill>
                  </a:tcPr>
                </a:tc>
                <a:tc>
                  <a:txBody>
                    <a:bodyPr/>
                    <a:lstStyle/>
                    <a:p>
                      <a:pPr algn="ctr"/>
                      <a:r>
                        <a:rPr sz="1725" b="0">
                          <a:solidFill>
                            <a:srgbClr val="172E40"/>
                          </a:solidFill>
                          <a:latin typeface="Arial"/>
                          <a:ea typeface="Arial"/>
                          <a:cs typeface="Arial"/>
                        </a:rPr>
                        <a:t>24BVD1118</a:t>
                      </a:r>
                    </a:p>
                  </a:txBody>
                  <a:tcPr anchor="ctr">
                    <a:solidFill>
                      <a:srgbClr val="FFFFFF"/>
                    </a:solidFill>
                  </a:tcPr>
                </a:tc>
                <a:extLst>
                  <a:ext uri="{0D108BD9-81ED-4DB2-BD59-A6C34878D82A}">
                    <a16:rowId xmlns:a16="http://schemas.microsoft.com/office/drawing/2014/main" val="10003"/>
                  </a:ext>
                </a:extLst>
              </a:tr>
              <a:tr h="619125">
                <a:tc>
                  <a:txBody>
                    <a:bodyPr/>
                    <a:lstStyle/>
                    <a:p>
                      <a:pPr algn="l"/>
                      <a:r>
                        <a:rPr sz="1725" b="0">
                          <a:solidFill>
                            <a:srgbClr val="172E40"/>
                          </a:solidFill>
                          <a:latin typeface="Arial"/>
                          <a:ea typeface="Arial"/>
                          <a:cs typeface="Arial"/>
                        </a:rPr>
                        <a:t>KARTHIKEYAN R V</a:t>
                      </a:r>
                    </a:p>
                  </a:txBody>
                  <a:tcPr anchor="ctr">
                    <a:solidFill>
                      <a:srgbClr val="F4F7FA"/>
                    </a:solidFill>
                  </a:tcPr>
                </a:tc>
                <a:tc>
                  <a:txBody>
                    <a:bodyPr/>
                    <a:lstStyle/>
                    <a:p>
                      <a:pPr algn="ctr"/>
                      <a:r>
                        <a:rPr sz="1725" b="0" dirty="0">
                          <a:solidFill>
                            <a:srgbClr val="172E40"/>
                          </a:solidFill>
                          <a:latin typeface="Arial"/>
                          <a:ea typeface="Arial"/>
                          <a:cs typeface="Arial"/>
                        </a:rPr>
                        <a:t>24BVD1119</a:t>
                      </a:r>
                    </a:p>
                  </a:txBody>
                  <a:tcPr anchor="ctr">
                    <a:solidFill>
                      <a:srgbClr val="F4F7FA"/>
                    </a:solidFill>
                  </a:tcPr>
                </a:tc>
                <a:extLst>
                  <a:ext uri="{0D108BD9-81ED-4DB2-BD59-A6C34878D82A}">
                    <a16:rowId xmlns:a16="http://schemas.microsoft.com/office/drawing/2014/main" val="10004"/>
                  </a:ext>
                </a:extLst>
              </a:tr>
            </a:tbl>
          </a:graphicData>
        </a:graphic>
      </p:graphicFrame>
      <p:sp>
        <p:nvSpPr>
          <p:cNvPr id="5" name="Faculty">
            <a:extLst>
              <a:ext uri="{FF2B5EF4-FFF2-40B4-BE49-F238E27FC236}">
                <a16:creationId xmlns:a16="http://schemas.microsoft.com/office/drawing/2014/main" id="{E41C3EED-E23C-4008-91D6-71599F148F55}"/>
              </a:ext>
            </a:extLst>
          </p:cNvPr>
          <p:cNvSpPr>
            <a:spLocks noGrp="1"/>
          </p:cNvSpPr>
          <p:nvPr/>
        </p:nvSpPr>
        <p:spPr>
          <a:xfrm>
            <a:off x="8067675" y="1619250"/>
            <a:ext cx="3429000" cy="381000"/>
          </a:xfrm>
          <a:prstGeom prst="rect">
            <a:avLst/>
          </a:prstGeom>
          <a:noFill/>
          <a:ln w="0">
            <a:noFill/>
          </a:ln>
        </p:spPr>
        <p:txBody>
          <a:bodyPr wrap="square" lIns="0" tIns="0" rIns="0" bIns="0" anchor="t">
            <a:noAutofit/>
          </a:bodyPr>
          <a:lstStyle/>
          <a:p>
            <a:pPr algn="l">
              <a:defRPr sz="2025" b="1">
                <a:solidFill>
                  <a:srgbClr val="087E82"/>
                </a:solidFill>
                <a:latin typeface="Arial"/>
                <a:ea typeface="Arial"/>
                <a:cs typeface="Arial"/>
              </a:defRPr>
            </a:pPr>
            <a:r>
              <a:rPr sz="2025" b="1">
                <a:solidFill>
                  <a:srgbClr val="087E82"/>
                </a:solidFill>
                <a:latin typeface="Arial"/>
                <a:ea typeface="Arial"/>
                <a:cs typeface="Arial"/>
              </a:rPr>
              <a:t>Faculty</a:t>
            </a:r>
          </a:p>
        </p:txBody>
      </p:sp>
      <p:sp>
        <p:nvSpPr>
          <p:cNvPr id="6" name="Dr. G. Lakshmi Priya">
            <a:extLst>
              <a:ext uri="{FF2B5EF4-FFF2-40B4-BE49-F238E27FC236}">
                <a16:creationId xmlns:a16="http://schemas.microsoft.com/office/drawing/2014/main" id="{A4B0807D-8C45-411E-A96A-3E0E013B3D36}"/>
              </a:ext>
            </a:extLst>
          </p:cNvPr>
          <p:cNvSpPr>
            <a:spLocks noGrp="1"/>
          </p:cNvSpPr>
          <p:nvPr/>
        </p:nvSpPr>
        <p:spPr>
          <a:xfrm>
            <a:off x="8067675" y="2076450"/>
            <a:ext cx="3429000" cy="1238250"/>
          </a:xfrm>
          <a:prstGeom prst="rect">
            <a:avLst/>
          </a:prstGeom>
          <a:noFill/>
          <a:ln w="0">
            <a:noFill/>
          </a:ln>
        </p:spPr>
        <p:txBody>
          <a:bodyPr wrap="square" lIns="0" tIns="0" rIns="0" bIns="0" anchor="t">
            <a:noAutofit/>
          </a:bodyPr>
          <a:lstStyle/>
          <a:p>
            <a:pPr algn="l">
              <a:defRPr sz="1950" b="0">
                <a:solidFill>
                  <a:srgbClr val="172E40"/>
                </a:solidFill>
                <a:latin typeface="Arial"/>
                <a:ea typeface="Arial"/>
                <a:cs typeface="Arial"/>
              </a:defRPr>
            </a:pPr>
            <a:r>
              <a:rPr sz="1950" b="0">
                <a:solidFill>
                  <a:srgbClr val="172E40"/>
                </a:solidFill>
                <a:latin typeface="Arial"/>
                <a:ea typeface="Arial"/>
                <a:cs typeface="Arial"/>
              </a:rPr>
              <a:t>Dr. G. Lakshmi Priya</a:t>
            </a:r>
          </a:p>
        </p:txBody>
      </p:sp>
      <p:sp>
        <p:nvSpPr>
          <p:cNvPr id="7" name="Class slot">
            <a:extLst>
              <a:ext uri="{FF2B5EF4-FFF2-40B4-BE49-F238E27FC236}">
                <a16:creationId xmlns:a16="http://schemas.microsoft.com/office/drawing/2014/main" id="{B4DCB0A1-8D4C-456E-883C-2DBF640D80E2}"/>
              </a:ext>
            </a:extLst>
          </p:cNvPr>
          <p:cNvSpPr>
            <a:spLocks noGrp="1"/>
          </p:cNvSpPr>
          <p:nvPr/>
        </p:nvSpPr>
        <p:spPr>
          <a:xfrm>
            <a:off x="8067675" y="3105150"/>
            <a:ext cx="3429000" cy="381000"/>
          </a:xfrm>
          <a:prstGeom prst="rect">
            <a:avLst/>
          </a:prstGeom>
          <a:noFill/>
          <a:ln w="0">
            <a:noFill/>
          </a:ln>
        </p:spPr>
        <p:txBody>
          <a:bodyPr wrap="square" lIns="0" tIns="0" rIns="0" bIns="0" anchor="t">
            <a:noAutofit/>
          </a:bodyPr>
          <a:lstStyle/>
          <a:p>
            <a:pPr algn="l">
              <a:defRPr sz="2025" b="1">
                <a:solidFill>
                  <a:srgbClr val="087E82"/>
                </a:solidFill>
                <a:latin typeface="Arial"/>
                <a:ea typeface="Arial"/>
                <a:cs typeface="Arial"/>
              </a:defRPr>
            </a:pPr>
            <a:r>
              <a:rPr sz="2025" b="1">
                <a:solidFill>
                  <a:srgbClr val="087E82"/>
                </a:solidFill>
                <a:latin typeface="Arial"/>
                <a:ea typeface="Arial"/>
                <a:cs typeface="Arial"/>
              </a:rPr>
              <a:t>Class slot</a:t>
            </a:r>
          </a:p>
        </p:txBody>
      </p:sp>
      <p:sp>
        <p:nvSpPr>
          <p:cNvPr id="8" name="D1+TD1">
            <a:extLst>
              <a:ext uri="{FF2B5EF4-FFF2-40B4-BE49-F238E27FC236}">
                <a16:creationId xmlns:a16="http://schemas.microsoft.com/office/drawing/2014/main" id="{9C9BA1FA-1149-437B-868F-923CD8C9E6F9}"/>
              </a:ext>
            </a:extLst>
          </p:cNvPr>
          <p:cNvSpPr>
            <a:spLocks noGrp="1"/>
          </p:cNvSpPr>
          <p:nvPr/>
        </p:nvSpPr>
        <p:spPr>
          <a:xfrm>
            <a:off x="8067675" y="3562350"/>
            <a:ext cx="3429000" cy="1238250"/>
          </a:xfrm>
          <a:prstGeom prst="rect">
            <a:avLst/>
          </a:prstGeom>
          <a:noFill/>
          <a:ln w="0">
            <a:noFill/>
          </a:ln>
        </p:spPr>
        <p:txBody>
          <a:bodyPr wrap="square" lIns="0" tIns="0" rIns="0" bIns="0" anchor="t">
            <a:noAutofit/>
          </a:bodyPr>
          <a:lstStyle/>
          <a:p>
            <a:pPr algn="l">
              <a:defRPr sz="1950" b="0">
                <a:solidFill>
                  <a:srgbClr val="172E40"/>
                </a:solidFill>
                <a:latin typeface="Arial"/>
                <a:ea typeface="Arial"/>
                <a:cs typeface="Arial"/>
              </a:defRPr>
            </a:pPr>
            <a:r>
              <a:rPr sz="1950" b="0">
                <a:solidFill>
                  <a:srgbClr val="172E40"/>
                </a:solidFill>
                <a:latin typeface="Arial"/>
                <a:ea typeface="Arial"/>
                <a:cs typeface="Arial"/>
              </a:rPr>
              <a:t>D1+TD1</a:t>
            </a:r>
          </a:p>
        </p:txBody>
      </p:sp>
      <p:sp>
        <p:nvSpPr>
          <p:cNvPr id="9" name="AI and Machine Learning for IC">
            <a:extLst>
              <a:ext uri="{FF2B5EF4-FFF2-40B4-BE49-F238E27FC236}">
                <a16:creationId xmlns:a16="http://schemas.microsoft.com/office/drawing/2014/main" id="{79401C8E-E3A8-461C-80DA-922B0A7D9A85}"/>
              </a:ext>
            </a:extLst>
          </p:cNvPr>
          <p:cNvSpPr>
            <a:spLocks noGrp="1"/>
          </p:cNvSpPr>
          <p:nvPr/>
        </p:nvSpPr>
        <p:spPr>
          <a:xfrm>
            <a:off x="628650" y="5010150"/>
            <a:ext cx="10668000" cy="371475"/>
          </a:xfrm>
          <a:prstGeom prst="rect">
            <a:avLst/>
          </a:prstGeom>
          <a:noFill/>
          <a:ln w="0">
            <a:noFill/>
          </a:ln>
        </p:spPr>
        <p:txBody>
          <a:bodyPr wrap="square" lIns="0" tIns="0" rIns="0" bIns="0" anchor="t">
            <a:noAutofit/>
          </a:bodyPr>
          <a:lstStyle/>
          <a:p>
            <a:pPr algn="l">
              <a:defRPr sz="2175" b="1">
                <a:solidFill>
                  <a:srgbClr val="152B3C"/>
                </a:solidFill>
                <a:latin typeface="Arial"/>
                <a:ea typeface="Arial"/>
                <a:cs typeface="Arial"/>
              </a:defRPr>
            </a:pPr>
            <a:r>
              <a:rPr sz="2175" b="1">
                <a:solidFill>
                  <a:srgbClr val="152B3C"/>
                </a:solidFill>
                <a:latin typeface="Arial"/>
                <a:ea typeface="Arial"/>
                <a:cs typeface="Arial"/>
              </a:rPr>
              <a:t>AI and Machine Learning for IC</a:t>
            </a:r>
          </a:p>
        </p:txBody>
      </p:sp>
      <p:sp>
        <p:nvSpPr>
          <p:cNvPr id="10" name="Course code: BEVD402L&#10;Programme: B.Tech. (BVD)     Semester: Fall">
            <a:extLst>
              <a:ext uri="{FF2B5EF4-FFF2-40B4-BE49-F238E27FC236}">
                <a16:creationId xmlns:a16="http://schemas.microsoft.com/office/drawing/2014/main" id="{2E0A531A-A6CF-494C-A269-A92C7677B659}"/>
              </a:ext>
            </a:extLst>
          </p:cNvPr>
          <p:cNvSpPr>
            <a:spLocks noGrp="1"/>
          </p:cNvSpPr>
          <p:nvPr/>
        </p:nvSpPr>
        <p:spPr>
          <a:xfrm>
            <a:off x="628650" y="5505450"/>
            <a:ext cx="10668000" cy="666750"/>
          </a:xfrm>
          <a:prstGeom prst="rect">
            <a:avLst/>
          </a:prstGeom>
          <a:noFill/>
          <a:ln w="0">
            <a:noFill/>
          </a:ln>
        </p:spPr>
        <p:txBody>
          <a:bodyPr wrap="square" lIns="0" tIns="0" rIns="0" bIns="0" anchor="t">
            <a:noAutofit/>
          </a:bodyPr>
          <a:lstStyle/>
          <a:p>
            <a:pPr algn="l">
              <a:defRPr sz="1800" b="0">
                <a:solidFill>
                  <a:srgbClr val="526577"/>
                </a:solidFill>
                <a:latin typeface="Arial"/>
                <a:ea typeface="Arial"/>
                <a:cs typeface="Arial"/>
              </a:defRPr>
            </a:pPr>
            <a:r>
              <a:rPr sz="1800" b="0">
                <a:solidFill>
                  <a:srgbClr val="526577"/>
                </a:solidFill>
                <a:latin typeface="Arial"/>
                <a:ea typeface="Arial"/>
                <a:cs typeface="Arial"/>
              </a:rPr>
              <a:t>Course code: BEVD402L</a:t>
            </a:r>
          </a:p>
          <a:p>
            <a:pPr algn="l">
              <a:defRPr sz="1800" b="0">
                <a:solidFill>
                  <a:srgbClr val="526577"/>
                </a:solidFill>
                <a:latin typeface="Arial"/>
                <a:ea typeface="Arial"/>
                <a:cs typeface="Arial"/>
              </a:defRPr>
            </a:pPr>
            <a:r>
              <a:rPr sz="1800" b="0">
                <a:solidFill>
                  <a:srgbClr val="526577"/>
                </a:solidFill>
                <a:latin typeface="Arial"/>
                <a:ea typeface="Arial"/>
                <a:cs typeface="Arial"/>
              </a:rPr>
              <a:t>Programme: B.Tech. (BVD)     Semester: Fall 2026-27</a:t>
            </a:r>
          </a:p>
        </p:txBody>
      </p:sp>
    </p:spTree>
    <p:extLst>
      <p:ext uri="{BB962C8B-B14F-4D97-AF65-F5344CB8AC3E}">
        <p14:creationId xmlns:p14="http://schemas.microsoft.com/office/powerpoint/2010/main" val="2762826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Research problem and objective">
            <a:extLst>
              <a:ext uri="{FF2B5EF4-FFF2-40B4-BE49-F238E27FC236}">
                <a16:creationId xmlns:a16="http://schemas.microsoft.com/office/drawing/2014/main" id="{58A74FF0-90D0-41B7-8D24-3BBE34B41AF5}"/>
              </a:ext>
            </a:extLst>
          </p:cNvPr>
          <p:cNvSpPr>
            <a:spLocks noGrp="1"/>
          </p:cNvSpPr>
          <p:nvPr/>
        </p:nvSpPr>
        <p:spPr>
          <a:xfrm>
            <a:off x="609600" y="428625"/>
            <a:ext cx="10972800" cy="609600"/>
          </a:xfrm>
          <a:prstGeom prst="rect">
            <a:avLst/>
          </a:prstGeom>
          <a:noFill/>
          <a:ln w="0">
            <a:noFill/>
          </a:ln>
        </p:spPr>
        <p:txBody>
          <a:bodyPr wrap="square" lIns="0" tIns="0" rIns="0" bIns="0" anchor="t">
            <a:noAutofit/>
          </a:bodyPr>
          <a:lstStyle/>
          <a:p>
            <a:pPr algn="l">
              <a:defRPr sz="3225" b="1">
                <a:solidFill>
                  <a:srgbClr val="152B3C"/>
                </a:solidFill>
                <a:latin typeface="Arial"/>
                <a:ea typeface="Arial"/>
                <a:cs typeface="Arial"/>
              </a:defRPr>
            </a:pPr>
            <a:r>
              <a:rPr sz="3225" b="1">
                <a:solidFill>
                  <a:srgbClr val="152B3C"/>
                </a:solidFill>
                <a:latin typeface="Arial"/>
                <a:ea typeface="Arial"/>
                <a:cs typeface="Arial"/>
              </a:rPr>
              <a:t>Research problem and objective</a:t>
            </a:r>
          </a:p>
        </p:txBody>
      </p:sp>
      <p:sp>
        <p:nvSpPr>
          <p:cNvPr id="2" name="G19">
            <a:extLst>
              <a:ext uri="{FF2B5EF4-FFF2-40B4-BE49-F238E27FC236}">
                <a16:creationId xmlns:a16="http://schemas.microsoft.com/office/drawing/2014/main" id="{461684A0-3C9D-4CA6-92EF-A971D6383C6A}"/>
              </a:ext>
            </a:extLst>
          </p:cNvPr>
          <p:cNvSpPr>
            <a:spLocks noGrp="1"/>
          </p:cNvSpPr>
          <p:nvPr/>
        </p:nvSpPr>
        <p:spPr>
          <a:xfrm>
            <a:off x="609600" y="6467475"/>
            <a:ext cx="952500" cy="219075"/>
          </a:xfrm>
          <a:prstGeom prst="rect">
            <a:avLst/>
          </a:prstGeom>
          <a:noFill/>
          <a:ln w="0">
            <a:noFill/>
          </a:ln>
        </p:spPr>
        <p:txBody>
          <a:bodyPr wrap="square" lIns="0" tIns="0" rIns="0" bIns="0" anchor="t">
            <a:noAutofit/>
          </a:bodyPr>
          <a:lstStyle/>
          <a:p>
            <a:pPr algn="l">
              <a:defRPr sz="1200" b="0">
                <a:solidFill>
                  <a:srgbClr val="526577"/>
                </a:solidFill>
                <a:latin typeface="Arial"/>
                <a:ea typeface="Arial"/>
                <a:cs typeface="Arial"/>
              </a:defRPr>
            </a:pPr>
            <a:r>
              <a:rPr sz="1200" b="0">
                <a:solidFill>
                  <a:srgbClr val="526577"/>
                </a:solidFill>
                <a:latin typeface="Arial"/>
                <a:ea typeface="Arial"/>
                <a:cs typeface="Arial"/>
              </a:rPr>
              <a:t>G19</a:t>
            </a:r>
          </a:p>
        </p:txBody>
      </p:sp>
      <p:sp>
        <p:nvSpPr>
          <p:cNvPr id="3" name="03">
            <a:extLst>
              <a:ext uri="{FF2B5EF4-FFF2-40B4-BE49-F238E27FC236}">
                <a16:creationId xmlns:a16="http://schemas.microsoft.com/office/drawing/2014/main" id="{326F814A-A6E3-40C7-8AA2-9400B2A550B9}"/>
              </a:ext>
            </a:extLst>
          </p:cNvPr>
          <p:cNvSpPr>
            <a:spLocks noGrp="1"/>
          </p:cNvSpPr>
          <p:nvPr/>
        </p:nvSpPr>
        <p:spPr>
          <a:xfrm>
            <a:off x="10991850" y="6467475"/>
            <a:ext cx="571500" cy="219075"/>
          </a:xfrm>
          <a:prstGeom prst="rect">
            <a:avLst/>
          </a:prstGeom>
          <a:noFill/>
          <a:ln w="0">
            <a:noFill/>
          </a:ln>
        </p:spPr>
        <p:txBody>
          <a:bodyPr wrap="square" lIns="0" tIns="0" rIns="0" bIns="0" anchor="t">
            <a:noAutofit/>
          </a:bodyPr>
          <a:lstStyle/>
          <a:p>
            <a:pPr algn="r">
              <a:defRPr sz="1200" b="0">
                <a:solidFill>
                  <a:srgbClr val="526577"/>
                </a:solidFill>
                <a:latin typeface="Arial"/>
                <a:ea typeface="Arial"/>
                <a:cs typeface="Arial"/>
              </a:defRPr>
            </a:pPr>
            <a:r>
              <a:rPr sz="1200" b="0">
                <a:solidFill>
                  <a:srgbClr val="526577"/>
                </a:solidFill>
                <a:latin typeface="Arial"/>
                <a:ea typeface="Arial"/>
                <a:cs typeface="Arial"/>
              </a:rPr>
              <a:t>03</a:t>
            </a:r>
          </a:p>
        </p:txBody>
      </p:sp>
      <p:sp>
        <p:nvSpPr>
          <p:cNvPr id="4" name="Lithography hotspots">
            <a:extLst>
              <a:ext uri="{FF2B5EF4-FFF2-40B4-BE49-F238E27FC236}">
                <a16:creationId xmlns:a16="http://schemas.microsoft.com/office/drawing/2014/main" id="{2E1BBA6D-D2DF-47C5-8AA4-C10C5FDCBF61}"/>
              </a:ext>
            </a:extLst>
          </p:cNvPr>
          <p:cNvSpPr>
            <a:spLocks noGrp="1"/>
          </p:cNvSpPr>
          <p:nvPr/>
        </p:nvSpPr>
        <p:spPr>
          <a:xfrm>
            <a:off x="628650" y="1524000"/>
            <a:ext cx="6000750" cy="381000"/>
          </a:xfrm>
          <a:prstGeom prst="rect">
            <a:avLst/>
          </a:prstGeom>
          <a:noFill/>
          <a:ln w="0">
            <a:noFill/>
          </a:ln>
        </p:spPr>
        <p:txBody>
          <a:bodyPr wrap="square" lIns="0" tIns="0" rIns="0" bIns="0" anchor="t">
            <a:noAutofit/>
          </a:bodyPr>
          <a:lstStyle/>
          <a:p>
            <a:pPr algn="l">
              <a:defRPr sz="2025" b="1">
                <a:solidFill>
                  <a:srgbClr val="087E82"/>
                </a:solidFill>
                <a:latin typeface="Arial"/>
                <a:ea typeface="Arial"/>
                <a:cs typeface="Arial"/>
              </a:defRPr>
            </a:pPr>
            <a:r>
              <a:rPr sz="2025" b="1">
                <a:solidFill>
                  <a:srgbClr val="087E82"/>
                </a:solidFill>
                <a:latin typeface="Arial"/>
                <a:ea typeface="Arial"/>
                <a:cs typeface="Arial"/>
              </a:rPr>
              <a:t>Lithography hotspots</a:t>
            </a:r>
          </a:p>
        </p:txBody>
      </p:sp>
      <p:sp>
        <p:nvSpPr>
          <p:cNvPr id="5" name="Sensitive layout patterns can print as open circuits or short cir">
            <a:extLst>
              <a:ext uri="{FF2B5EF4-FFF2-40B4-BE49-F238E27FC236}">
                <a16:creationId xmlns:a16="http://schemas.microsoft.com/office/drawing/2014/main" id="{BD4A8F7D-FB9A-4B7B-8269-AE6A64604F79}"/>
              </a:ext>
            </a:extLst>
          </p:cNvPr>
          <p:cNvSpPr>
            <a:spLocks noGrp="1"/>
          </p:cNvSpPr>
          <p:nvPr/>
        </p:nvSpPr>
        <p:spPr>
          <a:xfrm>
            <a:off x="628650" y="1981200"/>
            <a:ext cx="6000750" cy="1238250"/>
          </a:xfrm>
          <a:prstGeom prst="rect">
            <a:avLst/>
          </a:prstGeom>
          <a:noFill/>
          <a:ln w="0">
            <a:noFill/>
          </a:ln>
        </p:spPr>
        <p:txBody>
          <a:bodyPr wrap="square" lIns="0" tIns="0" rIns="0" bIns="0" anchor="t">
            <a:noAutofit/>
          </a:bodyPr>
          <a:lstStyle/>
          <a:p>
            <a:pPr algn="l">
              <a:defRPr sz="1950" b="0">
                <a:solidFill>
                  <a:srgbClr val="172E40"/>
                </a:solidFill>
                <a:latin typeface="Arial"/>
                <a:ea typeface="Arial"/>
                <a:cs typeface="Arial"/>
              </a:defRPr>
            </a:pPr>
            <a:r>
              <a:rPr sz="1950" b="0">
                <a:solidFill>
                  <a:srgbClr val="172E40"/>
                </a:solidFill>
                <a:latin typeface="Arial"/>
                <a:ea typeface="Arial"/>
                <a:cs typeface="Arial"/>
              </a:rPr>
              <a:t>Sensitive layout patterns can print as open circuits or short circuits.</a:t>
            </a:r>
          </a:p>
        </p:txBody>
      </p:sp>
      <p:sp>
        <p:nvSpPr>
          <p:cNvPr id="6" name="Verification workload">
            <a:extLst>
              <a:ext uri="{FF2B5EF4-FFF2-40B4-BE49-F238E27FC236}">
                <a16:creationId xmlns:a16="http://schemas.microsoft.com/office/drawing/2014/main" id="{C1C13E17-DA2D-42CF-838E-C0BC56B38DD9}"/>
              </a:ext>
            </a:extLst>
          </p:cNvPr>
          <p:cNvSpPr>
            <a:spLocks noGrp="1"/>
          </p:cNvSpPr>
          <p:nvPr/>
        </p:nvSpPr>
        <p:spPr>
          <a:xfrm>
            <a:off x="628650" y="3067050"/>
            <a:ext cx="6000750" cy="381000"/>
          </a:xfrm>
          <a:prstGeom prst="rect">
            <a:avLst/>
          </a:prstGeom>
          <a:noFill/>
          <a:ln w="0">
            <a:noFill/>
          </a:ln>
        </p:spPr>
        <p:txBody>
          <a:bodyPr wrap="square" lIns="0" tIns="0" rIns="0" bIns="0" anchor="t">
            <a:noAutofit/>
          </a:bodyPr>
          <a:lstStyle/>
          <a:p>
            <a:pPr algn="l">
              <a:defRPr sz="2025" b="1">
                <a:solidFill>
                  <a:srgbClr val="087E82"/>
                </a:solidFill>
                <a:latin typeface="Arial"/>
                <a:ea typeface="Arial"/>
                <a:cs typeface="Arial"/>
              </a:defRPr>
            </a:pPr>
            <a:r>
              <a:rPr sz="2025" b="1">
                <a:solidFill>
                  <a:srgbClr val="087E82"/>
                </a:solidFill>
                <a:latin typeface="Arial"/>
                <a:ea typeface="Arial"/>
                <a:cs typeface="Arial"/>
              </a:rPr>
              <a:t>Verification workload</a:t>
            </a:r>
          </a:p>
        </p:txBody>
      </p:sp>
      <p:sp>
        <p:nvSpPr>
          <p:cNvPr id="7" name="Detailed simulation is computationally demanding. ML scores can h">
            <a:extLst>
              <a:ext uri="{FF2B5EF4-FFF2-40B4-BE49-F238E27FC236}">
                <a16:creationId xmlns:a16="http://schemas.microsoft.com/office/drawing/2014/main" id="{A51C4587-004F-4B2D-B39D-CD82BAA0A19C}"/>
              </a:ext>
            </a:extLst>
          </p:cNvPr>
          <p:cNvSpPr>
            <a:spLocks noGrp="1"/>
          </p:cNvSpPr>
          <p:nvPr/>
        </p:nvSpPr>
        <p:spPr>
          <a:xfrm>
            <a:off x="628650" y="3524250"/>
            <a:ext cx="6000750" cy="1238250"/>
          </a:xfrm>
          <a:prstGeom prst="rect">
            <a:avLst/>
          </a:prstGeom>
          <a:noFill/>
          <a:ln w="0">
            <a:noFill/>
          </a:ln>
        </p:spPr>
        <p:txBody>
          <a:bodyPr wrap="square" lIns="0" tIns="0" rIns="0" bIns="0" anchor="t">
            <a:noAutofit/>
          </a:bodyPr>
          <a:lstStyle/>
          <a:p>
            <a:pPr algn="l">
              <a:defRPr sz="1950" b="0">
                <a:solidFill>
                  <a:srgbClr val="172E40"/>
                </a:solidFill>
                <a:latin typeface="Arial"/>
                <a:ea typeface="Arial"/>
                <a:cs typeface="Arial"/>
              </a:defRPr>
            </a:pPr>
            <a:r>
              <a:rPr sz="1950" b="0">
                <a:solidFill>
                  <a:srgbClr val="172E40"/>
                </a:solidFill>
                <a:latin typeface="Arial"/>
                <a:ea typeface="Arial"/>
                <a:cs typeface="Arial"/>
              </a:rPr>
              <a:t>Detailed simulation is computationally demanding. ML scores can help decide which patterns need further attention.</a:t>
            </a:r>
          </a:p>
        </p:txBody>
      </p:sp>
      <p:sp>
        <p:nvSpPr>
          <p:cNvPr id="8" name="Research question">
            <a:extLst>
              <a:ext uri="{FF2B5EF4-FFF2-40B4-BE49-F238E27FC236}">
                <a16:creationId xmlns:a16="http://schemas.microsoft.com/office/drawing/2014/main" id="{5D7A0291-A121-4EE1-B931-DD645AF28E8D}"/>
              </a:ext>
            </a:extLst>
          </p:cNvPr>
          <p:cNvSpPr>
            <a:spLocks noGrp="1"/>
          </p:cNvSpPr>
          <p:nvPr/>
        </p:nvSpPr>
        <p:spPr>
          <a:xfrm>
            <a:off x="628650" y="4829175"/>
            <a:ext cx="6048375" cy="352425"/>
          </a:xfrm>
          <a:prstGeom prst="rect">
            <a:avLst/>
          </a:prstGeom>
          <a:noFill/>
          <a:ln w="0">
            <a:noFill/>
          </a:ln>
        </p:spPr>
        <p:txBody>
          <a:bodyPr wrap="square" lIns="0" tIns="0" rIns="0" bIns="0" anchor="t">
            <a:noAutofit/>
          </a:bodyPr>
          <a:lstStyle/>
          <a:p>
            <a:pPr algn="l">
              <a:defRPr sz="2025" b="1">
                <a:solidFill>
                  <a:srgbClr val="087E82"/>
                </a:solidFill>
                <a:latin typeface="Arial"/>
                <a:ea typeface="Arial"/>
                <a:cs typeface="Arial"/>
              </a:defRPr>
            </a:pPr>
            <a:r>
              <a:rPr sz="2025" b="1">
                <a:solidFill>
                  <a:srgbClr val="087E82"/>
                </a:solidFill>
                <a:latin typeface="Arial"/>
                <a:ea typeface="Arial"/>
                <a:cs typeface="Arial"/>
              </a:rPr>
              <a:t>Research question</a:t>
            </a:r>
          </a:p>
        </p:txBody>
      </p:sp>
      <p:sp>
        <p:nvSpPr>
          <p:cNvPr id="9" name="Can confidence-based referral reduce the hotspots passed unchecke">
            <a:extLst>
              <a:ext uri="{FF2B5EF4-FFF2-40B4-BE49-F238E27FC236}">
                <a16:creationId xmlns:a16="http://schemas.microsoft.com/office/drawing/2014/main" id="{C19ACD50-4148-4854-9004-ED74888912DE}"/>
              </a:ext>
            </a:extLst>
          </p:cNvPr>
          <p:cNvSpPr>
            <a:spLocks noGrp="1"/>
          </p:cNvSpPr>
          <p:nvPr/>
        </p:nvSpPr>
        <p:spPr>
          <a:xfrm>
            <a:off x="628650" y="5276850"/>
            <a:ext cx="6191250" cy="923925"/>
          </a:xfrm>
          <a:prstGeom prst="rect">
            <a:avLst/>
          </a:prstGeom>
          <a:noFill/>
          <a:ln w="0">
            <a:noFill/>
          </a:ln>
        </p:spPr>
        <p:txBody>
          <a:bodyPr wrap="square" lIns="0" tIns="0" rIns="0" bIns="0" anchor="t">
            <a:noAutofit/>
          </a:bodyPr>
          <a:lstStyle/>
          <a:p>
            <a:pPr algn="l">
              <a:defRPr sz="2025" b="1">
                <a:solidFill>
                  <a:srgbClr val="172E40"/>
                </a:solidFill>
                <a:latin typeface="Arial"/>
                <a:ea typeface="Arial"/>
                <a:cs typeface="Arial"/>
              </a:defRPr>
            </a:pPr>
            <a:r>
              <a:rPr sz="2025" b="1">
                <a:solidFill>
                  <a:srgbClr val="172E40"/>
                </a:solidFill>
                <a:latin typeface="Arial"/>
                <a:ea typeface="Arial"/>
                <a:cs typeface="Arial"/>
              </a:rPr>
              <a:t>Can confidence-based referral reduce the hotspots passed unchecked while limiting verification workload?</a:t>
            </a:r>
          </a:p>
        </p:txBody>
      </p:sp>
      <p:pic>
        <p:nvPicPr>
          <p:cNvPr id="21" name="Picture 20"/>
          <p:cNvPicPr>
            <a:picLocks noChangeAspect="1"/>
          </p:cNvPicPr>
          <p:nvPr/>
        </p:nvPicPr>
        <p:blipFill>
          <a:blip r:embed="rId3"/>
          <a:stretch/>
        </p:blipFill>
        <p:spPr>
          <a:xfrm>
            <a:off x="7553325" y="1660295"/>
            <a:ext cx="3609975" cy="3746961"/>
          </a:xfrm>
          <a:prstGeom prst="rect">
            <a:avLst/>
          </a:prstGeom>
        </p:spPr>
      </p:pic>
      <p:sp>
        <p:nvSpPr>
          <p:cNvPr id="11" name="Hotspot examples from the reference paper">
            <a:extLst>
              <a:ext uri="{FF2B5EF4-FFF2-40B4-BE49-F238E27FC236}">
                <a16:creationId xmlns:a16="http://schemas.microsoft.com/office/drawing/2014/main" id="{0296A01E-6783-4E3C-996D-4A9C97A1F91D}"/>
              </a:ext>
            </a:extLst>
          </p:cNvPr>
          <p:cNvSpPr>
            <a:spLocks noGrp="1"/>
          </p:cNvSpPr>
          <p:nvPr/>
        </p:nvSpPr>
        <p:spPr>
          <a:xfrm>
            <a:off x="7381875" y="5600700"/>
            <a:ext cx="4067175" cy="400050"/>
          </a:xfrm>
          <a:prstGeom prst="rect">
            <a:avLst/>
          </a:prstGeom>
          <a:noFill/>
          <a:ln w="0">
            <a:noFill/>
          </a:ln>
        </p:spPr>
        <p:txBody>
          <a:bodyPr wrap="square" lIns="0" tIns="0" rIns="0" bIns="0" anchor="t">
            <a:noAutofit/>
          </a:bodyPr>
          <a:lstStyle/>
          <a:p>
            <a:pPr algn="ctr">
              <a:defRPr sz="1275" b="0">
                <a:solidFill>
                  <a:srgbClr val="526577"/>
                </a:solidFill>
                <a:latin typeface="Arial"/>
                <a:ea typeface="Arial"/>
                <a:cs typeface="Arial"/>
              </a:defRPr>
            </a:pPr>
            <a:r>
              <a:rPr sz="1275" b="0">
                <a:solidFill>
                  <a:srgbClr val="526577"/>
                </a:solidFill>
                <a:latin typeface="Arial"/>
                <a:ea typeface="Arial"/>
                <a:cs typeface="Arial"/>
              </a:rPr>
              <a:t>Hotspot examples from the reference paper</a:t>
            </a:r>
          </a:p>
        </p:txBody>
      </p:sp>
    </p:spTree>
    <p:extLst>
      <p:ext uri="{BB962C8B-B14F-4D97-AF65-F5344CB8AC3E}">
        <p14:creationId xmlns:p14="http://schemas.microsoft.com/office/powerpoint/2010/main" val="4861317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Reference work and project contribution">
            <a:extLst>
              <a:ext uri="{FF2B5EF4-FFF2-40B4-BE49-F238E27FC236}">
                <a16:creationId xmlns:a16="http://schemas.microsoft.com/office/drawing/2014/main" id="{ED609E8E-6640-459B-9FE9-7CDC3B2B37E5}"/>
              </a:ext>
            </a:extLst>
          </p:cNvPr>
          <p:cNvSpPr>
            <a:spLocks noGrp="1"/>
          </p:cNvSpPr>
          <p:nvPr/>
        </p:nvSpPr>
        <p:spPr>
          <a:xfrm>
            <a:off x="609600" y="428625"/>
            <a:ext cx="10972800" cy="609600"/>
          </a:xfrm>
          <a:prstGeom prst="rect">
            <a:avLst/>
          </a:prstGeom>
          <a:noFill/>
          <a:ln w="0">
            <a:noFill/>
          </a:ln>
        </p:spPr>
        <p:txBody>
          <a:bodyPr wrap="square" lIns="0" tIns="0" rIns="0" bIns="0" anchor="t">
            <a:noAutofit/>
          </a:bodyPr>
          <a:lstStyle/>
          <a:p>
            <a:pPr algn="l">
              <a:defRPr sz="3225" b="1">
                <a:solidFill>
                  <a:srgbClr val="152B3C"/>
                </a:solidFill>
                <a:latin typeface="Arial"/>
                <a:ea typeface="Arial"/>
                <a:cs typeface="Arial"/>
              </a:defRPr>
            </a:pPr>
            <a:r>
              <a:rPr sz="3225" b="1">
                <a:solidFill>
                  <a:srgbClr val="152B3C"/>
                </a:solidFill>
                <a:latin typeface="Arial"/>
                <a:ea typeface="Arial"/>
                <a:cs typeface="Arial"/>
              </a:rPr>
              <a:t>Reference work and project contribution</a:t>
            </a:r>
          </a:p>
        </p:txBody>
      </p:sp>
      <p:sp>
        <p:nvSpPr>
          <p:cNvPr id="2" name="G19">
            <a:extLst>
              <a:ext uri="{FF2B5EF4-FFF2-40B4-BE49-F238E27FC236}">
                <a16:creationId xmlns:a16="http://schemas.microsoft.com/office/drawing/2014/main" id="{B4267F1E-9A24-43A4-B7FF-79848794E3EC}"/>
              </a:ext>
            </a:extLst>
          </p:cNvPr>
          <p:cNvSpPr>
            <a:spLocks noGrp="1"/>
          </p:cNvSpPr>
          <p:nvPr/>
        </p:nvSpPr>
        <p:spPr>
          <a:xfrm>
            <a:off x="609600" y="6467475"/>
            <a:ext cx="952500" cy="219075"/>
          </a:xfrm>
          <a:prstGeom prst="rect">
            <a:avLst/>
          </a:prstGeom>
          <a:noFill/>
          <a:ln w="0">
            <a:noFill/>
          </a:ln>
        </p:spPr>
        <p:txBody>
          <a:bodyPr wrap="square" lIns="0" tIns="0" rIns="0" bIns="0" anchor="t">
            <a:noAutofit/>
          </a:bodyPr>
          <a:lstStyle/>
          <a:p>
            <a:pPr algn="l">
              <a:defRPr sz="1200" b="0">
                <a:solidFill>
                  <a:srgbClr val="526577"/>
                </a:solidFill>
                <a:latin typeface="Arial"/>
                <a:ea typeface="Arial"/>
                <a:cs typeface="Arial"/>
              </a:defRPr>
            </a:pPr>
            <a:r>
              <a:rPr sz="1200" b="0">
                <a:solidFill>
                  <a:srgbClr val="526577"/>
                </a:solidFill>
                <a:latin typeface="Arial"/>
                <a:ea typeface="Arial"/>
                <a:cs typeface="Arial"/>
              </a:rPr>
              <a:t>G19</a:t>
            </a:r>
          </a:p>
        </p:txBody>
      </p:sp>
      <p:sp>
        <p:nvSpPr>
          <p:cNvPr id="3" name="04">
            <a:extLst>
              <a:ext uri="{FF2B5EF4-FFF2-40B4-BE49-F238E27FC236}">
                <a16:creationId xmlns:a16="http://schemas.microsoft.com/office/drawing/2014/main" id="{A15025F7-450E-484A-9A98-EFCBCF3E5435}"/>
              </a:ext>
            </a:extLst>
          </p:cNvPr>
          <p:cNvSpPr>
            <a:spLocks noGrp="1"/>
          </p:cNvSpPr>
          <p:nvPr/>
        </p:nvSpPr>
        <p:spPr>
          <a:xfrm>
            <a:off x="10991850" y="6467475"/>
            <a:ext cx="571500" cy="219075"/>
          </a:xfrm>
          <a:prstGeom prst="rect">
            <a:avLst/>
          </a:prstGeom>
          <a:noFill/>
          <a:ln w="0">
            <a:noFill/>
          </a:ln>
        </p:spPr>
        <p:txBody>
          <a:bodyPr wrap="square" lIns="0" tIns="0" rIns="0" bIns="0" anchor="t">
            <a:noAutofit/>
          </a:bodyPr>
          <a:lstStyle/>
          <a:p>
            <a:pPr algn="r">
              <a:defRPr sz="1200" b="0">
                <a:solidFill>
                  <a:srgbClr val="526577"/>
                </a:solidFill>
                <a:latin typeface="Arial"/>
                <a:ea typeface="Arial"/>
                <a:cs typeface="Arial"/>
              </a:defRPr>
            </a:pPr>
            <a:r>
              <a:rPr sz="1200" b="0">
                <a:solidFill>
                  <a:srgbClr val="526577"/>
                </a:solidFill>
                <a:latin typeface="Arial"/>
                <a:ea typeface="Arial"/>
                <a:cs typeface="Arial"/>
              </a:rPr>
              <a:t>04</a:t>
            </a:r>
          </a:p>
        </p:txBody>
      </p:sp>
      <p:sp>
        <p:nvSpPr>
          <p:cNvPr id="4" name="Reference work">
            <a:extLst>
              <a:ext uri="{FF2B5EF4-FFF2-40B4-BE49-F238E27FC236}">
                <a16:creationId xmlns:a16="http://schemas.microsoft.com/office/drawing/2014/main" id="{5AF548A0-2904-4F17-9FEC-284375C38C04}"/>
              </a:ext>
            </a:extLst>
          </p:cNvPr>
          <p:cNvSpPr>
            <a:spLocks noGrp="1"/>
          </p:cNvSpPr>
          <p:nvPr/>
        </p:nvSpPr>
        <p:spPr>
          <a:xfrm>
            <a:off x="628650" y="1628775"/>
            <a:ext cx="5133975" cy="381000"/>
          </a:xfrm>
          <a:prstGeom prst="rect">
            <a:avLst/>
          </a:prstGeom>
          <a:noFill/>
          <a:ln w="0">
            <a:noFill/>
          </a:ln>
        </p:spPr>
        <p:txBody>
          <a:bodyPr wrap="square" lIns="0" tIns="0" rIns="0" bIns="0" anchor="t">
            <a:noAutofit/>
          </a:bodyPr>
          <a:lstStyle/>
          <a:p>
            <a:pPr algn="l">
              <a:defRPr sz="2025" b="1">
                <a:solidFill>
                  <a:srgbClr val="087E82"/>
                </a:solidFill>
                <a:latin typeface="Arial"/>
                <a:ea typeface="Arial"/>
                <a:cs typeface="Arial"/>
              </a:defRPr>
            </a:pPr>
            <a:r>
              <a:rPr sz="2025" b="1">
                <a:solidFill>
                  <a:srgbClr val="087E82"/>
                </a:solidFill>
                <a:latin typeface="Arial"/>
                <a:ea typeface="Arial"/>
                <a:cs typeface="Arial"/>
              </a:rPr>
              <a:t>Reference work</a:t>
            </a:r>
          </a:p>
        </p:txBody>
      </p:sp>
      <p:sp>
        <p:nvSpPr>
          <p:cNvPr id="5" name="The supplied paper compares VGG16 features with classical classif">
            <a:extLst>
              <a:ext uri="{FF2B5EF4-FFF2-40B4-BE49-F238E27FC236}">
                <a16:creationId xmlns:a16="http://schemas.microsoft.com/office/drawing/2014/main" id="{3FA78487-96D7-4B49-B280-BAD9AC380FBA}"/>
              </a:ext>
            </a:extLst>
          </p:cNvPr>
          <p:cNvSpPr>
            <a:spLocks noGrp="1"/>
          </p:cNvSpPr>
          <p:nvPr/>
        </p:nvSpPr>
        <p:spPr>
          <a:xfrm>
            <a:off x="628650" y="2085975"/>
            <a:ext cx="5133975" cy="1238250"/>
          </a:xfrm>
          <a:prstGeom prst="rect">
            <a:avLst/>
          </a:prstGeom>
          <a:noFill/>
          <a:ln w="0">
            <a:noFill/>
          </a:ln>
        </p:spPr>
        <p:txBody>
          <a:bodyPr wrap="square" lIns="0" tIns="0" rIns="0" bIns="0" anchor="t">
            <a:noAutofit/>
          </a:bodyPr>
          <a:lstStyle/>
          <a:p>
            <a:pPr algn="l">
              <a:defRPr sz="1950" b="0">
                <a:solidFill>
                  <a:srgbClr val="172E40"/>
                </a:solidFill>
                <a:latin typeface="Arial"/>
                <a:ea typeface="Arial"/>
                <a:cs typeface="Arial"/>
              </a:defRPr>
            </a:pPr>
            <a:r>
              <a:rPr sz="1950" b="0">
                <a:solidFill>
                  <a:srgbClr val="172E40"/>
                </a:solidFill>
                <a:latin typeface="Arial"/>
                <a:ea typeface="Arial"/>
                <a:cs typeface="Arial"/>
              </a:rPr>
              <a:t>The supplied paper compares VGG16 features with classical classifiers against a CNN trained from scratch.</a:t>
            </a:r>
          </a:p>
        </p:txBody>
      </p:sp>
      <p:sp>
        <p:nvSpPr>
          <p:cNvPr id="6" name="95.3%">
            <a:extLst>
              <a:ext uri="{FF2B5EF4-FFF2-40B4-BE49-F238E27FC236}">
                <a16:creationId xmlns:a16="http://schemas.microsoft.com/office/drawing/2014/main" id="{023C137C-E6A3-4016-9F90-903AC5A84E67}"/>
              </a:ext>
            </a:extLst>
          </p:cNvPr>
          <p:cNvSpPr>
            <a:spLocks noGrp="1"/>
          </p:cNvSpPr>
          <p:nvPr/>
        </p:nvSpPr>
        <p:spPr>
          <a:xfrm>
            <a:off x="628650" y="3371850"/>
            <a:ext cx="4286250" cy="866775"/>
          </a:xfrm>
          <a:prstGeom prst="rect">
            <a:avLst/>
          </a:prstGeom>
          <a:noFill/>
          <a:ln w="0">
            <a:noFill/>
          </a:ln>
        </p:spPr>
        <p:txBody>
          <a:bodyPr wrap="square" lIns="0" tIns="0" rIns="0" bIns="0" anchor="t">
            <a:noAutofit/>
          </a:bodyPr>
          <a:lstStyle/>
          <a:p>
            <a:pPr algn="l">
              <a:defRPr sz="5100" b="1">
                <a:solidFill>
                  <a:srgbClr val="087E82"/>
                </a:solidFill>
                <a:latin typeface="Arial"/>
                <a:ea typeface="Arial"/>
                <a:cs typeface="Arial"/>
              </a:defRPr>
            </a:pPr>
            <a:r>
              <a:rPr sz="5100" b="1">
                <a:solidFill>
                  <a:srgbClr val="087E82"/>
                </a:solidFill>
                <a:latin typeface="Arial"/>
                <a:ea typeface="Arial"/>
                <a:cs typeface="Arial"/>
              </a:rPr>
              <a:t>95.3%</a:t>
            </a:r>
          </a:p>
        </p:txBody>
      </p:sp>
      <p:sp>
        <p:nvSpPr>
          <p:cNvPr id="7" name="Average validation balanced accuracy&#10;of the paper’s custom CNN">
            <a:extLst>
              <a:ext uri="{FF2B5EF4-FFF2-40B4-BE49-F238E27FC236}">
                <a16:creationId xmlns:a16="http://schemas.microsoft.com/office/drawing/2014/main" id="{B315DD54-2ED4-41DE-96CD-AB1DFE369DA9}"/>
              </a:ext>
            </a:extLst>
          </p:cNvPr>
          <p:cNvSpPr>
            <a:spLocks noGrp="1"/>
          </p:cNvSpPr>
          <p:nvPr/>
        </p:nvSpPr>
        <p:spPr>
          <a:xfrm>
            <a:off x="647700" y="4257675"/>
            <a:ext cx="5000625" cy="857250"/>
          </a:xfrm>
          <a:prstGeom prst="rect">
            <a:avLst/>
          </a:prstGeom>
          <a:noFill/>
          <a:ln w="0">
            <a:noFill/>
          </a:ln>
        </p:spPr>
        <p:txBody>
          <a:bodyPr wrap="square" lIns="0" tIns="0" rIns="0" bIns="0" anchor="t">
            <a:noAutofit/>
          </a:bodyPr>
          <a:lstStyle/>
          <a:p>
            <a:pPr algn="l">
              <a:defRPr sz="1875" b="0">
                <a:solidFill>
                  <a:srgbClr val="172E40"/>
                </a:solidFill>
                <a:latin typeface="Arial"/>
                <a:ea typeface="Arial"/>
                <a:cs typeface="Arial"/>
              </a:defRPr>
            </a:pPr>
            <a:r>
              <a:rPr sz="1875" b="0">
                <a:solidFill>
                  <a:srgbClr val="172E40"/>
                </a:solidFill>
                <a:latin typeface="Arial"/>
                <a:ea typeface="Arial"/>
                <a:cs typeface="Arial"/>
              </a:rPr>
              <a:t>Average validation balanced accuracy</a:t>
            </a:r>
          </a:p>
          <a:p>
            <a:pPr algn="l">
              <a:defRPr sz="1875" b="0">
                <a:solidFill>
                  <a:srgbClr val="172E40"/>
                </a:solidFill>
                <a:latin typeface="Arial"/>
                <a:ea typeface="Arial"/>
                <a:cs typeface="Arial"/>
              </a:defRPr>
            </a:pPr>
            <a:r>
              <a:rPr sz="1875" b="0">
                <a:solidFill>
                  <a:srgbClr val="172E40"/>
                </a:solidFill>
                <a:latin typeface="Arial"/>
                <a:ea typeface="Arial"/>
                <a:cs typeface="Arial"/>
              </a:rPr>
              <a:t>of the paper’s custom CNN</a:t>
            </a:r>
          </a:p>
        </p:txBody>
      </p:sp>
      <p:sp>
        <p:nvSpPr>
          <p:cNvPr id="8" name="Our implemented extension">
            <a:extLst>
              <a:ext uri="{FF2B5EF4-FFF2-40B4-BE49-F238E27FC236}">
                <a16:creationId xmlns:a16="http://schemas.microsoft.com/office/drawing/2014/main" id="{3C03A5DA-E1B6-4705-91CF-7AC215F3523A}"/>
              </a:ext>
            </a:extLst>
          </p:cNvPr>
          <p:cNvSpPr>
            <a:spLocks noGrp="1"/>
          </p:cNvSpPr>
          <p:nvPr/>
        </p:nvSpPr>
        <p:spPr>
          <a:xfrm>
            <a:off x="6515100" y="1628775"/>
            <a:ext cx="5038725" cy="381000"/>
          </a:xfrm>
          <a:prstGeom prst="rect">
            <a:avLst/>
          </a:prstGeom>
          <a:noFill/>
          <a:ln w="0">
            <a:noFill/>
          </a:ln>
        </p:spPr>
        <p:txBody>
          <a:bodyPr wrap="square" lIns="0" tIns="0" rIns="0" bIns="0" anchor="t">
            <a:noAutofit/>
          </a:bodyPr>
          <a:lstStyle/>
          <a:p>
            <a:pPr algn="l">
              <a:defRPr sz="2025" b="1">
                <a:solidFill>
                  <a:srgbClr val="087E82"/>
                </a:solidFill>
                <a:latin typeface="Arial"/>
                <a:ea typeface="Arial"/>
                <a:cs typeface="Arial"/>
              </a:defRPr>
            </a:pPr>
            <a:r>
              <a:rPr sz="2025" b="1">
                <a:solidFill>
                  <a:srgbClr val="087E82"/>
                </a:solidFill>
                <a:latin typeface="Arial"/>
                <a:ea typeface="Arial"/>
                <a:cs typeface="Arial"/>
              </a:rPr>
              <a:t>Our implemented extension</a:t>
            </a:r>
          </a:p>
        </p:txBody>
      </p:sp>
      <p:sp>
        <p:nvSpPr>
          <p:cNvPr id="9" name="A separate small CNN produces a hotspot score for each pattern. A">
            <a:extLst>
              <a:ext uri="{FF2B5EF4-FFF2-40B4-BE49-F238E27FC236}">
                <a16:creationId xmlns:a16="http://schemas.microsoft.com/office/drawing/2014/main" id="{451878CF-DD8C-4BD5-940F-8DBAA11D552D}"/>
              </a:ext>
            </a:extLst>
          </p:cNvPr>
          <p:cNvSpPr>
            <a:spLocks noGrp="1"/>
          </p:cNvSpPr>
          <p:nvPr/>
        </p:nvSpPr>
        <p:spPr>
          <a:xfrm>
            <a:off x="6515100" y="2085975"/>
            <a:ext cx="5038725" cy="1238250"/>
          </a:xfrm>
          <a:prstGeom prst="rect">
            <a:avLst/>
          </a:prstGeom>
          <a:noFill/>
          <a:ln w="0">
            <a:noFill/>
          </a:ln>
        </p:spPr>
        <p:txBody>
          <a:bodyPr wrap="square" lIns="0" tIns="0" rIns="0" bIns="0" anchor="t">
            <a:noAutofit/>
          </a:bodyPr>
          <a:lstStyle/>
          <a:p>
            <a:pPr algn="l">
              <a:defRPr sz="1950" b="0">
                <a:solidFill>
                  <a:srgbClr val="172E40"/>
                </a:solidFill>
                <a:latin typeface="Arial"/>
                <a:ea typeface="Arial"/>
                <a:cs typeface="Arial"/>
              </a:defRPr>
            </a:pPr>
            <a:r>
              <a:rPr sz="1950" b="0">
                <a:solidFill>
                  <a:srgbClr val="172E40"/>
                </a:solidFill>
                <a:latin typeface="Arial"/>
                <a:ea typeface="Arial"/>
                <a:cs typeface="Arial"/>
              </a:rPr>
              <a:t>A separate small CNN produces a hotspot score for each pattern. A decision layer screens, flags or refers the pattern.</a:t>
            </a:r>
          </a:p>
        </p:txBody>
      </p:sp>
      <p:sp>
        <p:nvSpPr>
          <p:cNvPr id="10" name="Controlled comparison">
            <a:extLst>
              <a:ext uri="{FF2B5EF4-FFF2-40B4-BE49-F238E27FC236}">
                <a16:creationId xmlns:a16="http://schemas.microsoft.com/office/drawing/2014/main" id="{1C555CB3-E2AA-4DCE-935A-A022580A65F6}"/>
              </a:ext>
            </a:extLst>
          </p:cNvPr>
          <p:cNvSpPr>
            <a:spLocks noGrp="1"/>
          </p:cNvSpPr>
          <p:nvPr/>
        </p:nvSpPr>
        <p:spPr>
          <a:xfrm>
            <a:off x="6515100" y="3619500"/>
            <a:ext cx="5038725" cy="381000"/>
          </a:xfrm>
          <a:prstGeom prst="rect">
            <a:avLst/>
          </a:prstGeom>
          <a:noFill/>
          <a:ln w="0">
            <a:noFill/>
          </a:ln>
        </p:spPr>
        <p:txBody>
          <a:bodyPr wrap="square" lIns="0" tIns="0" rIns="0" bIns="0" anchor="t">
            <a:noAutofit/>
          </a:bodyPr>
          <a:lstStyle/>
          <a:p>
            <a:pPr algn="l">
              <a:defRPr sz="2025" b="1">
                <a:solidFill>
                  <a:srgbClr val="087E82"/>
                </a:solidFill>
                <a:latin typeface="Arial"/>
                <a:ea typeface="Arial"/>
                <a:cs typeface="Arial"/>
              </a:defRPr>
            </a:pPr>
            <a:r>
              <a:rPr sz="2025" b="1">
                <a:solidFill>
                  <a:srgbClr val="087E82"/>
                </a:solidFill>
                <a:latin typeface="Arial"/>
                <a:ea typeface="Arial"/>
                <a:cs typeface="Arial"/>
              </a:rPr>
              <a:t>Controlled comparison</a:t>
            </a:r>
          </a:p>
        </p:txBody>
      </p:sp>
      <p:sp>
        <p:nvSpPr>
          <p:cNvPr id="11" name="The same test scores support the 0.50 baseline and all three refe">
            <a:extLst>
              <a:ext uri="{FF2B5EF4-FFF2-40B4-BE49-F238E27FC236}">
                <a16:creationId xmlns:a16="http://schemas.microsoft.com/office/drawing/2014/main" id="{B67859E6-21BA-47A3-97B8-728BF87B071B}"/>
              </a:ext>
            </a:extLst>
          </p:cNvPr>
          <p:cNvSpPr>
            <a:spLocks noGrp="1"/>
          </p:cNvSpPr>
          <p:nvPr/>
        </p:nvSpPr>
        <p:spPr>
          <a:xfrm>
            <a:off x="6515100" y="4076700"/>
            <a:ext cx="5038725" cy="1238250"/>
          </a:xfrm>
          <a:prstGeom prst="rect">
            <a:avLst/>
          </a:prstGeom>
          <a:noFill/>
          <a:ln w="0">
            <a:noFill/>
          </a:ln>
        </p:spPr>
        <p:txBody>
          <a:bodyPr wrap="square" lIns="0" tIns="0" rIns="0" bIns="0" anchor="t">
            <a:noAutofit/>
          </a:bodyPr>
          <a:lstStyle/>
          <a:p>
            <a:pPr algn="l">
              <a:defRPr sz="1950" b="0">
                <a:solidFill>
                  <a:srgbClr val="172E40"/>
                </a:solidFill>
                <a:latin typeface="Arial"/>
                <a:ea typeface="Arial"/>
                <a:cs typeface="Arial"/>
              </a:defRPr>
            </a:pPr>
            <a:r>
              <a:rPr sz="1950" b="0">
                <a:solidFill>
                  <a:srgbClr val="172E40"/>
                </a:solidFill>
                <a:latin typeface="Arial"/>
                <a:ea typeface="Arial"/>
                <a:cs typeface="Arial"/>
              </a:rPr>
              <a:t>The same test scores support the 0.50 baseline and all three referral threshold settings.</a:t>
            </a:r>
          </a:p>
        </p:txBody>
      </p:sp>
      <p:sp>
        <p:nvSpPr>
          <p:cNvPr id="12" name="The paper’s validation result and our test results use different ">
            <a:extLst>
              <a:ext uri="{FF2B5EF4-FFF2-40B4-BE49-F238E27FC236}">
                <a16:creationId xmlns:a16="http://schemas.microsoft.com/office/drawing/2014/main" id="{B3F3903C-D03C-4A10-95BE-18ED82223F15}"/>
              </a:ext>
            </a:extLst>
          </p:cNvPr>
          <p:cNvSpPr>
            <a:spLocks noGrp="1"/>
          </p:cNvSpPr>
          <p:nvPr/>
        </p:nvSpPr>
        <p:spPr>
          <a:xfrm>
            <a:off x="628650" y="5972175"/>
            <a:ext cx="10934700" cy="409575"/>
          </a:xfrm>
          <a:prstGeom prst="rect">
            <a:avLst/>
          </a:prstGeom>
          <a:noFill/>
          <a:ln w="0">
            <a:noFill/>
          </a:ln>
        </p:spPr>
        <p:txBody>
          <a:bodyPr wrap="square" lIns="0" tIns="0" rIns="0" bIns="0" anchor="t">
            <a:noAutofit/>
          </a:bodyPr>
          <a:lstStyle/>
          <a:p>
            <a:pPr algn="l">
              <a:defRPr sz="1350" b="0">
                <a:solidFill>
                  <a:srgbClr val="526577"/>
                </a:solidFill>
                <a:latin typeface="Arial"/>
                <a:ea typeface="Arial"/>
                <a:cs typeface="Arial"/>
              </a:defRPr>
            </a:pPr>
            <a:r>
              <a:rPr sz="1350" b="0">
                <a:solidFill>
                  <a:srgbClr val="526577"/>
                </a:solidFill>
                <a:latin typeface="Arial"/>
                <a:ea typeface="Arial"/>
                <a:cs typeface="Arial"/>
              </a:rPr>
              <a:t>The paper’s validation result and our test results use different models and protocols, so they are contextual references.</a:t>
            </a:r>
          </a:p>
        </p:txBody>
      </p:sp>
    </p:spTree>
    <p:extLst>
      <p:ext uri="{BB962C8B-B14F-4D97-AF65-F5344CB8AC3E}">
        <p14:creationId xmlns:p14="http://schemas.microsoft.com/office/powerpoint/2010/main" val="16678781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Dataset and evaluation protocol">
            <a:extLst>
              <a:ext uri="{FF2B5EF4-FFF2-40B4-BE49-F238E27FC236}">
                <a16:creationId xmlns:a16="http://schemas.microsoft.com/office/drawing/2014/main" id="{7E1484EC-B813-4A51-851B-D624B158ABAA}"/>
              </a:ext>
            </a:extLst>
          </p:cNvPr>
          <p:cNvSpPr>
            <a:spLocks noGrp="1"/>
          </p:cNvSpPr>
          <p:nvPr/>
        </p:nvSpPr>
        <p:spPr>
          <a:xfrm>
            <a:off x="609600" y="428625"/>
            <a:ext cx="10972800" cy="609600"/>
          </a:xfrm>
          <a:prstGeom prst="rect">
            <a:avLst/>
          </a:prstGeom>
          <a:noFill/>
          <a:ln w="0">
            <a:noFill/>
          </a:ln>
        </p:spPr>
        <p:txBody>
          <a:bodyPr wrap="square" lIns="0" tIns="0" rIns="0" bIns="0" anchor="t">
            <a:noAutofit/>
          </a:bodyPr>
          <a:lstStyle/>
          <a:p>
            <a:pPr algn="l">
              <a:defRPr sz="3225" b="1">
                <a:solidFill>
                  <a:srgbClr val="152B3C"/>
                </a:solidFill>
                <a:latin typeface="Arial"/>
                <a:ea typeface="Arial"/>
                <a:cs typeface="Arial"/>
              </a:defRPr>
            </a:pPr>
            <a:r>
              <a:rPr sz="3225" b="1">
                <a:solidFill>
                  <a:srgbClr val="152B3C"/>
                </a:solidFill>
                <a:latin typeface="Arial"/>
                <a:ea typeface="Arial"/>
                <a:cs typeface="Arial"/>
              </a:rPr>
              <a:t>Dataset and evaluation protocol</a:t>
            </a:r>
          </a:p>
        </p:txBody>
      </p:sp>
      <p:sp>
        <p:nvSpPr>
          <p:cNvPr id="2" name="Five separate ICCAD-12 benchmarks. Counts below describe the save">
            <a:extLst>
              <a:ext uri="{FF2B5EF4-FFF2-40B4-BE49-F238E27FC236}">
                <a16:creationId xmlns:a16="http://schemas.microsoft.com/office/drawing/2014/main" id="{1877DBEC-F5CC-4EF5-812D-D836957719A4}"/>
              </a:ext>
            </a:extLst>
          </p:cNvPr>
          <p:cNvSpPr>
            <a:spLocks noGrp="1"/>
          </p:cNvSpPr>
          <p:nvPr/>
        </p:nvSpPr>
        <p:spPr>
          <a:xfrm>
            <a:off x="628650" y="1152525"/>
            <a:ext cx="10934700" cy="476250"/>
          </a:xfrm>
          <a:prstGeom prst="rect">
            <a:avLst/>
          </a:prstGeom>
          <a:noFill/>
          <a:ln w="0">
            <a:noFill/>
          </a:ln>
        </p:spPr>
        <p:txBody>
          <a:bodyPr wrap="square" lIns="0" tIns="0" rIns="0" bIns="0" anchor="t">
            <a:noAutofit/>
          </a:bodyPr>
          <a:lstStyle/>
          <a:p>
            <a:pPr algn="l">
              <a:defRPr sz="1800" b="0">
                <a:solidFill>
                  <a:srgbClr val="526577"/>
                </a:solidFill>
                <a:latin typeface="Arial"/>
                <a:ea typeface="Arial"/>
                <a:cs typeface="Arial"/>
              </a:defRPr>
            </a:pPr>
            <a:r>
              <a:rPr sz="1800" b="0">
                <a:solidFill>
                  <a:srgbClr val="526577"/>
                </a:solidFill>
                <a:latin typeface="Arial"/>
                <a:ea typeface="Arial"/>
                <a:cs typeface="Arial"/>
              </a:rPr>
              <a:t>Five separate ICCAD-12 benchmarks. Counts below describe the saved test predictions.</a:t>
            </a:r>
          </a:p>
        </p:txBody>
      </p:sp>
      <p:sp>
        <p:nvSpPr>
          <p:cNvPr id="3" name="G19">
            <a:extLst>
              <a:ext uri="{FF2B5EF4-FFF2-40B4-BE49-F238E27FC236}">
                <a16:creationId xmlns:a16="http://schemas.microsoft.com/office/drawing/2014/main" id="{7493C3B6-393D-4468-93AF-7806BE15579D}"/>
              </a:ext>
            </a:extLst>
          </p:cNvPr>
          <p:cNvSpPr>
            <a:spLocks noGrp="1"/>
          </p:cNvSpPr>
          <p:nvPr/>
        </p:nvSpPr>
        <p:spPr>
          <a:xfrm>
            <a:off x="609600" y="6467475"/>
            <a:ext cx="952500" cy="219075"/>
          </a:xfrm>
          <a:prstGeom prst="rect">
            <a:avLst/>
          </a:prstGeom>
          <a:noFill/>
          <a:ln w="0">
            <a:noFill/>
          </a:ln>
        </p:spPr>
        <p:txBody>
          <a:bodyPr wrap="square" lIns="0" tIns="0" rIns="0" bIns="0" anchor="t">
            <a:noAutofit/>
          </a:bodyPr>
          <a:lstStyle/>
          <a:p>
            <a:pPr algn="l">
              <a:defRPr sz="1200" b="0">
                <a:solidFill>
                  <a:srgbClr val="526577"/>
                </a:solidFill>
                <a:latin typeface="Arial"/>
                <a:ea typeface="Arial"/>
                <a:cs typeface="Arial"/>
              </a:defRPr>
            </a:pPr>
            <a:r>
              <a:rPr sz="1200" b="0">
                <a:solidFill>
                  <a:srgbClr val="526577"/>
                </a:solidFill>
                <a:latin typeface="Arial"/>
                <a:ea typeface="Arial"/>
                <a:cs typeface="Arial"/>
              </a:rPr>
              <a:t>G19</a:t>
            </a:r>
          </a:p>
        </p:txBody>
      </p:sp>
      <p:sp>
        <p:nvSpPr>
          <p:cNvPr id="4" name="05">
            <a:extLst>
              <a:ext uri="{FF2B5EF4-FFF2-40B4-BE49-F238E27FC236}">
                <a16:creationId xmlns:a16="http://schemas.microsoft.com/office/drawing/2014/main" id="{A64C1E8F-ECB5-4BE5-9F91-FE33F316C0DC}"/>
              </a:ext>
            </a:extLst>
          </p:cNvPr>
          <p:cNvSpPr>
            <a:spLocks noGrp="1"/>
          </p:cNvSpPr>
          <p:nvPr/>
        </p:nvSpPr>
        <p:spPr>
          <a:xfrm>
            <a:off x="10991850" y="6467475"/>
            <a:ext cx="571500" cy="219075"/>
          </a:xfrm>
          <a:prstGeom prst="rect">
            <a:avLst/>
          </a:prstGeom>
          <a:noFill/>
          <a:ln w="0">
            <a:noFill/>
          </a:ln>
        </p:spPr>
        <p:txBody>
          <a:bodyPr wrap="square" lIns="0" tIns="0" rIns="0" bIns="0" anchor="t">
            <a:noAutofit/>
          </a:bodyPr>
          <a:lstStyle/>
          <a:p>
            <a:pPr algn="r">
              <a:defRPr sz="1200" b="0">
                <a:solidFill>
                  <a:srgbClr val="526577"/>
                </a:solidFill>
                <a:latin typeface="Arial"/>
                <a:ea typeface="Arial"/>
                <a:cs typeface="Arial"/>
              </a:defRPr>
            </a:pPr>
            <a:r>
              <a:rPr sz="1200" b="0">
                <a:solidFill>
                  <a:srgbClr val="526577"/>
                </a:solidFill>
                <a:latin typeface="Arial"/>
                <a:ea typeface="Arial"/>
                <a:cs typeface="Arial"/>
              </a:rPr>
              <a:t>05</a:t>
            </a:r>
          </a:p>
        </p:txBody>
      </p:sp>
      <p:graphicFrame>
        <p:nvGraphicFramePr>
          <p:cNvPr id="13" name="Table 12"/>
          <p:cNvGraphicFramePr/>
          <p:nvPr/>
        </p:nvGraphicFramePr>
        <p:xfrm>
          <a:off x="628650" y="1828800"/>
          <a:ext cx="10934700" cy="3057528"/>
        </p:xfrm>
        <a:graphic>
          <a:graphicData uri="http://schemas.openxmlformats.org/drawingml/2006/table">
            <a:tbl>
              <a:tblPr/>
              <a:tblGrid>
                <a:gridCol w="2047875">
                  <a:extLst>
                    <a:ext uri="{9D8B030D-6E8A-4147-A177-3AD203B41FA5}">
                      <a16:colId xmlns:a16="http://schemas.microsoft.com/office/drawing/2014/main" val="20000"/>
                    </a:ext>
                  </a:extLst>
                </a:gridCol>
                <a:gridCol w="2047875">
                  <a:extLst>
                    <a:ext uri="{9D8B030D-6E8A-4147-A177-3AD203B41FA5}">
                      <a16:colId xmlns:a16="http://schemas.microsoft.com/office/drawing/2014/main" val="20001"/>
                    </a:ext>
                  </a:extLst>
                </a:gridCol>
                <a:gridCol w="2381250">
                  <a:extLst>
                    <a:ext uri="{9D8B030D-6E8A-4147-A177-3AD203B41FA5}">
                      <a16:colId xmlns:a16="http://schemas.microsoft.com/office/drawing/2014/main" val="20002"/>
                    </a:ext>
                  </a:extLst>
                </a:gridCol>
                <a:gridCol w="2362200">
                  <a:extLst>
                    <a:ext uri="{9D8B030D-6E8A-4147-A177-3AD203B41FA5}">
                      <a16:colId xmlns:a16="http://schemas.microsoft.com/office/drawing/2014/main" val="20003"/>
                    </a:ext>
                  </a:extLst>
                </a:gridCol>
                <a:gridCol w="2095500">
                  <a:extLst>
                    <a:ext uri="{9D8B030D-6E8A-4147-A177-3AD203B41FA5}">
                      <a16:colId xmlns:a16="http://schemas.microsoft.com/office/drawing/2014/main" val="20004"/>
                    </a:ext>
                  </a:extLst>
                </a:gridCol>
              </a:tblGrid>
              <a:tr h="509588">
                <a:tc>
                  <a:txBody>
                    <a:bodyPr/>
                    <a:lstStyle/>
                    <a:p>
                      <a:pPr algn="l"/>
                      <a:r>
                        <a:rPr sz="1725" b="1">
                          <a:solidFill>
                            <a:srgbClr val="FFFFFF"/>
                          </a:solidFill>
                          <a:latin typeface="Arial"/>
                          <a:ea typeface="Arial"/>
                          <a:cs typeface="Arial"/>
                        </a:rPr>
                        <a:t>Benchmark</a:t>
                      </a:r>
                    </a:p>
                  </a:txBody>
                  <a:tcPr anchor="ctr">
                    <a:solidFill>
                      <a:srgbClr val="152B3C"/>
                    </a:solidFill>
                  </a:tcPr>
                </a:tc>
                <a:tc>
                  <a:txBody>
                    <a:bodyPr/>
                    <a:lstStyle/>
                    <a:p>
                      <a:pPr algn="ctr"/>
                      <a:r>
                        <a:rPr sz="1725" b="1">
                          <a:solidFill>
                            <a:srgbClr val="FFFFFF"/>
                          </a:solidFill>
                          <a:latin typeface="Arial"/>
                          <a:ea typeface="Arial"/>
                          <a:cs typeface="Arial"/>
                        </a:rPr>
                        <a:t>Hotspots</a:t>
                      </a:r>
                    </a:p>
                  </a:txBody>
                  <a:tcPr anchor="ctr">
                    <a:solidFill>
                      <a:srgbClr val="152B3C"/>
                    </a:solidFill>
                  </a:tcPr>
                </a:tc>
                <a:tc>
                  <a:txBody>
                    <a:bodyPr/>
                    <a:lstStyle/>
                    <a:p>
                      <a:pPr algn="ctr"/>
                      <a:r>
                        <a:rPr sz="1725" b="1">
                          <a:solidFill>
                            <a:srgbClr val="FFFFFF"/>
                          </a:solidFill>
                          <a:latin typeface="Arial"/>
                          <a:ea typeface="Arial"/>
                          <a:cs typeface="Arial"/>
                        </a:rPr>
                        <a:t>Non-hotspots</a:t>
                      </a:r>
                    </a:p>
                  </a:txBody>
                  <a:tcPr anchor="ctr">
                    <a:solidFill>
                      <a:srgbClr val="152B3C"/>
                    </a:solidFill>
                  </a:tcPr>
                </a:tc>
                <a:tc>
                  <a:txBody>
                    <a:bodyPr/>
                    <a:lstStyle/>
                    <a:p>
                      <a:pPr algn="ctr"/>
                      <a:r>
                        <a:rPr sz="1725" b="1">
                          <a:solidFill>
                            <a:srgbClr val="FFFFFF"/>
                          </a:solidFill>
                          <a:latin typeface="Arial"/>
                          <a:ea typeface="Arial"/>
                          <a:cs typeface="Arial"/>
                        </a:rPr>
                        <a:t>Test patterns</a:t>
                      </a:r>
                    </a:p>
                  </a:txBody>
                  <a:tcPr anchor="ctr">
                    <a:solidFill>
                      <a:srgbClr val="152B3C"/>
                    </a:solidFill>
                  </a:tcPr>
                </a:tc>
                <a:tc>
                  <a:txBody>
                    <a:bodyPr/>
                    <a:lstStyle/>
                    <a:p>
                      <a:pPr algn="ctr"/>
                      <a:r>
                        <a:rPr sz="1725" b="1">
                          <a:solidFill>
                            <a:srgbClr val="FFFFFF"/>
                          </a:solidFill>
                          <a:latin typeface="Arial"/>
                          <a:ea typeface="Arial"/>
                          <a:cs typeface="Arial"/>
                        </a:rPr>
                        <a:t>Hotspot share</a:t>
                      </a:r>
                    </a:p>
                  </a:txBody>
                  <a:tcPr anchor="ctr">
                    <a:solidFill>
                      <a:srgbClr val="152B3C"/>
                    </a:solidFill>
                  </a:tcPr>
                </a:tc>
                <a:extLst>
                  <a:ext uri="{0D108BD9-81ED-4DB2-BD59-A6C34878D82A}">
                    <a16:rowId xmlns:a16="http://schemas.microsoft.com/office/drawing/2014/main" val="10000"/>
                  </a:ext>
                </a:extLst>
              </a:tr>
              <a:tr h="509588">
                <a:tc>
                  <a:txBody>
                    <a:bodyPr/>
                    <a:lstStyle/>
                    <a:p>
                      <a:pPr algn="l"/>
                      <a:r>
                        <a:rPr sz="1725" b="0">
                          <a:solidFill>
                            <a:srgbClr val="172E40"/>
                          </a:solidFill>
                          <a:latin typeface="Arial"/>
                          <a:ea typeface="Arial"/>
                          <a:cs typeface="Arial"/>
                        </a:rPr>
                        <a:t>B1</a:t>
                      </a:r>
                    </a:p>
                  </a:txBody>
                  <a:tcPr anchor="ctr">
                    <a:solidFill>
                      <a:srgbClr val="FFFFFF"/>
                    </a:solidFill>
                  </a:tcPr>
                </a:tc>
                <a:tc>
                  <a:txBody>
                    <a:bodyPr/>
                    <a:lstStyle/>
                    <a:p>
                      <a:pPr algn="ctr"/>
                      <a:r>
                        <a:rPr sz="1725" b="0">
                          <a:solidFill>
                            <a:srgbClr val="172E40"/>
                          </a:solidFill>
                          <a:latin typeface="Arial"/>
                          <a:ea typeface="Arial"/>
                          <a:cs typeface="Arial"/>
                        </a:rPr>
                        <a:t>226</a:t>
                      </a:r>
                    </a:p>
                  </a:txBody>
                  <a:tcPr anchor="ctr">
                    <a:solidFill>
                      <a:srgbClr val="FFFFFF"/>
                    </a:solidFill>
                  </a:tcPr>
                </a:tc>
                <a:tc>
                  <a:txBody>
                    <a:bodyPr/>
                    <a:lstStyle/>
                    <a:p>
                      <a:pPr algn="ctr"/>
                      <a:r>
                        <a:rPr sz="1725" b="0">
                          <a:solidFill>
                            <a:srgbClr val="172E40"/>
                          </a:solidFill>
                          <a:latin typeface="Arial"/>
                          <a:ea typeface="Arial"/>
                          <a:cs typeface="Arial"/>
                        </a:rPr>
                        <a:t>4,679</a:t>
                      </a:r>
                    </a:p>
                  </a:txBody>
                  <a:tcPr anchor="ctr">
                    <a:solidFill>
                      <a:srgbClr val="FFFFFF"/>
                    </a:solidFill>
                  </a:tcPr>
                </a:tc>
                <a:tc>
                  <a:txBody>
                    <a:bodyPr/>
                    <a:lstStyle/>
                    <a:p>
                      <a:pPr algn="ctr"/>
                      <a:r>
                        <a:rPr sz="1725" b="0">
                          <a:solidFill>
                            <a:srgbClr val="172E40"/>
                          </a:solidFill>
                          <a:latin typeface="Arial"/>
                          <a:ea typeface="Arial"/>
                          <a:cs typeface="Arial"/>
                        </a:rPr>
                        <a:t>4,905</a:t>
                      </a:r>
                    </a:p>
                  </a:txBody>
                  <a:tcPr anchor="ctr">
                    <a:solidFill>
                      <a:srgbClr val="FFFFFF"/>
                    </a:solidFill>
                  </a:tcPr>
                </a:tc>
                <a:tc>
                  <a:txBody>
                    <a:bodyPr/>
                    <a:lstStyle/>
                    <a:p>
                      <a:pPr algn="ctr"/>
                      <a:r>
                        <a:rPr sz="1725" b="0">
                          <a:solidFill>
                            <a:srgbClr val="172E40"/>
                          </a:solidFill>
                          <a:latin typeface="Arial"/>
                          <a:ea typeface="Arial"/>
                          <a:cs typeface="Arial"/>
                        </a:rPr>
                        <a:t>4.61%</a:t>
                      </a:r>
                    </a:p>
                  </a:txBody>
                  <a:tcPr anchor="ctr">
                    <a:solidFill>
                      <a:srgbClr val="FFFFFF"/>
                    </a:solidFill>
                  </a:tcPr>
                </a:tc>
                <a:extLst>
                  <a:ext uri="{0D108BD9-81ED-4DB2-BD59-A6C34878D82A}">
                    <a16:rowId xmlns:a16="http://schemas.microsoft.com/office/drawing/2014/main" val="10001"/>
                  </a:ext>
                </a:extLst>
              </a:tr>
              <a:tr h="509588">
                <a:tc>
                  <a:txBody>
                    <a:bodyPr/>
                    <a:lstStyle/>
                    <a:p>
                      <a:pPr algn="l"/>
                      <a:r>
                        <a:rPr sz="1725" b="0">
                          <a:solidFill>
                            <a:srgbClr val="172E40"/>
                          </a:solidFill>
                          <a:latin typeface="Arial"/>
                          <a:ea typeface="Arial"/>
                          <a:cs typeface="Arial"/>
                        </a:rPr>
                        <a:t>B2</a:t>
                      </a:r>
                    </a:p>
                  </a:txBody>
                  <a:tcPr anchor="ctr">
                    <a:solidFill>
                      <a:srgbClr val="F4F7FA"/>
                    </a:solidFill>
                  </a:tcPr>
                </a:tc>
                <a:tc>
                  <a:txBody>
                    <a:bodyPr/>
                    <a:lstStyle/>
                    <a:p>
                      <a:pPr algn="ctr"/>
                      <a:r>
                        <a:rPr sz="1725" b="0">
                          <a:solidFill>
                            <a:srgbClr val="172E40"/>
                          </a:solidFill>
                          <a:latin typeface="Arial"/>
                          <a:ea typeface="Arial"/>
                          <a:cs typeface="Arial"/>
                        </a:rPr>
                        <a:t>498</a:t>
                      </a:r>
                    </a:p>
                  </a:txBody>
                  <a:tcPr anchor="ctr">
                    <a:solidFill>
                      <a:srgbClr val="F4F7FA"/>
                    </a:solidFill>
                  </a:tcPr>
                </a:tc>
                <a:tc>
                  <a:txBody>
                    <a:bodyPr/>
                    <a:lstStyle/>
                    <a:p>
                      <a:pPr algn="ctr"/>
                      <a:r>
                        <a:rPr sz="1725" b="0">
                          <a:solidFill>
                            <a:srgbClr val="172E40"/>
                          </a:solidFill>
                          <a:latin typeface="Arial"/>
                          <a:ea typeface="Arial"/>
                          <a:cs typeface="Arial"/>
                        </a:rPr>
                        <a:t>41,298</a:t>
                      </a:r>
                    </a:p>
                  </a:txBody>
                  <a:tcPr anchor="ctr">
                    <a:solidFill>
                      <a:srgbClr val="F4F7FA"/>
                    </a:solidFill>
                  </a:tcPr>
                </a:tc>
                <a:tc>
                  <a:txBody>
                    <a:bodyPr/>
                    <a:lstStyle/>
                    <a:p>
                      <a:pPr algn="ctr"/>
                      <a:r>
                        <a:rPr sz="1725" b="0">
                          <a:solidFill>
                            <a:srgbClr val="172E40"/>
                          </a:solidFill>
                          <a:latin typeface="Arial"/>
                          <a:ea typeface="Arial"/>
                          <a:cs typeface="Arial"/>
                        </a:rPr>
                        <a:t>41,796</a:t>
                      </a:r>
                    </a:p>
                  </a:txBody>
                  <a:tcPr anchor="ctr">
                    <a:solidFill>
                      <a:srgbClr val="F4F7FA"/>
                    </a:solidFill>
                  </a:tcPr>
                </a:tc>
                <a:tc>
                  <a:txBody>
                    <a:bodyPr/>
                    <a:lstStyle/>
                    <a:p>
                      <a:pPr algn="ctr"/>
                      <a:r>
                        <a:rPr sz="1725" b="0">
                          <a:solidFill>
                            <a:srgbClr val="172E40"/>
                          </a:solidFill>
                          <a:latin typeface="Arial"/>
                          <a:ea typeface="Arial"/>
                          <a:cs typeface="Arial"/>
                        </a:rPr>
                        <a:t>1.19%</a:t>
                      </a:r>
                    </a:p>
                  </a:txBody>
                  <a:tcPr anchor="ctr">
                    <a:solidFill>
                      <a:srgbClr val="F4F7FA"/>
                    </a:solidFill>
                  </a:tcPr>
                </a:tc>
                <a:extLst>
                  <a:ext uri="{0D108BD9-81ED-4DB2-BD59-A6C34878D82A}">
                    <a16:rowId xmlns:a16="http://schemas.microsoft.com/office/drawing/2014/main" val="10002"/>
                  </a:ext>
                </a:extLst>
              </a:tr>
              <a:tr h="509588">
                <a:tc>
                  <a:txBody>
                    <a:bodyPr/>
                    <a:lstStyle/>
                    <a:p>
                      <a:pPr algn="l"/>
                      <a:r>
                        <a:rPr sz="1725" b="0">
                          <a:solidFill>
                            <a:srgbClr val="172E40"/>
                          </a:solidFill>
                          <a:latin typeface="Arial"/>
                          <a:ea typeface="Arial"/>
                          <a:cs typeface="Arial"/>
                        </a:rPr>
                        <a:t>B3</a:t>
                      </a:r>
                    </a:p>
                  </a:txBody>
                  <a:tcPr anchor="ctr">
                    <a:solidFill>
                      <a:srgbClr val="FFFFFF"/>
                    </a:solidFill>
                  </a:tcPr>
                </a:tc>
                <a:tc>
                  <a:txBody>
                    <a:bodyPr/>
                    <a:lstStyle/>
                    <a:p>
                      <a:pPr algn="ctr"/>
                      <a:r>
                        <a:rPr sz="1725" b="0">
                          <a:solidFill>
                            <a:srgbClr val="172E40"/>
                          </a:solidFill>
                          <a:latin typeface="Arial"/>
                          <a:ea typeface="Arial"/>
                          <a:cs typeface="Arial"/>
                        </a:rPr>
                        <a:t>1,808</a:t>
                      </a:r>
                    </a:p>
                  </a:txBody>
                  <a:tcPr anchor="ctr">
                    <a:solidFill>
                      <a:srgbClr val="FFFFFF"/>
                    </a:solidFill>
                  </a:tcPr>
                </a:tc>
                <a:tc>
                  <a:txBody>
                    <a:bodyPr/>
                    <a:lstStyle/>
                    <a:p>
                      <a:pPr algn="ctr"/>
                      <a:r>
                        <a:rPr sz="1725" b="0">
                          <a:solidFill>
                            <a:srgbClr val="172E40"/>
                          </a:solidFill>
                          <a:latin typeface="Arial"/>
                          <a:ea typeface="Arial"/>
                          <a:cs typeface="Arial"/>
                        </a:rPr>
                        <a:t>46,333</a:t>
                      </a:r>
                    </a:p>
                  </a:txBody>
                  <a:tcPr anchor="ctr">
                    <a:solidFill>
                      <a:srgbClr val="FFFFFF"/>
                    </a:solidFill>
                  </a:tcPr>
                </a:tc>
                <a:tc>
                  <a:txBody>
                    <a:bodyPr/>
                    <a:lstStyle/>
                    <a:p>
                      <a:pPr algn="ctr"/>
                      <a:r>
                        <a:rPr sz="1725" b="0">
                          <a:solidFill>
                            <a:srgbClr val="172E40"/>
                          </a:solidFill>
                          <a:latin typeface="Arial"/>
                          <a:ea typeface="Arial"/>
                          <a:cs typeface="Arial"/>
                        </a:rPr>
                        <a:t>48,141</a:t>
                      </a:r>
                    </a:p>
                  </a:txBody>
                  <a:tcPr anchor="ctr">
                    <a:solidFill>
                      <a:srgbClr val="FFFFFF"/>
                    </a:solidFill>
                  </a:tcPr>
                </a:tc>
                <a:tc>
                  <a:txBody>
                    <a:bodyPr/>
                    <a:lstStyle/>
                    <a:p>
                      <a:pPr algn="ctr"/>
                      <a:r>
                        <a:rPr sz="1725" b="0">
                          <a:solidFill>
                            <a:srgbClr val="172E40"/>
                          </a:solidFill>
                          <a:latin typeface="Arial"/>
                          <a:ea typeface="Arial"/>
                          <a:cs typeface="Arial"/>
                        </a:rPr>
                        <a:t>3.76%</a:t>
                      </a:r>
                    </a:p>
                  </a:txBody>
                  <a:tcPr anchor="ctr">
                    <a:solidFill>
                      <a:srgbClr val="FFFFFF"/>
                    </a:solidFill>
                  </a:tcPr>
                </a:tc>
                <a:extLst>
                  <a:ext uri="{0D108BD9-81ED-4DB2-BD59-A6C34878D82A}">
                    <a16:rowId xmlns:a16="http://schemas.microsoft.com/office/drawing/2014/main" val="10003"/>
                  </a:ext>
                </a:extLst>
              </a:tr>
              <a:tr h="509588">
                <a:tc>
                  <a:txBody>
                    <a:bodyPr/>
                    <a:lstStyle/>
                    <a:p>
                      <a:pPr algn="l"/>
                      <a:r>
                        <a:rPr sz="1725" b="0">
                          <a:solidFill>
                            <a:srgbClr val="172E40"/>
                          </a:solidFill>
                          <a:latin typeface="Arial"/>
                          <a:ea typeface="Arial"/>
                          <a:cs typeface="Arial"/>
                        </a:rPr>
                        <a:t>B4</a:t>
                      </a:r>
                    </a:p>
                  </a:txBody>
                  <a:tcPr anchor="ctr">
                    <a:solidFill>
                      <a:srgbClr val="F4F7FA"/>
                    </a:solidFill>
                  </a:tcPr>
                </a:tc>
                <a:tc>
                  <a:txBody>
                    <a:bodyPr/>
                    <a:lstStyle/>
                    <a:p>
                      <a:pPr algn="ctr"/>
                      <a:r>
                        <a:rPr sz="1725" b="0">
                          <a:solidFill>
                            <a:srgbClr val="172E40"/>
                          </a:solidFill>
                          <a:latin typeface="Arial"/>
                          <a:ea typeface="Arial"/>
                          <a:cs typeface="Arial"/>
                        </a:rPr>
                        <a:t>177</a:t>
                      </a:r>
                    </a:p>
                  </a:txBody>
                  <a:tcPr anchor="ctr">
                    <a:solidFill>
                      <a:srgbClr val="F4F7FA"/>
                    </a:solidFill>
                  </a:tcPr>
                </a:tc>
                <a:tc>
                  <a:txBody>
                    <a:bodyPr/>
                    <a:lstStyle/>
                    <a:p>
                      <a:pPr algn="ctr"/>
                      <a:r>
                        <a:rPr sz="1725" b="0">
                          <a:solidFill>
                            <a:srgbClr val="172E40"/>
                          </a:solidFill>
                          <a:latin typeface="Arial"/>
                          <a:ea typeface="Arial"/>
                          <a:cs typeface="Arial"/>
                        </a:rPr>
                        <a:t>31,890</a:t>
                      </a:r>
                    </a:p>
                  </a:txBody>
                  <a:tcPr anchor="ctr">
                    <a:solidFill>
                      <a:srgbClr val="F4F7FA"/>
                    </a:solidFill>
                  </a:tcPr>
                </a:tc>
                <a:tc>
                  <a:txBody>
                    <a:bodyPr/>
                    <a:lstStyle/>
                    <a:p>
                      <a:pPr algn="ctr"/>
                      <a:r>
                        <a:rPr sz="1725" b="0">
                          <a:solidFill>
                            <a:srgbClr val="172E40"/>
                          </a:solidFill>
                          <a:latin typeface="Arial"/>
                          <a:ea typeface="Arial"/>
                          <a:cs typeface="Arial"/>
                        </a:rPr>
                        <a:t>32,067</a:t>
                      </a:r>
                    </a:p>
                  </a:txBody>
                  <a:tcPr anchor="ctr">
                    <a:solidFill>
                      <a:srgbClr val="F4F7FA"/>
                    </a:solidFill>
                  </a:tcPr>
                </a:tc>
                <a:tc>
                  <a:txBody>
                    <a:bodyPr/>
                    <a:lstStyle/>
                    <a:p>
                      <a:pPr algn="ctr"/>
                      <a:r>
                        <a:rPr sz="1725" b="0">
                          <a:solidFill>
                            <a:srgbClr val="172E40"/>
                          </a:solidFill>
                          <a:latin typeface="Arial"/>
                          <a:ea typeface="Arial"/>
                          <a:cs typeface="Arial"/>
                        </a:rPr>
                        <a:t>0.55%</a:t>
                      </a:r>
                    </a:p>
                  </a:txBody>
                  <a:tcPr anchor="ctr">
                    <a:solidFill>
                      <a:srgbClr val="F4F7FA"/>
                    </a:solidFill>
                  </a:tcPr>
                </a:tc>
                <a:extLst>
                  <a:ext uri="{0D108BD9-81ED-4DB2-BD59-A6C34878D82A}">
                    <a16:rowId xmlns:a16="http://schemas.microsoft.com/office/drawing/2014/main" val="10004"/>
                  </a:ext>
                </a:extLst>
              </a:tr>
              <a:tr h="509588">
                <a:tc>
                  <a:txBody>
                    <a:bodyPr/>
                    <a:lstStyle/>
                    <a:p>
                      <a:pPr algn="l"/>
                      <a:r>
                        <a:rPr sz="1725" b="0">
                          <a:solidFill>
                            <a:srgbClr val="172E40"/>
                          </a:solidFill>
                          <a:latin typeface="Arial"/>
                          <a:ea typeface="Arial"/>
                          <a:cs typeface="Arial"/>
                        </a:rPr>
                        <a:t>B5</a:t>
                      </a:r>
                    </a:p>
                  </a:txBody>
                  <a:tcPr anchor="ctr">
                    <a:solidFill>
                      <a:srgbClr val="FFFFFF"/>
                    </a:solidFill>
                  </a:tcPr>
                </a:tc>
                <a:tc>
                  <a:txBody>
                    <a:bodyPr/>
                    <a:lstStyle/>
                    <a:p>
                      <a:pPr algn="ctr"/>
                      <a:r>
                        <a:rPr sz="1725" b="0">
                          <a:solidFill>
                            <a:srgbClr val="172E40"/>
                          </a:solidFill>
                          <a:latin typeface="Arial"/>
                          <a:ea typeface="Arial"/>
                          <a:cs typeface="Arial"/>
                        </a:rPr>
                        <a:t>41</a:t>
                      </a:r>
                    </a:p>
                  </a:txBody>
                  <a:tcPr anchor="ctr">
                    <a:solidFill>
                      <a:srgbClr val="FFFFFF"/>
                    </a:solidFill>
                  </a:tcPr>
                </a:tc>
                <a:tc>
                  <a:txBody>
                    <a:bodyPr/>
                    <a:lstStyle/>
                    <a:p>
                      <a:pPr algn="ctr"/>
                      <a:r>
                        <a:rPr sz="1725" b="0">
                          <a:solidFill>
                            <a:srgbClr val="172E40"/>
                          </a:solidFill>
                          <a:latin typeface="Arial"/>
                          <a:ea typeface="Arial"/>
                          <a:cs typeface="Arial"/>
                        </a:rPr>
                        <a:t>19,327</a:t>
                      </a:r>
                    </a:p>
                  </a:txBody>
                  <a:tcPr anchor="ctr">
                    <a:solidFill>
                      <a:srgbClr val="FFFFFF"/>
                    </a:solidFill>
                  </a:tcPr>
                </a:tc>
                <a:tc>
                  <a:txBody>
                    <a:bodyPr/>
                    <a:lstStyle/>
                    <a:p>
                      <a:pPr algn="ctr"/>
                      <a:r>
                        <a:rPr sz="1725" b="0">
                          <a:solidFill>
                            <a:srgbClr val="172E40"/>
                          </a:solidFill>
                          <a:latin typeface="Arial"/>
                          <a:ea typeface="Arial"/>
                          <a:cs typeface="Arial"/>
                        </a:rPr>
                        <a:t>19,368</a:t>
                      </a:r>
                    </a:p>
                  </a:txBody>
                  <a:tcPr anchor="ctr">
                    <a:solidFill>
                      <a:srgbClr val="FFFFFF"/>
                    </a:solidFill>
                  </a:tcPr>
                </a:tc>
                <a:tc>
                  <a:txBody>
                    <a:bodyPr/>
                    <a:lstStyle/>
                    <a:p>
                      <a:pPr algn="ctr"/>
                      <a:r>
                        <a:rPr sz="1725" b="0">
                          <a:solidFill>
                            <a:srgbClr val="172E40"/>
                          </a:solidFill>
                          <a:latin typeface="Arial"/>
                          <a:ea typeface="Arial"/>
                          <a:cs typeface="Arial"/>
                        </a:rPr>
                        <a:t>0.21%</a:t>
                      </a:r>
                    </a:p>
                  </a:txBody>
                  <a:tcPr anchor="ctr">
                    <a:solidFill>
                      <a:srgbClr val="FFFFFF"/>
                    </a:solidFill>
                  </a:tcPr>
                </a:tc>
                <a:extLst>
                  <a:ext uri="{0D108BD9-81ED-4DB2-BD59-A6C34878D82A}">
                    <a16:rowId xmlns:a16="http://schemas.microsoft.com/office/drawing/2014/main" val="10005"/>
                  </a:ext>
                </a:extLst>
              </a:tr>
            </a:tbl>
          </a:graphicData>
        </a:graphic>
      </p:graphicFrame>
      <p:sp>
        <p:nvSpPr>
          <p:cNvPr id="6" name="146,277 test patterns">
            <a:extLst>
              <a:ext uri="{FF2B5EF4-FFF2-40B4-BE49-F238E27FC236}">
                <a16:creationId xmlns:a16="http://schemas.microsoft.com/office/drawing/2014/main" id="{1DD8D6D7-A7A7-479C-B59C-5A077A2DA30D}"/>
              </a:ext>
            </a:extLst>
          </p:cNvPr>
          <p:cNvSpPr>
            <a:spLocks noGrp="1"/>
          </p:cNvSpPr>
          <p:nvPr/>
        </p:nvSpPr>
        <p:spPr>
          <a:xfrm>
            <a:off x="628650" y="5172075"/>
            <a:ext cx="5238750" cy="400050"/>
          </a:xfrm>
          <a:prstGeom prst="rect">
            <a:avLst/>
          </a:prstGeom>
          <a:noFill/>
          <a:ln w="0">
            <a:noFill/>
          </a:ln>
        </p:spPr>
        <p:txBody>
          <a:bodyPr wrap="square" lIns="0" tIns="0" rIns="0" bIns="0" anchor="t">
            <a:noAutofit/>
          </a:bodyPr>
          <a:lstStyle/>
          <a:p>
            <a:pPr algn="l">
              <a:defRPr sz="2325" b="1">
                <a:solidFill>
                  <a:srgbClr val="087E82"/>
                </a:solidFill>
                <a:latin typeface="Arial"/>
                <a:ea typeface="Arial"/>
                <a:cs typeface="Arial"/>
              </a:defRPr>
            </a:pPr>
            <a:r>
              <a:rPr sz="2325" b="1">
                <a:solidFill>
                  <a:srgbClr val="087E82"/>
                </a:solidFill>
                <a:latin typeface="Arial"/>
                <a:ea typeface="Arial"/>
                <a:cs typeface="Arial"/>
              </a:rPr>
              <a:t>146,277 test patterns</a:t>
            </a:r>
          </a:p>
        </p:txBody>
      </p:sp>
      <p:sp>
        <p:nvSpPr>
          <p:cNvPr id="7" name="Hotspots: 2,750 (1.88% of test patterns)">
            <a:extLst>
              <a:ext uri="{FF2B5EF4-FFF2-40B4-BE49-F238E27FC236}">
                <a16:creationId xmlns:a16="http://schemas.microsoft.com/office/drawing/2014/main" id="{C55A0CF5-9E0E-4100-99B0-18E3C6A69B95}"/>
              </a:ext>
            </a:extLst>
          </p:cNvPr>
          <p:cNvSpPr>
            <a:spLocks noGrp="1"/>
          </p:cNvSpPr>
          <p:nvPr/>
        </p:nvSpPr>
        <p:spPr>
          <a:xfrm>
            <a:off x="6191250" y="5219700"/>
            <a:ext cx="5334000" cy="381000"/>
          </a:xfrm>
          <a:prstGeom prst="rect">
            <a:avLst/>
          </a:prstGeom>
          <a:noFill/>
          <a:ln w="0">
            <a:noFill/>
          </a:ln>
        </p:spPr>
        <p:txBody>
          <a:bodyPr wrap="square" lIns="0" tIns="0" rIns="0" bIns="0" anchor="t">
            <a:noAutofit/>
          </a:bodyPr>
          <a:lstStyle/>
          <a:p>
            <a:pPr algn="l">
              <a:defRPr sz="1875" b="0">
                <a:solidFill>
                  <a:srgbClr val="172E40"/>
                </a:solidFill>
                <a:latin typeface="Arial"/>
                <a:ea typeface="Arial"/>
                <a:cs typeface="Arial"/>
              </a:defRPr>
            </a:pPr>
            <a:r>
              <a:rPr sz="1875" b="0">
                <a:solidFill>
                  <a:srgbClr val="172E40"/>
                </a:solidFill>
                <a:latin typeface="Arial"/>
                <a:ea typeface="Arial"/>
                <a:cs typeface="Arial"/>
              </a:rPr>
              <a:t>Hotspots: 2,750 (1.88% of test patterns)</a:t>
            </a:r>
          </a:p>
        </p:txBody>
      </p:sp>
      <p:sp>
        <p:nvSpPr>
          <p:cNvPr id="8" name="Per benchmark: 15% of the training folder forms validation data. ">
            <a:extLst>
              <a:ext uri="{FF2B5EF4-FFF2-40B4-BE49-F238E27FC236}">
                <a16:creationId xmlns:a16="http://schemas.microsoft.com/office/drawing/2014/main" id="{42A3264C-9921-45BB-862D-F2F454115CBA}"/>
              </a:ext>
            </a:extLst>
          </p:cNvPr>
          <p:cNvSpPr>
            <a:spLocks noGrp="1"/>
          </p:cNvSpPr>
          <p:nvPr/>
        </p:nvSpPr>
        <p:spPr>
          <a:xfrm>
            <a:off x="628650" y="5715000"/>
            <a:ext cx="10934700" cy="409575"/>
          </a:xfrm>
          <a:prstGeom prst="rect">
            <a:avLst/>
          </a:prstGeom>
          <a:noFill/>
          <a:ln w="0">
            <a:noFill/>
          </a:ln>
        </p:spPr>
        <p:txBody>
          <a:bodyPr wrap="square" lIns="0" tIns="0" rIns="0" bIns="0" anchor="t">
            <a:noAutofit/>
          </a:bodyPr>
          <a:lstStyle/>
          <a:p>
            <a:pPr algn="l">
              <a:defRPr sz="1350" b="0">
                <a:solidFill>
                  <a:srgbClr val="526577"/>
                </a:solidFill>
                <a:latin typeface="Arial"/>
                <a:ea typeface="Arial"/>
                <a:cs typeface="Arial"/>
              </a:defRPr>
            </a:pPr>
            <a:r>
              <a:rPr sz="1350" b="0">
                <a:solidFill>
                  <a:srgbClr val="526577"/>
                </a:solidFill>
                <a:latin typeface="Arial"/>
                <a:ea typeface="Arial"/>
                <a:cs typeface="Arial"/>
              </a:rPr>
              <a:t>Per benchmark: 15% of the training folder forms validation data. The supplied test folder remains separate.</a:t>
            </a:r>
          </a:p>
        </p:txBody>
      </p:sp>
    </p:spTree>
    <p:extLst>
      <p:ext uri="{BB962C8B-B14F-4D97-AF65-F5344CB8AC3E}">
        <p14:creationId xmlns:p14="http://schemas.microsoft.com/office/powerpoint/2010/main" val="11438764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CNN baseline and training setup">
            <a:extLst>
              <a:ext uri="{FF2B5EF4-FFF2-40B4-BE49-F238E27FC236}">
                <a16:creationId xmlns:a16="http://schemas.microsoft.com/office/drawing/2014/main" id="{97B6BE92-4B06-413A-94DC-694643C3A3AA}"/>
              </a:ext>
            </a:extLst>
          </p:cNvPr>
          <p:cNvSpPr>
            <a:spLocks noGrp="1"/>
          </p:cNvSpPr>
          <p:nvPr/>
        </p:nvSpPr>
        <p:spPr>
          <a:xfrm>
            <a:off x="609600" y="428625"/>
            <a:ext cx="10972800" cy="609600"/>
          </a:xfrm>
          <a:prstGeom prst="rect">
            <a:avLst/>
          </a:prstGeom>
          <a:noFill/>
          <a:ln w="0">
            <a:noFill/>
          </a:ln>
        </p:spPr>
        <p:txBody>
          <a:bodyPr wrap="square" lIns="0" tIns="0" rIns="0" bIns="0" anchor="t">
            <a:noAutofit/>
          </a:bodyPr>
          <a:lstStyle/>
          <a:p>
            <a:pPr algn="l">
              <a:defRPr sz="3225" b="1">
                <a:solidFill>
                  <a:srgbClr val="152B3C"/>
                </a:solidFill>
                <a:latin typeface="Arial"/>
                <a:ea typeface="Arial"/>
                <a:cs typeface="Arial"/>
              </a:defRPr>
            </a:pPr>
            <a:r>
              <a:rPr sz="3225" b="1">
                <a:solidFill>
                  <a:srgbClr val="152B3C"/>
                </a:solidFill>
                <a:latin typeface="Arial"/>
                <a:ea typeface="Arial"/>
                <a:cs typeface="Arial"/>
              </a:rPr>
              <a:t>CNN baseline and training setup</a:t>
            </a:r>
          </a:p>
        </p:txBody>
      </p:sp>
      <p:sp>
        <p:nvSpPr>
          <p:cNvPr id="2" name="G19">
            <a:extLst>
              <a:ext uri="{FF2B5EF4-FFF2-40B4-BE49-F238E27FC236}">
                <a16:creationId xmlns:a16="http://schemas.microsoft.com/office/drawing/2014/main" id="{30EAFC57-94DF-4FFE-A93A-CDFFBA105CDF}"/>
              </a:ext>
            </a:extLst>
          </p:cNvPr>
          <p:cNvSpPr>
            <a:spLocks noGrp="1"/>
          </p:cNvSpPr>
          <p:nvPr/>
        </p:nvSpPr>
        <p:spPr>
          <a:xfrm>
            <a:off x="609600" y="6467475"/>
            <a:ext cx="952500" cy="219075"/>
          </a:xfrm>
          <a:prstGeom prst="rect">
            <a:avLst/>
          </a:prstGeom>
          <a:noFill/>
          <a:ln w="0">
            <a:noFill/>
          </a:ln>
        </p:spPr>
        <p:txBody>
          <a:bodyPr wrap="square" lIns="0" tIns="0" rIns="0" bIns="0" anchor="t">
            <a:noAutofit/>
          </a:bodyPr>
          <a:lstStyle/>
          <a:p>
            <a:pPr algn="l">
              <a:defRPr sz="1200" b="0">
                <a:solidFill>
                  <a:srgbClr val="526577"/>
                </a:solidFill>
                <a:latin typeface="Arial"/>
                <a:ea typeface="Arial"/>
                <a:cs typeface="Arial"/>
              </a:defRPr>
            </a:pPr>
            <a:r>
              <a:rPr sz="1200" b="0">
                <a:solidFill>
                  <a:srgbClr val="526577"/>
                </a:solidFill>
                <a:latin typeface="Arial"/>
                <a:ea typeface="Arial"/>
                <a:cs typeface="Arial"/>
              </a:rPr>
              <a:t>G19</a:t>
            </a:r>
          </a:p>
        </p:txBody>
      </p:sp>
      <p:sp>
        <p:nvSpPr>
          <p:cNvPr id="3" name="06">
            <a:extLst>
              <a:ext uri="{FF2B5EF4-FFF2-40B4-BE49-F238E27FC236}">
                <a16:creationId xmlns:a16="http://schemas.microsoft.com/office/drawing/2014/main" id="{0DE37815-2486-4234-9615-3C2AFF654E0E}"/>
              </a:ext>
            </a:extLst>
          </p:cNvPr>
          <p:cNvSpPr>
            <a:spLocks noGrp="1"/>
          </p:cNvSpPr>
          <p:nvPr/>
        </p:nvSpPr>
        <p:spPr>
          <a:xfrm>
            <a:off x="10991850" y="6467475"/>
            <a:ext cx="571500" cy="219075"/>
          </a:xfrm>
          <a:prstGeom prst="rect">
            <a:avLst/>
          </a:prstGeom>
          <a:noFill/>
          <a:ln w="0">
            <a:noFill/>
          </a:ln>
        </p:spPr>
        <p:txBody>
          <a:bodyPr wrap="square" lIns="0" tIns="0" rIns="0" bIns="0" anchor="t">
            <a:noAutofit/>
          </a:bodyPr>
          <a:lstStyle/>
          <a:p>
            <a:pPr algn="r">
              <a:defRPr sz="1200" b="0">
                <a:solidFill>
                  <a:srgbClr val="526577"/>
                </a:solidFill>
                <a:latin typeface="Arial"/>
                <a:ea typeface="Arial"/>
                <a:cs typeface="Arial"/>
              </a:defRPr>
            </a:pPr>
            <a:r>
              <a:rPr sz="1200" b="0">
                <a:solidFill>
                  <a:srgbClr val="526577"/>
                </a:solidFill>
                <a:latin typeface="Arial"/>
                <a:ea typeface="Arial"/>
                <a:cs typeface="Arial"/>
              </a:rPr>
              <a:t>06</a:t>
            </a:r>
          </a:p>
        </p:txBody>
      </p:sp>
      <p:graphicFrame>
        <p:nvGraphicFramePr>
          <p:cNvPr id="11" name="Table 10"/>
          <p:cNvGraphicFramePr/>
          <p:nvPr/>
        </p:nvGraphicFramePr>
        <p:xfrm>
          <a:off x="628650" y="1543050"/>
          <a:ext cx="10934700" cy="3076575"/>
        </p:xfrm>
        <a:graphic>
          <a:graphicData uri="http://schemas.openxmlformats.org/drawingml/2006/table">
            <a:tbl>
              <a:tblPr/>
              <a:tblGrid>
                <a:gridCol w="2762250">
                  <a:extLst>
                    <a:ext uri="{9D8B030D-6E8A-4147-A177-3AD203B41FA5}">
                      <a16:colId xmlns:a16="http://schemas.microsoft.com/office/drawing/2014/main" val="20000"/>
                    </a:ext>
                  </a:extLst>
                </a:gridCol>
                <a:gridCol w="8172450">
                  <a:extLst>
                    <a:ext uri="{9D8B030D-6E8A-4147-A177-3AD203B41FA5}">
                      <a16:colId xmlns:a16="http://schemas.microsoft.com/office/drawing/2014/main" val="20001"/>
                    </a:ext>
                  </a:extLst>
                </a:gridCol>
              </a:tblGrid>
              <a:tr h="615315">
                <a:tc>
                  <a:txBody>
                    <a:bodyPr/>
                    <a:lstStyle/>
                    <a:p>
                      <a:pPr algn="l"/>
                      <a:r>
                        <a:rPr sz="1800" b="1">
                          <a:solidFill>
                            <a:srgbClr val="FFFFFF"/>
                          </a:solidFill>
                          <a:latin typeface="Arial"/>
                          <a:ea typeface="Arial"/>
                          <a:cs typeface="Arial"/>
                        </a:rPr>
                        <a:t>Stage</a:t>
                      </a:r>
                    </a:p>
                  </a:txBody>
                  <a:tcPr anchor="ctr">
                    <a:solidFill>
                      <a:srgbClr val="152B3C"/>
                    </a:solidFill>
                  </a:tcPr>
                </a:tc>
                <a:tc>
                  <a:txBody>
                    <a:bodyPr/>
                    <a:lstStyle/>
                    <a:p>
                      <a:pPr algn="ctr"/>
                      <a:r>
                        <a:rPr sz="1800" b="1">
                          <a:solidFill>
                            <a:srgbClr val="FFFFFF"/>
                          </a:solidFill>
                          <a:latin typeface="Arial"/>
                          <a:ea typeface="Arial"/>
                          <a:cs typeface="Arial"/>
                        </a:rPr>
                        <a:t>Configuration</a:t>
                      </a:r>
                    </a:p>
                  </a:txBody>
                  <a:tcPr anchor="ctr">
                    <a:solidFill>
                      <a:srgbClr val="152B3C"/>
                    </a:solidFill>
                  </a:tcPr>
                </a:tc>
                <a:extLst>
                  <a:ext uri="{0D108BD9-81ED-4DB2-BD59-A6C34878D82A}">
                    <a16:rowId xmlns:a16="http://schemas.microsoft.com/office/drawing/2014/main" val="10000"/>
                  </a:ext>
                </a:extLst>
              </a:tr>
              <a:tr h="615315">
                <a:tc>
                  <a:txBody>
                    <a:bodyPr/>
                    <a:lstStyle/>
                    <a:p>
                      <a:pPr algn="l"/>
                      <a:r>
                        <a:rPr sz="1800" b="0">
                          <a:solidFill>
                            <a:srgbClr val="172E40"/>
                          </a:solidFill>
                          <a:latin typeface="Arial"/>
                          <a:ea typeface="Arial"/>
                          <a:cs typeface="Arial"/>
                        </a:rPr>
                        <a:t>Input</a:t>
                      </a:r>
                    </a:p>
                  </a:txBody>
                  <a:tcPr anchor="ctr">
                    <a:solidFill>
                      <a:srgbClr val="FFFFFF"/>
                    </a:solidFill>
                  </a:tcPr>
                </a:tc>
                <a:tc>
                  <a:txBody>
                    <a:bodyPr/>
                    <a:lstStyle/>
                    <a:p>
                      <a:pPr algn="ctr"/>
                      <a:r>
                        <a:rPr sz="1800" b="0">
                          <a:solidFill>
                            <a:srgbClr val="172E40"/>
                          </a:solidFill>
                          <a:latin typeface="Arial"/>
                          <a:ea typeface="Arial"/>
                          <a:cs typeface="Arial"/>
                        </a:rPr>
                        <a:t>64 × 64 grayscale, pixel values scaled to 0–1</a:t>
                      </a:r>
                    </a:p>
                  </a:txBody>
                  <a:tcPr anchor="ctr">
                    <a:solidFill>
                      <a:srgbClr val="FFFFFF"/>
                    </a:solidFill>
                  </a:tcPr>
                </a:tc>
                <a:extLst>
                  <a:ext uri="{0D108BD9-81ED-4DB2-BD59-A6C34878D82A}">
                    <a16:rowId xmlns:a16="http://schemas.microsoft.com/office/drawing/2014/main" val="10001"/>
                  </a:ext>
                </a:extLst>
              </a:tr>
              <a:tr h="615315">
                <a:tc>
                  <a:txBody>
                    <a:bodyPr/>
                    <a:lstStyle/>
                    <a:p>
                      <a:pPr algn="l"/>
                      <a:r>
                        <a:rPr sz="1800" b="0">
                          <a:solidFill>
                            <a:srgbClr val="172E40"/>
                          </a:solidFill>
                          <a:latin typeface="Arial"/>
                          <a:ea typeface="Arial"/>
                          <a:cs typeface="Arial"/>
                        </a:rPr>
                        <a:t>Feature extraction</a:t>
                      </a:r>
                    </a:p>
                  </a:txBody>
                  <a:tcPr anchor="ctr">
                    <a:solidFill>
                      <a:srgbClr val="F4F7FA"/>
                    </a:solidFill>
                  </a:tcPr>
                </a:tc>
                <a:tc>
                  <a:txBody>
                    <a:bodyPr/>
                    <a:lstStyle/>
                    <a:p>
                      <a:pPr algn="ctr"/>
                      <a:r>
                        <a:rPr sz="1800" b="0">
                          <a:solidFill>
                            <a:srgbClr val="172E40"/>
                          </a:solidFill>
                          <a:latin typeface="Arial"/>
                          <a:ea typeface="Arial"/>
                          <a:cs typeface="Arial"/>
                        </a:rPr>
                        <a:t>Conv 16, 3 × 3, ReLU, batch norm, max pooling</a:t>
                      </a:r>
                    </a:p>
                  </a:txBody>
                  <a:tcPr anchor="ctr">
                    <a:solidFill>
                      <a:srgbClr val="F4F7FA"/>
                    </a:solidFill>
                  </a:tcPr>
                </a:tc>
                <a:extLst>
                  <a:ext uri="{0D108BD9-81ED-4DB2-BD59-A6C34878D82A}">
                    <a16:rowId xmlns:a16="http://schemas.microsoft.com/office/drawing/2014/main" val="10002"/>
                  </a:ext>
                </a:extLst>
              </a:tr>
              <a:tr h="615315">
                <a:tc>
                  <a:txBody>
                    <a:bodyPr/>
                    <a:lstStyle/>
                    <a:p>
                      <a:pPr algn="l"/>
                      <a:r>
                        <a:rPr sz="1800" b="0">
                          <a:solidFill>
                            <a:srgbClr val="172E40"/>
                          </a:solidFill>
                          <a:latin typeface="Arial"/>
                          <a:ea typeface="Arial"/>
                          <a:cs typeface="Arial"/>
                        </a:rPr>
                        <a:t>Feature extraction</a:t>
                      </a:r>
                    </a:p>
                  </a:txBody>
                  <a:tcPr anchor="ctr">
                    <a:solidFill>
                      <a:srgbClr val="FFFFFF"/>
                    </a:solidFill>
                  </a:tcPr>
                </a:tc>
                <a:tc>
                  <a:txBody>
                    <a:bodyPr/>
                    <a:lstStyle/>
                    <a:p>
                      <a:pPr algn="ctr"/>
                      <a:r>
                        <a:rPr sz="1800" b="0">
                          <a:solidFill>
                            <a:srgbClr val="172E40"/>
                          </a:solidFill>
                          <a:latin typeface="Arial"/>
                          <a:ea typeface="Arial"/>
                          <a:cs typeface="Arial"/>
                        </a:rPr>
                        <a:t>Conv 32, 3 × 3, ReLU, batch norm, max pooling</a:t>
                      </a:r>
                    </a:p>
                  </a:txBody>
                  <a:tcPr anchor="ctr">
                    <a:solidFill>
                      <a:srgbClr val="FFFFFF"/>
                    </a:solidFill>
                  </a:tcPr>
                </a:tc>
                <a:extLst>
                  <a:ext uri="{0D108BD9-81ED-4DB2-BD59-A6C34878D82A}">
                    <a16:rowId xmlns:a16="http://schemas.microsoft.com/office/drawing/2014/main" val="10003"/>
                  </a:ext>
                </a:extLst>
              </a:tr>
              <a:tr h="615315">
                <a:tc>
                  <a:txBody>
                    <a:bodyPr/>
                    <a:lstStyle/>
                    <a:p>
                      <a:pPr algn="l"/>
                      <a:r>
                        <a:rPr sz="1800" b="0">
                          <a:solidFill>
                            <a:srgbClr val="172E40"/>
                          </a:solidFill>
                          <a:latin typeface="Arial"/>
                          <a:ea typeface="Arial"/>
                          <a:cs typeface="Arial"/>
                        </a:rPr>
                        <a:t>Classifier</a:t>
                      </a:r>
                    </a:p>
                  </a:txBody>
                  <a:tcPr anchor="ctr">
                    <a:solidFill>
                      <a:srgbClr val="F4F7FA"/>
                    </a:solidFill>
                  </a:tcPr>
                </a:tc>
                <a:tc>
                  <a:txBody>
                    <a:bodyPr/>
                    <a:lstStyle/>
                    <a:p>
                      <a:pPr algn="ctr"/>
                      <a:r>
                        <a:rPr sz="1800" b="0">
                          <a:solidFill>
                            <a:srgbClr val="172E40"/>
                          </a:solidFill>
                          <a:latin typeface="Arial"/>
                          <a:ea typeface="Arial"/>
                          <a:cs typeface="Arial"/>
                        </a:rPr>
                        <a:t>Flatten, dropout 0.30, dense 64, sigmoid output</a:t>
                      </a:r>
                    </a:p>
                  </a:txBody>
                  <a:tcPr anchor="ctr">
                    <a:solidFill>
                      <a:srgbClr val="F4F7FA"/>
                    </a:solidFill>
                  </a:tcPr>
                </a:tc>
                <a:extLst>
                  <a:ext uri="{0D108BD9-81ED-4DB2-BD59-A6C34878D82A}">
                    <a16:rowId xmlns:a16="http://schemas.microsoft.com/office/drawing/2014/main" val="10004"/>
                  </a:ext>
                </a:extLst>
              </a:tr>
            </a:tbl>
          </a:graphicData>
        </a:graphic>
      </p:graphicFrame>
      <p:sp>
        <p:nvSpPr>
          <p:cNvPr id="5" name="Training">
            <a:extLst>
              <a:ext uri="{FF2B5EF4-FFF2-40B4-BE49-F238E27FC236}">
                <a16:creationId xmlns:a16="http://schemas.microsoft.com/office/drawing/2014/main" id="{1ED49478-9975-465C-9445-2CB9FD5F4B2E}"/>
              </a:ext>
            </a:extLst>
          </p:cNvPr>
          <p:cNvSpPr>
            <a:spLocks noGrp="1"/>
          </p:cNvSpPr>
          <p:nvPr/>
        </p:nvSpPr>
        <p:spPr>
          <a:xfrm>
            <a:off x="628650" y="5000625"/>
            <a:ext cx="2238375" cy="342900"/>
          </a:xfrm>
          <a:prstGeom prst="rect">
            <a:avLst/>
          </a:prstGeom>
          <a:noFill/>
          <a:ln w="0">
            <a:noFill/>
          </a:ln>
        </p:spPr>
        <p:txBody>
          <a:bodyPr wrap="square" lIns="0" tIns="0" rIns="0" bIns="0" anchor="t">
            <a:noAutofit/>
          </a:bodyPr>
          <a:lstStyle/>
          <a:p>
            <a:pPr algn="l">
              <a:defRPr sz="2025" b="1">
                <a:solidFill>
                  <a:srgbClr val="087E82"/>
                </a:solidFill>
                <a:latin typeface="Arial"/>
                <a:ea typeface="Arial"/>
                <a:cs typeface="Arial"/>
              </a:defRPr>
            </a:pPr>
            <a:r>
              <a:rPr sz="2025" b="1">
                <a:solidFill>
                  <a:srgbClr val="087E82"/>
                </a:solidFill>
                <a:latin typeface="Arial"/>
                <a:ea typeface="Arial"/>
                <a:cs typeface="Arial"/>
              </a:rPr>
              <a:t>Training</a:t>
            </a:r>
          </a:p>
        </p:txBody>
      </p:sp>
      <p:sp>
        <p:nvSpPr>
          <p:cNvPr id="6" name="Adam optimizer, binary cross-entropy, batch size 32, 10 epochs.&#10;C">
            <a:extLst>
              <a:ext uri="{FF2B5EF4-FFF2-40B4-BE49-F238E27FC236}">
                <a16:creationId xmlns:a16="http://schemas.microsoft.com/office/drawing/2014/main" id="{F2B4B353-F41B-4671-B262-90B0736D103A}"/>
              </a:ext>
            </a:extLst>
          </p:cNvPr>
          <p:cNvSpPr>
            <a:spLocks noGrp="1"/>
          </p:cNvSpPr>
          <p:nvPr/>
        </p:nvSpPr>
        <p:spPr>
          <a:xfrm>
            <a:off x="3124200" y="4933950"/>
            <a:ext cx="8305800" cy="752475"/>
          </a:xfrm>
          <a:prstGeom prst="rect">
            <a:avLst/>
          </a:prstGeom>
          <a:noFill/>
          <a:ln w="0">
            <a:noFill/>
          </a:ln>
        </p:spPr>
        <p:txBody>
          <a:bodyPr wrap="square" lIns="0" tIns="0" rIns="0" bIns="0" anchor="t">
            <a:noAutofit/>
          </a:bodyPr>
          <a:lstStyle/>
          <a:p>
            <a:pPr algn="l">
              <a:defRPr sz="1950" b="0">
                <a:solidFill>
                  <a:srgbClr val="172E40"/>
                </a:solidFill>
                <a:latin typeface="Arial"/>
                <a:ea typeface="Arial"/>
                <a:cs typeface="Arial"/>
              </a:defRPr>
            </a:pPr>
            <a:r>
              <a:rPr sz="1950" b="0">
                <a:solidFill>
                  <a:srgbClr val="172E40"/>
                </a:solidFill>
                <a:latin typeface="Arial"/>
                <a:ea typeface="Arial"/>
                <a:cs typeface="Arial"/>
              </a:rPr>
              <a:t>Adam optimizer, binary cross-entropy, batch size 32, 10 epochs.</a:t>
            </a:r>
          </a:p>
          <a:p>
            <a:pPr algn="l">
              <a:defRPr sz="1950" b="0">
                <a:solidFill>
                  <a:srgbClr val="172E40"/>
                </a:solidFill>
                <a:latin typeface="Arial"/>
                <a:ea typeface="Arial"/>
                <a:cs typeface="Arial"/>
              </a:defRPr>
            </a:pPr>
            <a:r>
              <a:rPr sz="1950" b="0">
                <a:solidFill>
                  <a:srgbClr val="172E40"/>
                </a:solidFill>
                <a:latin typeface="Arial"/>
                <a:ea typeface="Arial"/>
                <a:cs typeface="Arial"/>
              </a:rPr>
              <a:t>Class weights compensate for unequal training class frequencies.</a:t>
            </a:r>
          </a:p>
        </p:txBody>
      </p:sp>
      <p:sp>
        <p:nvSpPr>
          <p:cNvPr id="7" name="Scores are oriented so that a larger value consistently indicates">
            <a:extLst>
              <a:ext uri="{FF2B5EF4-FFF2-40B4-BE49-F238E27FC236}">
                <a16:creationId xmlns:a16="http://schemas.microsoft.com/office/drawing/2014/main" id="{CF8F8B15-B6F9-4E64-979D-7D87FBDB80B1}"/>
              </a:ext>
            </a:extLst>
          </p:cNvPr>
          <p:cNvSpPr>
            <a:spLocks noGrp="1"/>
          </p:cNvSpPr>
          <p:nvPr/>
        </p:nvSpPr>
        <p:spPr>
          <a:xfrm>
            <a:off x="628650" y="5972175"/>
            <a:ext cx="10934700" cy="409575"/>
          </a:xfrm>
          <a:prstGeom prst="rect">
            <a:avLst/>
          </a:prstGeom>
          <a:noFill/>
          <a:ln w="0">
            <a:noFill/>
          </a:ln>
        </p:spPr>
        <p:txBody>
          <a:bodyPr wrap="square" lIns="0" tIns="0" rIns="0" bIns="0" anchor="t">
            <a:noAutofit/>
          </a:bodyPr>
          <a:lstStyle/>
          <a:p>
            <a:pPr algn="l">
              <a:defRPr sz="1350" b="0">
                <a:solidFill>
                  <a:srgbClr val="526577"/>
                </a:solidFill>
                <a:latin typeface="Arial"/>
                <a:ea typeface="Arial"/>
                <a:cs typeface="Arial"/>
              </a:defRPr>
            </a:pPr>
            <a:r>
              <a:rPr sz="1350" b="0">
                <a:solidFill>
                  <a:srgbClr val="526577"/>
                </a:solidFill>
                <a:latin typeface="Arial"/>
                <a:ea typeface="Arial"/>
                <a:cs typeface="Arial"/>
              </a:rPr>
              <a:t>Scores are oriented so that a larger value consistently indicates greater hotspot confidence.</a:t>
            </a:r>
          </a:p>
        </p:txBody>
      </p:sp>
    </p:spTree>
    <p:extLst>
      <p:ext uri="{BB962C8B-B14F-4D97-AF65-F5344CB8AC3E}">
        <p14:creationId xmlns:p14="http://schemas.microsoft.com/office/powerpoint/2010/main" val="7612068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Confidence-based screening and referral">
            <a:extLst>
              <a:ext uri="{FF2B5EF4-FFF2-40B4-BE49-F238E27FC236}">
                <a16:creationId xmlns:a16="http://schemas.microsoft.com/office/drawing/2014/main" id="{1225C611-DBFE-4029-8D2C-5151F337E805}"/>
              </a:ext>
            </a:extLst>
          </p:cNvPr>
          <p:cNvSpPr>
            <a:spLocks noGrp="1"/>
          </p:cNvSpPr>
          <p:nvPr/>
        </p:nvSpPr>
        <p:spPr>
          <a:xfrm>
            <a:off x="609600" y="428625"/>
            <a:ext cx="10972800" cy="609600"/>
          </a:xfrm>
          <a:prstGeom prst="rect">
            <a:avLst/>
          </a:prstGeom>
          <a:noFill/>
          <a:ln w="0">
            <a:noFill/>
          </a:ln>
        </p:spPr>
        <p:txBody>
          <a:bodyPr wrap="square" lIns="0" tIns="0" rIns="0" bIns="0" anchor="t">
            <a:noAutofit/>
          </a:bodyPr>
          <a:lstStyle/>
          <a:p>
            <a:pPr algn="l">
              <a:defRPr sz="3225" b="1">
                <a:solidFill>
                  <a:srgbClr val="152B3C"/>
                </a:solidFill>
                <a:latin typeface="Arial"/>
                <a:ea typeface="Arial"/>
                <a:cs typeface="Arial"/>
              </a:defRPr>
            </a:pPr>
            <a:r>
              <a:rPr sz="3225" b="1">
                <a:solidFill>
                  <a:srgbClr val="152B3C"/>
                </a:solidFill>
                <a:latin typeface="Arial"/>
                <a:ea typeface="Arial"/>
                <a:cs typeface="Arial"/>
              </a:rPr>
              <a:t>Confidence-based screening and referral</a:t>
            </a:r>
          </a:p>
        </p:txBody>
      </p:sp>
      <p:sp>
        <p:nvSpPr>
          <p:cNvPr id="2" name="Featured threshold pair: lower bound 0.20 and upper bound 0.80">
            <a:extLst>
              <a:ext uri="{FF2B5EF4-FFF2-40B4-BE49-F238E27FC236}">
                <a16:creationId xmlns:a16="http://schemas.microsoft.com/office/drawing/2014/main" id="{DD93822C-633A-44B5-AA0F-68BA573C0274}"/>
              </a:ext>
            </a:extLst>
          </p:cNvPr>
          <p:cNvSpPr>
            <a:spLocks noGrp="1"/>
          </p:cNvSpPr>
          <p:nvPr/>
        </p:nvSpPr>
        <p:spPr>
          <a:xfrm>
            <a:off x="628650" y="1152525"/>
            <a:ext cx="10934700" cy="476250"/>
          </a:xfrm>
          <a:prstGeom prst="rect">
            <a:avLst/>
          </a:prstGeom>
          <a:noFill/>
          <a:ln w="0">
            <a:noFill/>
          </a:ln>
        </p:spPr>
        <p:txBody>
          <a:bodyPr wrap="square" lIns="0" tIns="0" rIns="0" bIns="0" anchor="t">
            <a:noAutofit/>
          </a:bodyPr>
          <a:lstStyle/>
          <a:p>
            <a:pPr algn="l">
              <a:defRPr sz="1800" b="0">
                <a:solidFill>
                  <a:srgbClr val="526577"/>
                </a:solidFill>
                <a:latin typeface="Arial"/>
                <a:ea typeface="Arial"/>
                <a:cs typeface="Arial"/>
              </a:defRPr>
            </a:pPr>
            <a:r>
              <a:rPr sz="1800" b="0">
                <a:solidFill>
                  <a:srgbClr val="526577"/>
                </a:solidFill>
                <a:latin typeface="Arial"/>
                <a:ea typeface="Arial"/>
                <a:cs typeface="Arial"/>
              </a:rPr>
              <a:t>Featured threshold pair: lower bound 0.20 and upper bound 0.80</a:t>
            </a:r>
          </a:p>
        </p:txBody>
      </p:sp>
      <p:sp>
        <p:nvSpPr>
          <p:cNvPr id="3" name="G19">
            <a:extLst>
              <a:ext uri="{FF2B5EF4-FFF2-40B4-BE49-F238E27FC236}">
                <a16:creationId xmlns:a16="http://schemas.microsoft.com/office/drawing/2014/main" id="{3B5DB58A-C99E-468C-9D71-4B875579E27F}"/>
              </a:ext>
            </a:extLst>
          </p:cNvPr>
          <p:cNvSpPr>
            <a:spLocks noGrp="1"/>
          </p:cNvSpPr>
          <p:nvPr/>
        </p:nvSpPr>
        <p:spPr>
          <a:xfrm>
            <a:off x="609600" y="6467475"/>
            <a:ext cx="952500" cy="219075"/>
          </a:xfrm>
          <a:prstGeom prst="rect">
            <a:avLst/>
          </a:prstGeom>
          <a:noFill/>
          <a:ln w="0">
            <a:noFill/>
          </a:ln>
        </p:spPr>
        <p:txBody>
          <a:bodyPr wrap="square" lIns="0" tIns="0" rIns="0" bIns="0" anchor="t">
            <a:noAutofit/>
          </a:bodyPr>
          <a:lstStyle/>
          <a:p>
            <a:pPr algn="l">
              <a:defRPr sz="1200" b="0">
                <a:solidFill>
                  <a:srgbClr val="526577"/>
                </a:solidFill>
                <a:latin typeface="Arial"/>
                <a:ea typeface="Arial"/>
                <a:cs typeface="Arial"/>
              </a:defRPr>
            </a:pPr>
            <a:r>
              <a:rPr sz="1200" b="0">
                <a:solidFill>
                  <a:srgbClr val="526577"/>
                </a:solidFill>
                <a:latin typeface="Arial"/>
                <a:ea typeface="Arial"/>
                <a:cs typeface="Arial"/>
              </a:rPr>
              <a:t>G19</a:t>
            </a:r>
          </a:p>
        </p:txBody>
      </p:sp>
      <p:sp>
        <p:nvSpPr>
          <p:cNvPr id="4" name="07">
            <a:extLst>
              <a:ext uri="{FF2B5EF4-FFF2-40B4-BE49-F238E27FC236}">
                <a16:creationId xmlns:a16="http://schemas.microsoft.com/office/drawing/2014/main" id="{76476D37-4858-4116-B54D-18B2F7CC4066}"/>
              </a:ext>
            </a:extLst>
          </p:cNvPr>
          <p:cNvSpPr>
            <a:spLocks noGrp="1"/>
          </p:cNvSpPr>
          <p:nvPr/>
        </p:nvSpPr>
        <p:spPr>
          <a:xfrm>
            <a:off x="10991850" y="6467475"/>
            <a:ext cx="571500" cy="219075"/>
          </a:xfrm>
          <a:prstGeom prst="rect">
            <a:avLst/>
          </a:prstGeom>
          <a:noFill/>
          <a:ln w="0">
            <a:noFill/>
          </a:ln>
        </p:spPr>
        <p:txBody>
          <a:bodyPr wrap="square" lIns="0" tIns="0" rIns="0" bIns="0" anchor="t">
            <a:noAutofit/>
          </a:bodyPr>
          <a:lstStyle/>
          <a:p>
            <a:pPr algn="r">
              <a:defRPr sz="1200" b="0">
                <a:solidFill>
                  <a:srgbClr val="526577"/>
                </a:solidFill>
                <a:latin typeface="Arial"/>
                <a:ea typeface="Arial"/>
                <a:cs typeface="Arial"/>
              </a:defRPr>
            </a:pPr>
            <a:r>
              <a:rPr sz="1200" b="0">
                <a:solidFill>
                  <a:srgbClr val="526577"/>
                </a:solidFill>
                <a:latin typeface="Arial"/>
                <a:ea typeface="Arial"/>
                <a:cs typeface="Arial"/>
              </a:rPr>
              <a:t>07</a:t>
            </a:r>
          </a:p>
        </p:txBody>
      </p:sp>
      <p:graphicFrame>
        <p:nvGraphicFramePr>
          <p:cNvPr id="12" name="Table 11"/>
          <p:cNvGraphicFramePr/>
          <p:nvPr/>
        </p:nvGraphicFramePr>
        <p:xfrm>
          <a:off x="628650" y="1962150"/>
          <a:ext cx="10934700" cy="2676524"/>
        </p:xfrm>
        <a:graphic>
          <a:graphicData uri="http://schemas.openxmlformats.org/drawingml/2006/table">
            <a:tbl>
              <a:tblPr/>
              <a:tblGrid>
                <a:gridCol w="2838450">
                  <a:extLst>
                    <a:ext uri="{9D8B030D-6E8A-4147-A177-3AD203B41FA5}">
                      <a16:colId xmlns:a16="http://schemas.microsoft.com/office/drawing/2014/main" val="20000"/>
                    </a:ext>
                  </a:extLst>
                </a:gridCol>
                <a:gridCol w="2714625">
                  <a:extLst>
                    <a:ext uri="{9D8B030D-6E8A-4147-A177-3AD203B41FA5}">
                      <a16:colId xmlns:a16="http://schemas.microsoft.com/office/drawing/2014/main" val="20001"/>
                    </a:ext>
                  </a:extLst>
                </a:gridCol>
                <a:gridCol w="5381625">
                  <a:extLst>
                    <a:ext uri="{9D8B030D-6E8A-4147-A177-3AD203B41FA5}">
                      <a16:colId xmlns:a16="http://schemas.microsoft.com/office/drawing/2014/main" val="20002"/>
                    </a:ext>
                  </a:extLst>
                </a:gridCol>
              </a:tblGrid>
              <a:tr h="669131">
                <a:tc>
                  <a:txBody>
                    <a:bodyPr/>
                    <a:lstStyle/>
                    <a:p>
                      <a:pPr algn="l"/>
                      <a:r>
                        <a:rPr sz="1875" b="1">
                          <a:solidFill>
                            <a:srgbClr val="FFFFFF"/>
                          </a:solidFill>
                          <a:latin typeface="Arial"/>
                          <a:ea typeface="Arial"/>
                          <a:cs typeface="Arial"/>
                        </a:rPr>
                        <a:t>Hotspot score C</a:t>
                      </a:r>
                    </a:p>
                  </a:txBody>
                  <a:tcPr anchor="ctr">
                    <a:solidFill>
                      <a:srgbClr val="152B3C"/>
                    </a:solidFill>
                  </a:tcPr>
                </a:tc>
                <a:tc>
                  <a:txBody>
                    <a:bodyPr/>
                    <a:lstStyle/>
                    <a:p>
                      <a:pPr algn="ctr"/>
                      <a:r>
                        <a:rPr sz="1875" b="1">
                          <a:solidFill>
                            <a:srgbClr val="FFFFFF"/>
                          </a:solidFill>
                          <a:latin typeface="Arial"/>
                          <a:ea typeface="Arial"/>
                          <a:cs typeface="Arial"/>
                        </a:rPr>
                        <a:t>Code label</a:t>
                      </a:r>
                    </a:p>
                  </a:txBody>
                  <a:tcPr anchor="ctr">
                    <a:solidFill>
                      <a:srgbClr val="152B3C"/>
                    </a:solidFill>
                  </a:tcPr>
                </a:tc>
                <a:tc>
                  <a:txBody>
                    <a:bodyPr/>
                    <a:lstStyle/>
                    <a:p>
                      <a:pPr algn="ctr"/>
                      <a:r>
                        <a:rPr sz="1875" b="1">
                          <a:solidFill>
                            <a:srgbClr val="FFFFFF"/>
                          </a:solidFill>
                          <a:latin typeface="Arial"/>
                          <a:ea typeface="Arial"/>
                          <a:cs typeface="Arial"/>
                        </a:rPr>
                        <a:t>Decision</a:t>
                      </a:r>
                    </a:p>
                  </a:txBody>
                  <a:tcPr anchor="ctr">
                    <a:solidFill>
                      <a:srgbClr val="152B3C"/>
                    </a:solidFill>
                  </a:tcPr>
                </a:tc>
                <a:extLst>
                  <a:ext uri="{0D108BD9-81ED-4DB2-BD59-A6C34878D82A}">
                    <a16:rowId xmlns:a16="http://schemas.microsoft.com/office/drawing/2014/main" val="10000"/>
                  </a:ext>
                </a:extLst>
              </a:tr>
              <a:tr h="669131">
                <a:tc>
                  <a:txBody>
                    <a:bodyPr/>
                    <a:lstStyle/>
                    <a:p>
                      <a:pPr algn="l"/>
                      <a:r>
                        <a:rPr sz="1875" b="0">
                          <a:solidFill>
                            <a:srgbClr val="172E40"/>
                          </a:solidFill>
                          <a:latin typeface="Arial"/>
                          <a:ea typeface="Arial"/>
                          <a:cs typeface="Arial"/>
                        </a:rPr>
                        <a:t>C ≤ 0.20</a:t>
                      </a:r>
                    </a:p>
                  </a:txBody>
                  <a:tcPr anchor="ctr">
                    <a:solidFill>
                      <a:srgbClr val="FFFFFF"/>
                    </a:solidFill>
                  </a:tcPr>
                </a:tc>
                <a:tc>
                  <a:txBody>
                    <a:bodyPr/>
                    <a:lstStyle/>
                    <a:p>
                      <a:pPr algn="ctr"/>
                      <a:r>
                        <a:rPr sz="1875" b="0">
                          <a:solidFill>
                            <a:srgbClr val="172E40"/>
                          </a:solidFill>
                          <a:latin typeface="Arial"/>
                          <a:ea typeface="Arial"/>
                          <a:cs typeface="Arial"/>
                        </a:rPr>
                        <a:t>safe</a:t>
                      </a:r>
                    </a:p>
                  </a:txBody>
                  <a:tcPr anchor="ctr">
                    <a:solidFill>
                      <a:srgbClr val="FFFFFF"/>
                    </a:solidFill>
                  </a:tcPr>
                </a:tc>
                <a:tc>
                  <a:txBody>
                    <a:bodyPr/>
                    <a:lstStyle/>
                    <a:p>
                      <a:pPr algn="ctr"/>
                      <a:r>
                        <a:rPr sz="1875" b="0">
                          <a:solidFill>
                            <a:srgbClr val="172E40"/>
                          </a:solidFill>
                          <a:latin typeface="Arial"/>
                          <a:ea typeface="Arial"/>
                          <a:cs typeface="Arial"/>
                        </a:rPr>
                        <a:t>Screen out as likely non-hotspot</a:t>
                      </a:r>
                    </a:p>
                  </a:txBody>
                  <a:tcPr anchor="ctr">
                    <a:solidFill>
                      <a:srgbClr val="FFFFFF"/>
                    </a:solidFill>
                  </a:tcPr>
                </a:tc>
                <a:extLst>
                  <a:ext uri="{0D108BD9-81ED-4DB2-BD59-A6C34878D82A}">
                    <a16:rowId xmlns:a16="http://schemas.microsoft.com/office/drawing/2014/main" val="10001"/>
                  </a:ext>
                </a:extLst>
              </a:tr>
              <a:tr h="669131">
                <a:tc>
                  <a:txBody>
                    <a:bodyPr/>
                    <a:lstStyle/>
                    <a:p>
                      <a:pPr algn="l"/>
                      <a:r>
                        <a:rPr sz="1875" b="0">
                          <a:solidFill>
                            <a:srgbClr val="172E40"/>
                          </a:solidFill>
                          <a:latin typeface="Arial"/>
                          <a:ea typeface="Arial"/>
                          <a:cs typeface="Arial"/>
                        </a:rPr>
                        <a:t>0.20 &lt; C &lt; 0.80</a:t>
                      </a:r>
                    </a:p>
                  </a:txBody>
                  <a:tcPr anchor="ctr">
                    <a:solidFill>
                      <a:srgbClr val="F4F7FA"/>
                    </a:solidFill>
                  </a:tcPr>
                </a:tc>
                <a:tc>
                  <a:txBody>
                    <a:bodyPr/>
                    <a:lstStyle/>
                    <a:p>
                      <a:pPr algn="ctr"/>
                      <a:r>
                        <a:rPr sz="1875" b="0">
                          <a:solidFill>
                            <a:srgbClr val="172E40"/>
                          </a:solidFill>
                          <a:latin typeface="Arial"/>
                          <a:ea typeface="Arial"/>
                          <a:cs typeface="Arial"/>
                        </a:rPr>
                        <a:t>needs_check</a:t>
                      </a:r>
                    </a:p>
                  </a:txBody>
                  <a:tcPr anchor="ctr">
                    <a:solidFill>
                      <a:srgbClr val="F4F7FA"/>
                    </a:solidFill>
                  </a:tcPr>
                </a:tc>
                <a:tc>
                  <a:txBody>
                    <a:bodyPr/>
                    <a:lstStyle/>
                    <a:p>
                      <a:pPr algn="ctr"/>
                      <a:r>
                        <a:rPr sz="1875" b="0">
                          <a:solidFill>
                            <a:srgbClr val="172E40"/>
                          </a:solidFill>
                          <a:latin typeface="Arial"/>
                          <a:ea typeface="Arial"/>
                          <a:cs typeface="Arial"/>
                        </a:rPr>
                        <a:t>Refer for detailed verification</a:t>
                      </a:r>
                    </a:p>
                  </a:txBody>
                  <a:tcPr anchor="ctr">
                    <a:solidFill>
                      <a:srgbClr val="F4F7FA"/>
                    </a:solidFill>
                  </a:tcPr>
                </a:tc>
                <a:extLst>
                  <a:ext uri="{0D108BD9-81ED-4DB2-BD59-A6C34878D82A}">
                    <a16:rowId xmlns:a16="http://schemas.microsoft.com/office/drawing/2014/main" val="10002"/>
                  </a:ext>
                </a:extLst>
              </a:tr>
              <a:tr h="669131">
                <a:tc>
                  <a:txBody>
                    <a:bodyPr/>
                    <a:lstStyle/>
                    <a:p>
                      <a:pPr algn="l"/>
                      <a:r>
                        <a:rPr sz="1875" b="0">
                          <a:solidFill>
                            <a:srgbClr val="172E40"/>
                          </a:solidFill>
                          <a:latin typeface="Arial"/>
                          <a:ea typeface="Arial"/>
                          <a:cs typeface="Arial"/>
                        </a:rPr>
                        <a:t>C ≥ 0.80</a:t>
                      </a:r>
                    </a:p>
                  </a:txBody>
                  <a:tcPr anchor="ctr">
                    <a:solidFill>
                      <a:srgbClr val="FFFFFF"/>
                    </a:solidFill>
                  </a:tcPr>
                </a:tc>
                <a:tc>
                  <a:txBody>
                    <a:bodyPr/>
                    <a:lstStyle/>
                    <a:p>
                      <a:pPr algn="ctr"/>
                      <a:r>
                        <a:rPr sz="1875" b="0">
                          <a:solidFill>
                            <a:srgbClr val="172E40"/>
                          </a:solidFill>
                          <a:latin typeface="Arial"/>
                          <a:ea typeface="Arial"/>
                          <a:cs typeface="Arial"/>
                        </a:rPr>
                        <a:t>risky</a:t>
                      </a:r>
                    </a:p>
                  </a:txBody>
                  <a:tcPr anchor="ctr">
                    <a:solidFill>
                      <a:srgbClr val="FFFFFF"/>
                    </a:solidFill>
                  </a:tcPr>
                </a:tc>
                <a:tc>
                  <a:txBody>
                    <a:bodyPr/>
                    <a:lstStyle/>
                    <a:p>
                      <a:pPr algn="ctr"/>
                      <a:r>
                        <a:rPr sz="1875" b="0">
                          <a:solidFill>
                            <a:srgbClr val="172E40"/>
                          </a:solidFill>
                          <a:latin typeface="Arial"/>
                          <a:ea typeface="Arial"/>
                          <a:cs typeface="Arial"/>
                        </a:rPr>
                        <a:t>Flag as likely hotspot</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6" name="A wider uncertainty interval produces more referrals">
            <a:extLst>
              <a:ext uri="{FF2B5EF4-FFF2-40B4-BE49-F238E27FC236}">
                <a16:creationId xmlns:a16="http://schemas.microsoft.com/office/drawing/2014/main" id="{723CE4AE-780E-4D3D-B272-D5249754E0C7}"/>
              </a:ext>
            </a:extLst>
          </p:cNvPr>
          <p:cNvSpPr>
            <a:spLocks noGrp="1"/>
          </p:cNvSpPr>
          <p:nvPr/>
        </p:nvSpPr>
        <p:spPr>
          <a:xfrm>
            <a:off x="628650" y="5067300"/>
            <a:ext cx="10763250" cy="438150"/>
          </a:xfrm>
          <a:prstGeom prst="rect">
            <a:avLst/>
          </a:prstGeom>
          <a:noFill/>
          <a:ln w="0">
            <a:noFill/>
          </a:ln>
        </p:spPr>
        <p:txBody>
          <a:bodyPr wrap="square" lIns="0" tIns="0" rIns="0" bIns="0" anchor="t">
            <a:noAutofit/>
          </a:bodyPr>
          <a:lstStyle/>
          <a:p>
            <a:pPr algn="l">
              <a:defRPr sz="2325" b="1">
                <a:solidFill>
                  <a:srgbClr val="087E82"/>
                </a:solidFill>
                <a:latin typeface="Arial"/>
                <a:ea typeface="Arial"/>
                <a:cs typeface="Arial"/>
              </a:defRPr>
            </a:pPr>
            <a:r>
              <a:rPr sz="2325" b="1">
                <a:solidFill>
                  <a:srgbClr val="087E82"/>
                </a:solidFill>
                <a:latin typeface="Arial"/>
                <a:ea typeface="Arial"/>
                <a:cs typeface="Arial"/>
              </a:rPr>
              <a:t>A wider uncertainty interval produces more referrals</a:t>
            </a:r>
          </a:p>
        </p:txBody>
      </p:sp>
      <p:sp>
        <p:nvSpPr>
          <p:cNvPr id="7" name="Thresholds 0.10/0.90 refer more cases than 0.30/0.70.">
            <a:extLst>
              <a:ext uri="{FF2B5EF4-FFF2-40B4-BE49-F238E27FC236}">
                <a16:creationId xmlns:a16="http://schemas.microsoft.com/office/drawing/2014/main" id="{5B0FC9F9-FA17-4A61-86D2-067F9341B44E}"/>
              </a:ext>
            </a:extLst>
          </p:cNvPr>
          <p:cNvSpPr>
            <a:spLocks noGrp="1"/>
          </p:cNvSpPr>
          <p:nvPr/>
        </p:nvSpPr>
        <p:spPr>
          <a:xfrm>
            <a:off x="628650" y="5591175"/>
            <a:ext cx="10934700" cy="390525"/>
          </a:xfrm>
          <a:prstGeom prst="rect">
            <a:avLst/>
          </a:prstGeom>
          <a:noFill/>
          <a:ln w="0">
            <a:noFill/>
          </a:ln>
        </p:spPr>
        <p:txBody>
          <a:bodyPr wrap="square" lIns="0" tIns="0" rIns="0" bIns="0" anchor="t">
            <a:noAutofit/>
          </a:bodyPr>
          <a:lstStyle/>
          <a:p>
            <a:pPr algn="l">
              <a:defRPr sz="2025" b="0">
                <a:solidFill>
                  <a:srgbClr val="172E40"/>
                </a:solidFill>
                <a:latin typeface="Arial"/>
                <a:ea typeface="Arial"/>
                <a:cs typeface="Arial"/>
              </a:defRPr>
            </a:pPr>
            <a:r>
              <a:rPr sz="2025" b="0">
                <a:solidFill>
                  <a:srgbClr val="172E40"/>
                </a:solidFill>
                <a:latin typeface="Arial"/>
                <a:ea typeface="Arial"/>
                <a:cs typeface="Arial"/>
              </a:rPr>
              <a:t>Thresholds 0.10/0.90 refer more cases than 0.30/0.70.</a:t>
            </a:r>
          </a:p>
        </p:txBody>
      </p:sp>
    </p:spTree>
    <p:extLst>
      <p:ext uri="{BB962C8B-B14F-4D97-AF65-F5344CB8AC3E}">
        <p14:creationId xmlns:p14="http://schemas.microsoft.com/office/powerpoint/2010/main" val="8014675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Baseline performance at the 0.50 cutoff">
            <a:extLst>
              <a:ext uri="{FF2B5EF4-FFF2-40B4-BE49-F238E27FC236}">
                <a16:creationId xmlns:a16="http://schemas.microsoft.com/office/drawing/2014/main" id="{315EC89A-DE27-44CD-AF42-41EF764BB7FB}"/>
              </a:ext>
            </a:extLst>
          </p:cNvPr>
          <p:cNvSpPr>
            <a:spLocks noGrp="1"/>
          </p:cNvSpPr>
          <p:nvPr/>
        </p:nvSpPr>
        <p:spPr>
          <a:xfrm>
            <a:off x="609600" y="428625"/>
            <a:ext cx="10972800" cy="609600"/>
          </a:xfrm>
          <a:prstGeom prst="rect">
            <a:avLst/>
          </a:prstGeom>
          <a:noFill/>
          <a:ln w="0">
            <a:noFill/>
          </a:ln>
        </p:spPr>
        <p:txBody>
          <a:bodyPr wrap="square" lIns="0" tIns="0" rIns="0" bIns="0" anchor="t">
            <a:noAutofit/>
          </a:bodyPr>
          <a:lstStyle/>
          <a:p>
            <a:pPr algn="l">
              <a:defRPr sz="3225" b="1">
                <a:solidFill>
                  <a:srgbClr val="152B3C"/>
                </a:solidFill>
                <a:latin typeface="Arial"/>
                <a:ea typeface="Arial"/>
                <a:cs typeface="Arial"/>
              </a:defRPr>
            </a:pPr>
            <a:r>
              <a:rPr sz="3225" b="1">
                <a:solidFill>
                  <a:srgbClr val="152B3C"/>
                </a:solidFill>
                <a:latin typeface="Arial"/>
                <a:ea typeface="Arial"/>
                <a:cs typeface="Arial"/>
              </a:rPr>
              <a:t>Baseline performance at the 0.50 cutoff</a:t>
            </a:r>
          </a:p>
        </p:txBody>
      </p:sp>
      <p:sp>
        <p:nvSpPr>
          <p:cNvPr id="2" name="All values are percentages. Macro average gives each benchmark eq">
            <a:extLst>
              <a:ext uri="{FF2B5EF4-FFF2-40B4-BE49-F238E27FC236}">
                <a16:creationId xmlns:a16="http://schemas.microsoft.com/office/drawing/2014/main" id="{022CFFBD-D941-45A1-82C8-685D6E53AC77}"/>
              </a:ext>
            </a:extLst>
          </p:cNvPr>
          <p:cNvSpPr>
            <a:spLocks noGrp="1"/>
          </p:cNvSpPr>
          <p:nvPr/>
        </p:nvSpPr>
        <p:spPr>
          <a:xfrm>
            <a:off x="628650" y="1152525"/>
            <a:ext cx="10934700" cy="476250"/>
          </a:xfrm>
          <a:prstGeom prst="rect">
            <a:avLst/>
          </a:prstGeom>
          <a:noFill/>
          <a:ln w="0">
            <a:noFill/>
          </a:ln>
        </p:spPr>
        <p:txBody>
          <a:bodyPr wrap="square" lIns="0" tIns="0" rIns="0" bIns="0" anchor="t">
            <a:noAutofit/>
          </a:bodyPr>
          <a:lstStyle/>
          <a:p>
            <a:pPr algn="l">
              <a:defRPr sz="1800" b="0">
                <a:solidFill>
                  <a:srgbClr val="526577"/>
                </a:solidFill>
                <a:latin typeface="Arial"/>
                <a:ea typeface="Arial"/>
                <a:cs typeface="Arial"/>
              </a:defRPr>
            </a:pPr>
            <a:r>
              <a:rPr sz="1800" b="0">
                <a:solidFill>
                  <a:srgbClr val="526577"/>
                </a:solidFill>
                <a:latin typeface="Arial"/>
                <a:ea typeface="Arial"/>
                <a:cs typeface="Arial"/>
              </a:rPr>
              <a:t>All values are percentages. Macro average gives each benchmark equal weight.</a:t>
            </a:r>
          </a:p>
        </p:txBody>
      </p:sp>
      <p:sp>
        <p:nvSpPr>
          <p:cNvPr id="3" name="G19">
            <a:extLst>
              <a:ext uri="{FF2B5EF4-FFF2-40B4-BE49-F238E27FC236}">
                <a16:creationId xmlns:a16="http://schemas.microsoft.com/office/drawing/2014/main" id="{90662818-9C28-4F38-9E33-C27FDA98C772}"/>
              </a:ext>
            </a:extLst>
          </p:cNvPr>
          <p:cNvSpPr>
            <a:spLocks noGrp="1"/>
          </p:cNvSpPr>
          <p:nvPr/>
        </p:nvSpPr>
        <p:spPr>
          <a:xfrm>
            <a:off x="609600" y="6467475"/>
            <a:ext cx="952500" cy="219075"/>
          </a:xfrm>
          <a:prstGeom prst="rect">
            <a:avLst/>
          </a:prstGeom>
          <a:noFill/>
          <a:ln w="0">
            <a:noFill/>
          </a:ln>
        </p:spPr>
        <p:txBody>
          <a:bodyPr wrap="square" lIns="0" tIns="0" rIns="0" bIns="0" anchor="t">
            <a:noAutofit/>
          </a:bodyPr>
          <a:lstStyle/>
          <a:p>
            <a:pPr algn="l">
              <a:defRPr sz="1200" b="0">
                <a:solidFill>
                  <a:srgbClr val="526577"/>
                </a:solidFill>
                <a:latin typeface="Arial"/>
                <a:ea typeface="Arial"/>
                <a:cs typeface="Arial"/>
              </a:defRPr>
            </a:pPr>
            <a:r>
              <a:rPr sz="1200" b="0">
                <a:solidFill>
                  <a:srgbClr val="526577"/>
                </a:solidFill>
                <a:latin typeface="Arial"/>
                <a:ea typeface="Arial"/>
                <a:cs typeface="Arial"/>
              </a:rPr>
              <a:t>G19</a:t>
            </a:r>
          </a:p>
        </p:txBody>
      </p:sp>
      <p:sp>
        <p:nvSpPr>
          <p:cNvPr id="4" name="08">
            <a:extLst>
              <a:ext uri="{FF2B5EF4-FFF2-40B4-BE49-F238E27FC236}">
                <a16:creationId xmlns:a16="http://schemas.microsoft.com/office/drawing/2014/main" id="{FCC7D44C-631B-4562-BE53-D1B3856C2342}"/>
              </a:ext>
            </a:extLst>
          </p:cNvPr>
          <p:cNvSpPr>
            <a:spLocks noGrp="1"/>
          </p:cNvSpPr>
          <p:nvPr/>
        </p:nvSpPr>
        <p:spPr>
          <a:xfrm>
            <a:off x="10991850" y="6467475"/>
            <a:ext cx="571500" cy="219075"/>
          </a:xfrm>
          <a:prstGeom prst="rect">
            <a:avLst/>
          </a:prstGeom>
          <a:noFill/>
          <a:ln w="0">
            <a:noFill/>
          </a:ln>
        </p:spPr>
        <p:txBody>
          <a:bodyPr wrap="square" lIns="0" tIns="0" rIns="0" bIns="0" anchor="t">
            <a:noAutofit/>
          </a:bodyPr>
          <a:lstStyle/>
          <a:p>
            <a:pPr algn="r">
              <a:defRPr sz="1200" b="0">
                <a:solidFill>
                  <a:srgbClr val="526577"/>
                </a:solidFill>
                <a:latin typeface="Arial"/>
                <a:ea typeface="Arial"/>
                <a:cs typeface="Arial"/>
              </a:defRPr>
            </a:pPr>
            <a:r>
              <a:rPr sz="1200" b="0">
                <a:solidFill>
                  <a:srgbClr val="526577"/>
                </a:solidFill>
                <a:latin typeface="Arial"/>
                <a:ea typeface="Arial"/>
                <a:cs typeface="Arial"/>
              </a:rPr>
              <a:t>08</a:t>
            </a:r>
          </a:p>
        </p:txBody>
      </p:sp>
      <p:graphicFrame>
        <p:nvGraphicFramePr>
          <p:cNvPr id="11" name="Table 10"/>
          <p:cNvGraphicFramePr/>
          <p:nvPr/>
        </p:nvGraphicFramePr>
        <p:xfrm>
          <a:off x="628650" y="1790700"/>
          <a:ext cx="10934700" cy="3703320"/>
        </p:xfrm>
        <a:graphic>
          <a:graphicData uri="http://schemas.openxmlformats.org/drawingml/2006/table">
            <a:tbl>
              <a:tblPr/>
              <a:tblGrid>
                <a:gridCol w="1790700">
                  <a:extLst>
                    <a:ext uri="{9D8B030D-6E8A-4147-A177-3AD203B41FA5}">
                      <a16:colId xmlns:a16="http://schemas.microsoft.com/office/drawing/2014/main" val="20000"/>
                    </a:ext>
                  </a:extLst>
                </a:gridCol>
                <a:gridCol w="1885950">
                  <a:extLst>
                    <a:ext uri="{9D8B030D-6E8A-4147-A177-3AD203B41FA5}">
                      <a16:colId xmlns:a16="http://schemas.microsoft.com/office/drawing/2014/main" val="20001"/>
                    </a:ext>
                  </a:extLst>
                </a:gridCol>
                <a:gridCol w="1809750">
                  <a:extLst>
                    <a:ext uri="{9D8B030D-6E8A-4147-A177-3AD203B41FA5}">
                      <a16:colId xmlns:a16="http://schemas.microsoft.com/office/drawing/2014/main" val="20002"/>
                    </a:ext>
                  </a:extLst>
                </a:gridCol>
                <a:gridCol w="1771650">
                  <a:extLst>
                    <a:ext uri="{9D8B030D-6E8A-4147-A177-3AD203B41FA5}">
                      <a16:colId xmlns:a16="http://schemas.microsoft.com/office/drawing/2014/main" val="20003"/>
                    </a:ext>
                  </a:extLst>
                </a:gridCol>
                <a:gridCol w="1847850">
                  <a:extLst>
                    <a:ext uri="{9D8B030D-6E8A-4147-A177-3AD203B41FA5}">
                      <a16:colId xmlns:a16="http://schemas.microsoft.com/office/drawing/2014/main" val="20004"/>
                    </a:ext>
                  </a:extLst>
                </a:gridCol>
                <a:gridCol w="1828800">
                  <a:extLst>
                    <a:ext uri="{9D8B030D-6E8A-4147-A177-3AD203B41FA5}">
                      <a16:colId xmlns:a16="http://schemas.microsoft.com/office/drawing/2014/main" val="20005"/>
                    </a:ext>
                  </a:extLst>
                </a:gridCol>
              </a:tblGrid>
              <a:tr h="514350">
                <a:tc>
                  <a:txBody>
                    <a:bodyPr/>
                    <a:lstStyle/>
                    <a:p>
                      <a:pPr algn="l"/>
                      <a:r>
                        <a:rPr sz="1725" b="1">
                          <a:solidFill>
                            <a:srgbClr val="FFFFFF"/>
                          </a:solidFill>
                          <a:latin typeface="Arial"/>
                          <a:ea typeface="Arial"/>
                          <a:cs typeface="Arial"/>
                        </a:rPr>
                        <a:t>Benchmark</a:t>
                      </a:r>
                    </a:p>
                  </a:txBody>
                  <a:tcPr anchor="ctr">
                    <a:solidFill>
                      <a:srgbClr val="152B3C"/>
                    </a:solidFill>
                  </a:tcPr>
                </a:tc>
                <a:tc>
                  <a:txBody>
                    <a:bodyPr/>
                    <a:lstStyle/>
                    <a:p>
                      <a:pPr algn="ctr"/>
                      <a:r>
                        <a:rPr sz="1725" b="1">
                          <a:solidFill>
                            <a:srgbClr val="FFFFFF"/>
                          </a:solidFill>
                          <a:latin typeface="Arial"/>
                          <a:ea typeface="Arial"/>
                          <a:cs typeface="Arial"/>
                        </a:rPr>
                        <a:t>Balanced</a:t>
                      </a:r>
                    </a:p>
                    <a:p>
                      <a:pPr algn="ctr"/>
                      <a:r>
                        <a:rPr sz="1725" b="1">
                          <a:solidFill>
                            <a:srgbClr val="FFFFFF"/>
                          </a:solidFill>
                          <a:latin typeface="Arial"/>
                          <a:ea typeface="Arial"/>
                          <a:cs typeface="Arial"/>
                        </a:rPr>
                        <a:t>accuracy</a:t>
                      </a:r>
                    </a:p>
                  </a:txBody>
                  <a:tcPr anchor="ctr">
                    <a:solidFill>
                      <a:srgbClr val="152B3C"/>
                    </a:solidFill>
                  </a:tcPr>
                </a:tc>
                <a:tc>
                  <a:txBody>
                    <a:bodyPr/>
                    <a:lstStyle/>
                    <a:p>
                      <a:pPr algn="ctr"/>
                      <a:r>
                        <a:rPr sz="1725" b="1">
                          <a:solidFill>
                            <a:srgbClr val="FFFFFF"/>
                          </a:solidFill>
                          <a:latin typeface="Arial"/>
                          <a:ea typeface="Arial"/>
                          <a:cs typeface="Arial"/>
                        </a:rPr>
                        <a:t>Precision</a:t>
                      </a:r>
                    </a:p>
                  </a:txBody>
                  <a:tcPr anchor="ctr">
                    <a:solidFill>
                      <a:srgbClr val="152B3C"/>
                    </a:solidFill>
                  </a:tcPr>
                </a:tc>
                <a:tc>
                  <a:txBody>
                    <a:bodyPr/>
                    <a:lstStyle/>
                    <a:p>
                      <a:pPr algn="ctr"/>
                      <a:r>
                        <a:rPr sz="1725" b="1">
                          <a:solidFill>
                            <a:srgbClr val="FFFFFF"/>
                          </a:solidFill>
                          <a:latin typeface="Arial"/>
                          <a:ea typeface="Arial"/>
                          <a:cs typeface="Arial"/>
                        </a:rPr>
                        <a:t>Recall</a:t>
                      </a:r>
                    </a:p>
                  </a:txBody>
                  <a:tcPr anchor="ctr">
                    <a:solidFill>
                      <a:srgbClr val="152B3C"/>
                    </a:solidFill>
                  </a:tcPr>
                </a:tc>
                <a:tc>
                  <a:txBody>
                    <a:bodyPr/>
                    <a:lstStyle/>
                    <a:p>
                      <a:pPr algn="ctr"/>
                      <a:r>
                        <a:rPr sz="1725" b="1">
                          <a:solidFill>
                            <a:srgbClr val="FFFFFF"/>
                          </a:solidFill>
                          <a:latin typeface="Arial"/>
                          <a:ea typeface="Arial"/>
                          <a:cs typeface="Arial"/>
                        </a:rPr>
                        <a:t>Specificity</a:t>
                      </a:r>
                    </a:p>
                  </a:txBody>
                  <a:tcPr anchor="ctr">
                    <a:solidFill>
                      <a:srgbClr val="152B3C"/>
                    </a:solidFill>
                  </a:tcPr>
                </a:tc>
                <a:tc>
                  <a:txBody>
                    <a:bodyPr/>
                    <a:lstStyle/>
                    <a:p>
                      <a:pPr algn="ctr"/>
                      <a:r>
                        <a:rPr sz="1725" b="1">
                          <a:solidFill>
                            <a:srgbClr val="FFFFFF"/>
                          </a:solidFill>
                          <a:latin typeface="Arial"/>
                          <a:ea typeface="Arial"/>
                          <a:cs typeface="Arial"/>
                        </a:rPr>
                        <a:t>F1-score</a:t>
                      </a:r>
                    </a:p>
                  </a:txBody>
                  <a:tcPr anchor="ctr">
                    <a:solidFill>
                      <a:srgbClr val="152B3C"/>
                    </a:solidFill>
                  </a:tcPr>
                </a:tc>
                <a:extLst>
                  <a:ext uri="{0D108BD9-81ED-4DB2-BD59-A6C34878D82A}">
                    <a16:rowId xmlns:a16="http://schemas.microsoft.com/office/drawing/2014/main" val="10000"/>
                  </a:ext>
                </a:extLst>
              </a:tr>
              <a:tr h="514350">
                <a:tc>
                  <a:txBody>
                    <a:bodyPr/>
                    <a:lstStyle/>
                    <a:p>
                      <a:pPr algn="l"/>
                      <a:r>
                        <a:rPr sz="1725" b="0">
                          <a:solidFill>
                            <a:srgbClr val="172E40"/>
                          </a:solidFill>
                          <a:latin typeface="Arial"/>
                          <a:ea typeface="Arial"/>
                          <a:cs typeface="Arial"/>
                        </a:rPr>
                        <a:t>B1</a:t>
                      </a:r>
                    </a:p>
                  </a:txBody>
                  <a:tcPr anchor="ctr">
                    <a:solidFill>
                      <a:srgbClr val="FFFFFF"/>
                    </a:solidFill>
                  </a:tcPr>
                </a:tc>
                <a:tc>
                  <a:txBody>
                    <a:bodyPr/>
                    <a:lstStyle/>
                    <a:p>
                      <a:pPr algn="ctr"/>
                      <a:r>
                        <a:rPr sz="1725" b="0">
                          <a:solidFill>
                            <a:srgbClr val="172E40"/>
                          </a:solidFill>
                          <a:latin typeface="Arial"/>
                          <a:ea typeface="Arial"/>
                          <a:cs typeface="Arial"/>
                        </a:rPr>
                        <a:t>75.02</a:t>
                      </a:r>
                    </a:p>
                  </a:txBody>
                  <a:tcPr anchor="ctr">
                    <a:solidFill>
                      <a:srgbClr val="FFFFFF"/>
                    </a:solidFill>
                  </a:tcPr>
                </a:tc>
                <a:tc>
                  <a:txBody>
                    <a:bodyPr/>
                    <a:lstStyle/>
                    <a:p>
                      <a:pPr algn="ctr"/>
                      <a:r>
                        <a:rPr sz="1725" b="0">
                          <a:solidFill>
                            <a:srgbClr val="172E40"/>
                          </a:solidFill>
                          <a:latin typeface="Arial"/>
                          <a:ea typeface="Arial"/>
                          <a:cs typeface="Arial"/>
                        </a:rPr>
                        <a:t>45.63</a:t>
                      </a:r>
                    </a:p>
                  </a:txBody>
                  <a:tcPr anchor="ctr">
                    <a:solidFill>
                      <a:srgbClr val="FFFFFF"/>
                    </a:solidFill>
                  </a:tcPr>
                </a:tc>
                <a:tc>
                  <a:txBody>
                    <a:bodyPr/>
                    <a:lstStyle/>
                    <a:p>
                      <a:pPr algn="ctr"/>
                      <a:r>
                        <a:rPr sz="1725" b="0">
                          <a:solidFill>
                            <a:srgbClr val="172E40"/>
                          </a:solidFill>
                          <a:latin typeface="Arial"/>
                          <a:ea typeface="Arial"/>
                          <a:cs typeface="Arial"/>
                        </a:rPr>
                        <a:t>53.10</a:t>
                      </a:r>
                    </a:p>
                  </a:txBody>
                  <a:tcPr anchor="ctr">
                    <a:solidFill>
                      <a:srgbClr val="FFFFFF"/>
                    </a:solidFill>
                  </a:tcPr>
                </a:tc>
                <a:tc>
                  <a:txBody>
                    <a:bodyPr/>
                    <a:lstStyle/>
                    <a:p>
                      <a:pPr algn="ctr"/>
                      <a:r>
                        <a:rPr sz="1725" b="0">
                          <a:solidFill>
                            <a:srgbClr val="172E40"/>
                          </a:solidFill>
                          <a:latin typeface="Arial"/>
                          <a:ea typeface="Arial"/>
                          <a:cs typeface="Arial"/>
                        </a:rPr>
                        <a:t>96.94</a:t>
                      </a:r>
                    </a:p>
                  </a:txBody>
                  <a:tcPr anchor="ctr">
                    <a:solidFill>
                      <a:srgbClr val="FFFFFF"/>
                    </a:solidFill>
                  </a:tcPr>
                </a:tc>
                <a:tc>
                  <a:txBody>
                    <a:bodyPr/>
                    <a:lstStyle/>
                    <a:p>
                      <a:pPr algn="ctr"/>
                      <a:r>
                        <a:rPr sz="1725" b="0">
                          <a:solidFill>
                            <a:srgbClr val="172E40"/>
                          </a:solidFill>
                          <a:latin typeface="Arial"/>
                          <a:ea typeface="Arial"/>
                          <a:cs typeface="Arial"/>
                        </a:rPr>
                        <a:t>49.08</a:t>
                      </a:r>
                    </a:p>
                  </a:txBody>
                  <a:tcPr anchor="ctr">
                    <a:solidFill>
                      <a:srgbClr val="FFFFFF"/>
                    </a:solidFill>
                  </a:tcPr>
                </a:tc>
                <a:extLst>
                  <a:ext uri="{0D108BD9-81ED-4DB2-BD59-A6C34878D82A}">
                    <a16:rowId xmlns:a16="http://schemas.microsoft.com/office/drawing/2014/main" val="10001"/>
                  </a:ext>
                </a:extLst>
              </a:tr>
              <a:tr h="514350">
                <a:tc>
                  <a:txBody>
                    <a:bodyPr/>
                    <a:lstStyle/>
                    <a:p>
                      <a:pPr algn="l"/>
                      <a:r>
                        <a:rPr sz="1725" b="0">
                          <a:solidFill>
                            <a:srgbClr val="172E40"/>
                          </a:solidFill>
                          <a:latin typeface="Arial"/>
                          <a:ea typeface="Arial"/>
                          <a:cs typeface="Arial"/>
                        </a:rPr>
                        <a:t>B2</a:t>
                      </a:r>
                    </a:p>
                  </a:txBody>
                  <a:tcPr anchor="ctr">
                    <a:solidFill>
                      <a:srgbClr val="F4F7FA"/>
                    </a:solidFill>
                  </a:tcPr>
                </a:tc>
                <a:tc>
                  <a:txBody>
                    <a:bodyPr/>
                    <a:lstStyle/>
                    <a:p>
                      <a:pPr algn="ctr"/>
                      <a:r>
                        <a:rPr sz="1725" b="0">
                          <a:solidFill>
                            <a:srgbClr val="172E40"/>
                          </a:solidFill>
                          <a:latin typeface="Arial"/>
                          <a:ea typeface="Arial"/>
                          <a:cs typeface="Arial"/>
                        </a:rPr>
                        <a:t>98.74</a:t>
                      </a:r>
                    </a:p>
                  </a:txBody>
                  <a:tcPr anchor="ctr">
                    <a:solidFill>
                      <a:srgbClr val="F4F7FA"/>
                    </a:solidFill>
                  </a:tcPr>
                </a:tc>
                <a:tc>
                  <a:txBody>
                    <a:bodyPr/>
                    <a:lstStyle/>
                    <a:p>
                      <a:pPr algn="ctr"/>
                      <a:r>
                        <a:rPr sz="1725" b="0">
                          <a:solidFill>
                            <a:srgbClr val="172E40"/>
                          </a:solidFill>
                          <a:latin typeface="Arial"/>
                          <a:ea typeface="Arial"/>
                          <a:cs typeface="Arial"/>
                        </a:rPr>
                        <a:t>38.49</a:t>
                      </a:r>
                    </a:p>
                  </a:txBody>
                  <a:tcPr anchor="ctr">
                    <a:solidFill>
                      <a:srgbClr val="F4F7FA"/>
                    </a:solidFill>
                  </a:tcPr>
                </a:tc>
                <a:tc>
                  <a:txBody>
                    <a:bodyPr/>
                    <a:lstStyle/>
                    <a:p>
                      <a:pPr algn="ctr"/>
                      <a:r>
                        <a:rPr sz="1725" b="0">
                          <a:solidFill>
                            <a:srgbClr val="172E40"/>
                          </a:solidFill>
                          <a:latin typeface="Arial"/>
                          <a:ea typeface="Arial"/>
                          <a:cs typeface="Arial"/>
                        </a:rPr>
                        <a:t>99.40</a:t>
                      </a:r>
                    </a:p>
                  </a:txBody>
                  <a:tcPr anchor="ctr">
                    <a:solidFill>
                      <a:srgbClr val="F4F7FA"/>
                    </a:solidFill>
                  </a:tcPr>
                </a:tc>
                <a:tc>
                  <a:txBody>
                    <a:bodyPr/>
                    <a:lstStyle/>
                    <a:p>
                      <a:pPr algn="ctr"/>
                      <a:r>
                        <a:rPr sz="1725" b="0">
                          <a:solidFill>
                            <a:srgbClr val="172E40"/>
                          </a:solidFill>
                          <a:latin typeface="Arial"/>
                          <a:ea typeface="Arial"/>
                          <a:cs typeface="Arial"/>
                        </a:rPr>
                        <a:t>98.08</a:t>
                      </a:r>
                    </a:p>
                  </a:txBody>
                  <a:tcPr anchor="ctr">
                    <a:solidFill>
                      <a:srgbClr val="F4F7FA"/>
                    </a:solidFill>
                  </a:tcPr>
                </a:tc>
                <a:tc>
                  <a:txBody>
                    <a:bodyPr/>
                    <a:lstStyle/>
                    <a:p>
                      <a:pPr algn="ctr"/>
                      <a:r>
                        <a:rPr sz="1725" b="0">
                          <a:solidFill>
                            <a:srgbClr val="172E40"/>
                          </a:solidFill>
                          <a:latin typeface="Arial"/>
                          <a:ea typeface="Arial"/>
                          <a:cs typeface="Arial"/>
                        </a:rPr>
                        <a:t>55.49</a:t>
                      </a:r>
                    </a:p>
                  </a:txBody>
                  <a:tcPr anchor="ctr">
                    <a:solidFill>
                      <a:srgbClr val="F4F7FA"/>
                    </a:solidFill>
                  </a:tcPr>
                </a:tc>
                <a:extLst>
                  <a:ext uri="{0D108BD9-81ED-4DB2-BD59-A6C34878D82A}">
                    <a16:rowId xmlns:a16="http://schemas.microsoft.com/office/drawing/2014/main" val="10002"/>
                  </a:ext>
                </a:extLst>
              </a:tr>
              <a:tr h="514350">
                <a:tc>
                  <a:txBody>
                    <a:bodyPr/>
                    <a:lstStyle/>
                    <a:p>
                      <a:pPr algn="l"/>
                      <a:r>
                        <a:rPr sz="1725" b="0">
                          <a:solidFill>
                            <a:srgbClr val="172E40"/>
                          </a:solidFill>
                          <a:latin typeface="Arial"/>
                          <a:ea typeface="Arial"/>
                          <a:cs typeface="Arial"/>
                        </a:rPr>
                        <a:t>B3</a:t>
                      </a:r>
                    </a:p>
                  </a:txBody>
                  <a:tcPr anchor="ctr">
                    <a:solidFill>
                      <a:srgbClr val="FFFFFF"/>
                    </a:solidFill>
                  </a:tcPr>
                </a:tc>
                <a:tc>
                  <a:txBody>
                    <a:bodyPr/>
                    <a:lstStyle/>
                    <a:p>
                      <a:pPr algn="ctr"/>
                      <a:r>
                        <a:rPr sz="1725" b="0">
                          <a:solidFill>
                            <a:srgbClr val="172E40"/>
                          </a:solidFill>
                          <a:latin typeface="Arial"/>
                          <a:ea typeface="Arial"/>
                          <a:cs typeface="Arial"/>
                        </a:rPr>
                        <a:t>96.53</a:t>
                      </a:r>
                    </a:p>
                  </a:txBody>
                  <a:tcPr anchor="ctr">
                    <a:solidFill>
                      <a:srgbClr val="FFFFFF"/>
                    </a:solidFill>
                  </a:tcPr>
                </a:tc>
                <a:tc>
                  <a:txBody>
                    <a:bodyPr/>
                    <a:lstStyle/>
                    <a:p>
                      <a:pPr algn="ctr"/>
                      <a:r>
                        <a:rPr sz="1725" b="0">
                          <a:solidFill>
                            <a:srgbClr val="172E40"/>
                          </a:solidFill>
                          <a:latin typeface="Arial"/>
                          <a:ea typeface="Arial"/>
                          <a:cs typeface="Arial"/>
                        </a:rPr>
                        <a:t>43.85</a:t>
                      </a:r>
                    </a:p>
                  </a:txBody>
                  <a:tcPr anchor="ctr">
                    <a:solidFill>
                      <a:srgbClr val="FFFFFF"/>
                    </a:solidFill>
                  </a:tcPr>
                </a:tc>
                <a:tc>
                  <a:txBody>
                    <a:bodyPr/>
                    <a:lstStyle/>
                    <a:p>
                      <a:pPr algn="ctr"/>
                      <a:r>
                        <a:rPr sz="1725" b="0">
                          <a:solidFill>
                            <a:srgbClr val="172E40"/>
                          </a:solidFill>
                          <a:latin typeface="Arial"/>
                          <a:ea typeface="Arial"/>
                          <a:cs typeface="Arial"/>
                        </a:rPr>
                        <a:t>97.95</a:t>
                      </a:r>
                    </a:p>
                  </a:txBody>
                  <a:tcPr anchor="ctr">
                    <a:solidFill>
                      <a:srgbClr val="FFFFFF"/>
                    </a:solidFill>
                  </a:tcPr>
                </a:tc>
                <a:tc>
                  <a:txBody>
                    <a:bodyPr/>
                    <a:lstStyle/>
                    <a:p>
                      <a:pPr algn="ctr"/>
                      <a:r>
                        <a:rPr sz="1725" b="0">
                          <a:solidFill>
                            <a:srgbClr val="172E40"/>
                          </a:solidFill>
                          <a:latin typeface="Arial"/>
                          <a:ea typeface="Arial"/>
                          <a:cs typeface="Arial"/>
                        </a:rPr>
                        <a:t>95.11</a:t>
                      </a:r>
                    </a:p>
                  </a:txBody>
                  <a:tcPr anchor="ctr">
                    <a:solidFill>
                      <a:srgbClr val="FFFFFF"/>
                    </a:solidFill>
                  </a:tcPr>
                </a:tc>
                <a:tc>
                  <a:txBody>
                    <a:bodyPr/>
                    <a:lstStyle/>
                    <a:p>
                      <a:pPr algn="ctr"/>
                      <a:r>
                        <a:rPr sz="1725" b="0">
                          <a:solidFill>
                            <a:srgbClr val="172E40"/>
                          </a:solidFill>
                          <a:latin typeface="Arial"/>
                          <a:ea typeface="Arial"/>
                          <a:cs typeface="Arial"/>
                        </a:rPr>
                        <a:t>60.58</a:t>
                      </a:r>
                    </a:p>
                  </a:txBody>
                  <a:tcPr anchor="ctr">
                    <a:solidFill>
                      <a:srgbClr val="FFFFFF"/>
                    </a:solidFill>
                  </a:tcPr>
                </a:tc>
                <a:extLst>
                  <a:ext uri="{0D108BD9-81ED-4DB2-BD59-A6C34878D82A}">
                    <a16:rowId xmlns:a16="http://schemas.microsoft.com/office/drawing/2014/main" val="10003"/>
                  </a:ext>
                </a:extLst>
              </a:tr>
              <a:tr h="514350">
                <a:tc>
                  <a:txBody>
                    <a:bodyPr/>
                    <a:lstStyle/>
                    <a:p>
                      <a:pPr algn="l"/>
                      <a:r>
                        <a:rPr sz="1725" b="0">
                          <a:solidFill>
                            <a:srgbClr val="172E40"/>
                          </a:solidFill>
                          <a:latin typeface="Arial"/>
                          <a:ea typeface="Arial"/>
                          <a:cs typeface="Arial"/>
                        </a:rPr>
                        <a:t>B4</a:t>
                      </a:r>
                    </a:p>
                  </a:txBody>
                  <a:tcPr anchor="ctr">
                    <a:solidFill>
                      <a:srgbClr val="F4F7FA"/>
                    </a:solidFill>
                  </a:tcPr>
                </a:tc>
                <a:tc>
                  <a:txBody>
                    <a:bodyPr/>
                    <a:lstStyle/>
                    <a:p>
                      <a:pPr algn="ctr"/>
                      <a:r>
                        <a:rPr sz="1725" b="0">
                          <a:solidFill>
                            <a:srgbClr val="172E40"/>
                          </a:solidFill>
                          <a:latin typeface="Arial"/>
                          <a:ea typeface="Arial"/>
                          <a:cs typeface="Arial"/>
                        </a:rPr>
                        <a:t>96.62</a:t>
                      </a:r>
                    </a:p>
                  </a:txBody>
                  <a:tcPr anchor="ctr">
                    <a:solidFill>
                      <a:srgbClr val="F4F7FA"/>
                    </a:solidFill>
                  </a:tcPr>
                </a:tc>
                <a:tc>
                  <a:txBody>
                    <a:bodyPr/>
                    <a:lstStyle/>
                    <a:p>
                      <a:pPr algn="ctr"/>
                      <a:r>
                        <a:rPr sz="1725" b="0">
                          <a:solidFill>
                            <a:srgbClr val="172E40"/>
                          </a:solidFill>
                          <a:latin typeface="Arial"/>
                          <a:ea typeface="Arial"/>
                          <a:cs typeface="Arial"/>
                        </a:rPr>
                        <a:t>12.08</a:t>
                      </a:r>
                    </a:p>
                  </a:txBody>
                  <a:tcPr anchor="ctr">
                    <a:solidFill>
                      <a:srgbClr val="F4F7FA"/>
                    </a:solidFill>
                  </a:tcPr>
                </a:tc>
                <a:tc>
                  <a:txBody>
                    <a:bodyPr/>
                    <a:lstStyle/>
                    <a:p>
                      <a:pPr algn="ctr"/>
                      <a:r>
                        <a:rPr sz="1725" b="0">
                          <a:solidFill>
                            <a:srgbClr val="172E40"/>
                          </a:solidFill>
                          <a:latin typeface="Arial"/>
                          <a:ea typeface="Arial"/>
                          <a:cs typeface="Arial"/>
                        </a:rPr>
                        <a:t>97.18</a:t>
                      </a:r>
                    </a:p>
                  </a:txBody>
                  <a:tcPr anchor="ctr">
                    <a:solidFill>
                      <a:srgbClr val="F4F7FA"/>
                    </a:solidFill>
                  </a:tcPr>
                </a:tc>
                <a:tc>
                  <a:txBody>
                    <a:bodyPr/>
                    <a:lstStyle/>
                    <a:p>
                      <a:pPr algn="ctr"/>
                      <a:r>
                        <a:rPr sz="1725" b="0">
                          <a:solidFill>
                            <a:srgbClr val="172E40"/>
                          </a:solidFill>
                          <a:latin typeface="Arial"/>
                          <a:ea typeface="Arial"/>
                          <a:cs typeface="Arial"/>
                        </a:rPr>
                        <a:t>96.07</a:t>
                      </a:r>
                    </a:p>
                  </a:txBody>
                  <a:tcPr anchor="ctr">
                    <a:solidFill>
                      <a:srgbClr val="F4F7FA"/>
                    </a:solidFill>
                  </a:tcPr>
                </a:tc>
                <a:tc>
                  <a:txBody>
                    <a:bodyPr/>
                    <a:lstStyle/>
                    <a:p>
                      <a:pPr algn="ctr"/>
                      <a:r>
                        <a:rPr sz="1725" b="0">
                          <a:solidFill>
                            <a:srgbClr val="172E40"/>
                          </a:solidFill>
                          <a:latin typeface="Arial"/>
                          <a:ea typeface="Arial"/>
                          <a:cs typeface="Arial"/>
                        </a:rPr>
                        <a:t>21.49</a:t>
                      </a:r>
                    </a:p>
                  </a:txBody>
                  <a:tcPr anchor="ctr">
                    <a:solidFill>
                      <a:srgbClr val="F4F7FA"/>
                    </a:solidFill>
                  </a:tcPr>
                </a:tc>
                <a:extLst>
                  <a:ext uri="{0D108BD9-81ED-4DB2-BD59-A6C34878D82A}">
                    <a16:rowId xmlns:a16="http://schemas.microsoft.com/office/drawing/2014/main" val="10004"/>
                  </a:ext>
                </a:extLst>
              </a:tr>
              <a:tr h="514350">
                <a:tc>
                  <a:txBody>
                    <a:bodyPr/>
                    <a:lstStyle/>
                    <a:p>
                      <a:pPr algn="l"/>
                      <a:r>
                        <a:rPr sz="1725" b="0">
                          <a:solidFill>
                            <a:srgbClr val="172E40"/>
                          </a:solidFill>
                          <a:latin typeface="Arial"/>
                          <a:ea typeface="Arial"/>
                          <a:cs typeface="Arial"/>
                        </a:rPr>
                        <a:t>B5</a:t>
                      </a:r>
                    </a:p>
                  </a:txBody>
                  <a:tcPr anchor="ctr">
                    <a:solidFill>
                      <a:srgbClr val="FFFFFF"/>
                    </a:solidFill>
                  </a:tcPr>
                </a:tc>
                <a:tc>
                  <a:txBody>
                    <a:bodyPr/>
                    <a:lstStyle/>
                    <a:p>
                      <a:pPr algn="ctr"/>
                      <a:r>
                        <a:rPr sz="1725" b="0">
                          <a:solidFill>
                            <a:srgbClr val="172E40"/>
                          </a:solidFill>
                          <a:latin typeface="Arial"/>
                          <a:ea typeface="Arial"/>
                          <a:cs typeface="Arial"/>
                        </a:rPr>
                        <a:t>93.59</a:t>
                      </a:r>
                    </a:p>
                  </a:txBody>
                  <a:tcPr anchor="ctr">
                    <a:solidFill>
                      <a:srgbClr val="FFFFFF"/>
                    </a:solidFill>
                  </a:tcPr>
                </a:tc>
                <a:tc>
                  <a:txBody>
                    <a:bodyPr/>
                    <a:lstStyle/>
                    <a:p>
                      <a:pPr algn="ctr"/>
                      <a:r>
                        <a:rPr sz="1725" b="0">
                          <a:solidFill>
                            <a:srgbClr val="172E40"/>
                          </a:solidFill>
                          <a:latin typeface="Arial"/>
                          <a:ea typeface="Arial"/>
                          <a:cs typeface="Arial"/>
                        </a:rPr>
                        <a:t>3.45</a:t>
                      </a:r>
                    </a:p>
                  </a:txBody>
                  <a:tcPr anchor="ctr">
                    <a:solidFill>
                      <a:srgbClr val="FFFFFF"/>
                    </a:solidFill>
                  </a:tcPr>
                </a:tc>
                <a:tc>
                  <a:txBody>
                    <a:bodyPr/>
                    <a:lstStyle/>
                    <a:p>
                      <a:pPr algn="ctr"/>
                      <a:r>
                        <a:rPr sz="1725" b="0">
                          <a:solidFill>
                            <a:srgbClr val="172E40"/>
                          </a:solidFill>
                          <a:latin typeface="Arial"/>
                          <a:ea typeface="Arial"/>
                          <a:cs typeface="Arial"/>
                        </a:rPr>
                        <a:t>92.68</a:t>
                      </a:r>
                    </a:p>
                  </a:txBody>
                  <a:tcPr anchor="ctr">
                    <a:solidFill>
                      <a:srgbClr val="FFFFFF"/>
                    </a:solidFill>
                  </a:tcPr>
                </a:tc>
                <a:tc>
                  <a:txBody>
                    <a:bodyPr/>
                    <a:lstStyle/>
                    <a:p>
                      <a:pPr algn="ctr"/>
                      <a:r>
                        <a:rPr sz="1725" b="0">
                          <a:solidFill>
                            <a:srgbClr val="172E40"/>
                          </a:solidFill>
                          <a:latin typeface="Arial"/>
                          <a:ea typeface="Arial"/>
                          <a:cs typeface="Arial"/>
                        </a:rPr>
                        <a:t>94.51</a:t>
                      </a:r>
                    </a:p>
                  </a:txBody>
                  <a:tcPr anchor="ctr">
                    <a:solidFill>
                      <a:srgbClr val="FFFFFF"/>
                    </a:solidFill>
                  </a:tcPr>
                </a:tc>
                <a:tc>
                  <a:txBody>
                    <a:bodyPr/>
                    <a:lstStyle/>
                    <a:p>
                      <a:pPr algn="ctr"/>
                      <a:r>
                        <a:rPr sz="1725" b="0">
                          <a:solidFill>
                            <a:srgbClr val="172E40"/>
                          </a:solidFill>
                          <a:latin typeface="Arial"/>
                          <a:ea typeface="Arial"/>
                          <a:cs typeface="Arial"/>
                        </a:rPr>
                        <a:t>6.66</a:t>
                      </a:r>
                    </a:p>
                  </a:txBody>
                  <a:tcPr anchor="ctr">
                    <a:solidFill>
                      <a:srgbClr val="FFFFFF"/>
                    </a:solidFill>
                  </a:tcPr>
                </a:tc>
                <a:extLst>
                  <a:ext uri="{0D108BD9-81ED-4DB2-BD59-A6C34878D82A}">
                    <a16:rowId xmlns:a16="http://schemas.microsoft.com/office/drawing/2014/main" val="10005"/>
                  </a:ext>
                </a:extLst>
              </a:tr>
              <a:tr h="514350">
                <a:tc>
                  <a:txBody>
                    <a:bodyPr/>
                    <a:lstStyle/>
                    <a:p>
                      <a:pPr algn="l"/>
                      <a:r>
                        <a:rPr sz="1725" b="1">
                          <a:solidFill>
                            <a:srgbClr val="172E40"/>
                          </a:solidFill>
                          <a:latin typeface="Arial"/>
                          <a:ea typeface="Arial"/>
                          <a:cs typeface="Arial"/>
                        </a:rPr>
                        <a:t>Macro avg.</a:t>
                      </a:r>
                    </a:p>
                  </a:txBody>
                  <a:tcPr anchor="ctr">
                    <a:solidFill>
                      <a:srgbClr val="EAF3F3"/>
                    </a:solidFill>
                  </a:tcPr>
                </a:tc>
                <a:tc>
                  <a:txBody>
                    <a:bodyPr/>
                    <a:lstStyle/>
                    <a:p>
                      <a:pPr algn="ctr"/>
                      <a:r>
                        <a:rPr sz="1725" b="1">
                          <a:solidFill>
                            <a:srgbClr val="172E40"/>
                          </a:solidFill>
                          <a:latin typeface="Arial"/>
                          <a:ea typeface="Arial"/>
                          <a:cs typeface="Arial"/>
                        </a:rPr>
                        <a:t>92.10</a:t>
                      </a:r>
                    </a:p>
                  </a:txBody>
                  <a:tcPr anchor="ctr">
                    <a:solidFill>
                      <a:srgbClr val="EAF3F3"/>
                    </a:solidFill>
                  </a:tcPr>
                </a:tc>
                <a:tc>
                  <a:txBody>
                    <a:bodyPr/>
                    <a:lstStyle/>
                    <a:p>
                      <a:pPr algn="ctr"/>
                      <a:r>
                        <a:rPr sz="1725" b="1">
                          <a:solidFill>
                            <a:srgbClr val="172E40"/>
                          </a:solidFill>
                          <a:latin typeface="Arial"/>
                          <a:ea typeface="Arial"/>
                          <a:cs typeface="Arial"/>
                        </a:rPr>
                        <a:t>28.70</a:t>
                      </a:r>
                    </a:p>
                  </a:txBody>
                  <a:tcPr anchor="ctr">
                    <a:solidFill>
                      <a:srgbClr val="EAF3F3"/>
                    </a:solidFill>
                  </a:tcPr>
                </a:tc>
                <a:tc>
                  <a:txBody>
                    <a:bodyPr/>
                    <a:lstStyle/>
                    <a:p>
                      <a:pPr algn="ctr"/>
                      <a:r>
                        <a:rPr sz="1725" b="1">
                          <a:solidFill>
                            <a:srgbClr val="172E40"/>
                          </a:solidFill>
                          <a:latin typeface="Arial"/>
                          <a:ea typeface="Arial"/>
                          <a:cs typeface="Arial"/>
                        </a:rPr>
                        <a:t>88.06</a:t>
                      </a:r>
                    </a:p>
                  </a:txBody>
                  <a:tcPr anchor="ctr">
                    <a:solidFill>
                      <a:srgbClr val="EAF3F3"/>
                    </a:solidFill>
                  </a:tcPr>
                </a:tc>
                <a:tc>
                  <a:txBody>
                    <a:bodyPr/>
                    <a:lstStyle/>
                    <a:p>
                      <a:pPr algn="ctr"/>
                      <a:r>
                        <a:rPr sz="1725" b="1">
                          <a:solidFill>
                            <a:srgbClr val="172E40"/>
                          </a:solidFill>
                          <a:latin typeface="Arial"/>
                          <a:ea typeface="Arial"/>
                          <a:cs typeface="Arial"/>
                        </a:rPr>
                        <a:t>96.14</a:t>
                      </a:r>
                    </a:p>
                  </a:txBody>
                  <a:tcPr anchor="ctr">
                    <a:solidFill>
                      <a:srgbClr val="EAF3F3"/>
                    </a:solidFill>
                  </a:tcPr>
                </a:tc>
                <a:tc>
                  <a:txBody>
                    <a:bodyPr/>
                    <a:lstStyle/>
                    <a:p>
                      <a:pPr algn="ctr"/>
                      <a:r>
                        <a:rPr sz="1725" b="1">
                          <a:solidFill>
                            <a:srgbClr val="172E40"/>
                          </a:solidFill>
                          <a:latin typeface="Arial"/>
                          <a:ea typeface="Arial"/>
                          <a:cs typeface="Arial"/>
                        </a:rPr>
                        <a:t>38.66</a:t>
                      </a:r>
                    </a:p>
                  </a:txBody>
                  <a:tcPr anchor="ctr">
                    <a:solidFill>
                      <a:srgbClr val="EAF3F3"/>
                    </a:solidFill>
                  </a:tcPr>
                </a:tc>
                <a:extLst>
                  <a:ext uri="{0D108BD9-81ED-4DB2-BD59-A6C34878D82A}">
                    <a16:rowId xmlns:a16="http://schemas.microsoft.com/office/drawing/2014/main" val="10006"/>
                  </a:ext>
                </a:extLst>
              </a:tr>
            </a:tbl>
          </a:graphicData>
        </a:graphic>
      </p:graphicFrame>
      <p:sp>
        <p:nvSpPr>
          <p:cNvPr id="6" name="Balanced accuracy = (recall + specificity) / 2. B1 has the lowest">
            <a:extLst>
              <a:ext uri="{FF2B5EF4-FFF2-40B4-BE49-F238E27FC236}">
                <a16:creationId xmlns:a16="http://schemas.microsoft.com/office/drawing/2014/main" id="{29A46C49-C33D-4CE2-BCA1-133659141923}"/>
              </a:ext>
            </a:extLst>
          </p:cNvPr>
          <p:cNvSpPr>
            <a:spLocks noGrp="1"/>
          </p:cNvSpPr>
          <p:nvPr/>
        </p:nvSpPr>
        <p:spPr>
          <a:xfrm>
            <a:off x="628650" y="5695950"/>
            <a:ext cx="10934700" cy="409575"/>
          </a:xfrm>
          <a:prstGeom prst="rect">
            <a:avLst/>
          </a:prstGeom>
          <a:noFill/>
          <a:ln w="0">
            <a:noFill/>
          </a:ln>
        </p:spPr>
        <p:txBody>
          <a:bodyPr wrap="square" lIns="0" tIns="0" rIns="0" bIns="0" anchor="t">
            <a:noAutofit/>
          </a:bodyPr>
          <a:lstStyle/>
          <a:p>
            <a:pPr algn="l">
              <a:defRPr sz="1350" b="0">
                <a:solidFill>
                  <a:srgbClr val="526577"/>
                </a:solidFill>
                <a:latin typeface="Arial"/>
                <a:ea typeface="Arial"/>
                <a:cs typeface="Arial"/>
              </a:defRPr>
            </a:pPr>
            <a:r>
              <a:rPr sz="1350" b="0">
                <a:solidFill>
                  <a:srgbClr val="526577"/>
                </a:solidFill>
                <a:latin typeface="Arial"/>
                <a:ea typeface="Arial"/>
                <a:cs typeface="Arial"/>
              </a:rPr>
              <a:t>Balanced accuracy = (recall + specificity) / 2. B1 has the lowest recall, while B5 has very low precision.</a:t>
            </a:r>
          </a:p>
        </p:txBody>
      </p:sp>
    </p:spTree>
    <p:extLst>
      <p:ext uri="{BB962C8B-B14F-4D97-AF65-F5344CB8AC3E}">
        <p14:creationId xmlns:p14="http://schemas.microsoft.com/office/powerpoint/2010/main" val="21152340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Baseline confusion counts">
            <a:extLst>
              <a:ext uri="{FF2B5EF4-FFF2-40B4-BE49-F238E27FC236}">
                <a16:creationId xmlns:a16="http://schemas.microsoft.com/office/drawing/2014/main" id="{9CF5BBAB-3375-4176-BBDE-048818548A25}"/>
              </a:ext>
            </a:extLst>
          </p:cNvPr>
          <p:cNvSpPr>
            <a:spLocks noGrp="1"/>
          </p:cNvSpPr>
          <p:nvPr/>
        </p:nvSpPr>
        <p:spPr>
          <a:xfrm>
            <a:off x="609600" y="428625"/>
            <a:ext cx="10972800" cy="609600"/>
          </a:xfrm>
          <a:prstGeom prst="rect">
            <a:avLst/>
          </a:prstGeom>
          <a:noFill/>
          <a:ln w="0">
            <a:noFill/>
          </a:ln>
        </p:spPr>
        <p:txBody>
          <a:bodyPr wrap="square" lIns="0" tIns="0" rIns="0" bIns="0" anchor="t">
            <a:noAutofit/>
          </a:bodyPr>
          <a:lstStyle/>
          <a:p>
            <a:pPr algn="l">
              <a:defRPr sz="3225" b="1">
                <a:solidFill>
                  <a:srgbClr val="152B3C"/>
                </a:solidFill>
                <a:latin typeface="Arial"/>
                <a:ea typeface="Arial"/>
                <a:cs typeface="Arial"/>
              </a:defRPr>
            </a:pPr>
            <a:r>
              <a:rPr sz="3225" b="1">
                <a:solidFill>
                  <a:srgbClr val="152B3C"/>
                </a:solidFill>
                <a:latin typeface="Arial"/>
                <a:ea typeface="Arial"/>
                <a:cs typeface="Arial"/>
              </a:rPr>
              <a:t>Baseline confusion counts</a:t>
            </a:r>
          </a:p>
        </p:txBody>
      </p:sp>
      <p:sp>
        <p:nvSpPr>
          <p:cNvPr id="2" name="Hotspot is the positive class. Each row contains the four cells o">
            <a:extLst>
              <a:ext uri="{FF2B5EF4-FFF2-40B4-BE49-F238E27FC236}">
                <a16:creationId xmlns:a16="http://schemas.microsoft.com/office/drawing/2014/main" id="{5B6EBC02-4012-463E-9243-C8348B729D7A}"/>
              </a:ext>
            </a:extLst>
          </p:cNvPr>
          <p:cNvSpPr>
            <a:spLocks noGrp="1"/>
          </p:cNvSpPr>
          <p:nvPr/>
        </p:nvSpPr>
        <p:spPr>
          <a:xfrm>
            <a:off x="628650" y="1152525"/>
            <a:ext cx="10934700" cy="476250"/>
          </a:xfrm>
          <a:prstGeom prst="rect">
            <a:avLst/>
          </a:prstGeom>
          <a:noFill/>
          <a:ln w="0">
            <a:noFill/>
          </a:ln>
        </p:spPr>
        <p:txBody>
          <a:bodyPr wrap="square" lIns="0" tIns="0" rIns="0" bIns="0" anchor="t">
            <a:noAutofit/>
          </a:bodyPr>
          <a:lstStyle/>
          <a:p>
            <a:pPr algn="l">
              <a:defRPr sz="1800" b="0">
                <a:solidFill>
                  <a:srgbClr val="526577"/>
                </a:solidFill>
                <a:latin typeface="Arial"/>
                <a:ea typeface="Arial"/>
                <a:cs typeface="Arial"/>
              </a:defRPr>
            </a:pPr>
            <a:r>
              <a:rPr sz="1800" b="0">
                <a:solidFill>
                  <a:srgbClr val="526577"/>
                </a:solidFill>
                <a:latin typeface="Arial"/>
                <a:ea typeface="Arial"/>
                <a:cs typeface="Arial"/>
              </a:rPr>
              <a:t>Hotspot is the positive class. Each row contains the four cells of a binary confusion matrix.</a:t>
            </a:r>
          </a:p>
        </p:txBody>
      </p:sp>
      <p:sp>
        <p:nvSpPr>
          <p:cNvPr id="3" name="G19">
            <a:extLst>
              <a:ext uri="{FF2B5EF4-FFF2-40B4-BE49-F238E27FC236}">
                <a16:creationId xmlns:a16="http://schemas.microsoft.com/office/drawing/2014/main" id="{58D8C458-922F-446A-9246-9CD74C9C0B6F}"/>
              </a:ext>
            </a:extLst>
          </p:cNvPr>
          <p:cNvSpPr>
            <a:spLocks noGrp="1"/>
          </p:cNvSpPr>
          <p:nvPr/>
        </p:nvSpPr>
        <p:spPr>
          <a:xfrm>
            <a:off x="609600" y="6467475"/>
            <a:ext cx="952500" cy="219075"/>
          </a:xfrm>
          <a:prstGeom prst="rect">
            <a:avLst/>
          </a:prstGeom>
          <a:noFill/>
          <a:ln w="0">
            <a:noFill/>
          </a:ln>
        </p:spPr>
        <p:txBody>
          <a:bodyPr wrap="square" lIns="0" tIns="0" rIns="0" bIns="0" anchor="t">
            <a:noAutofit/>
          </a:bodyPr>
          <a:lstStyle/>
          <a:p>
            <a:pPr algn="l">
              <a:defRPr sz="1200" b="0">
                <a:solidFill>
                  <a:srgbClr val="526577"/>
                </a:solidFill>
                <a:latin typeface="Arial"/>
                <a:ea typeface="Arial"/>
                <a:cs typeface="Arial"/>
              </a:defRPr>
            </a:pPr>
            <a:r>
              <a:rPr sz="1200" b="0">
                <a:solidFill>
                  <a:srgbClr val="526577"/>
                </a:solidFill>
                <a:latin typeface="Arial"/>
                <a:ea typeface="Arial"/>
                <a:cs typeface="Arial"/>
              </a:rPr>
              <a:t>G19</a:t>
            </a:r>
          </a:p>
        </p:txBody>
      </p:sp>
      <p:sp>
        <p:nvSpPr>
          <p:cNvPr id="4" name="09">
            <a:extLst>
              <a:ext uri="{FF2B5EF4-FFF2-40B4-BE49-F238E27FC236}">
                <a16:creationId xmlns:a16="http://schemas.microsoft.com/office/drawing/2014/main" id="{9DB93BAE-BB19-4BAA-8EAB-A340F4E7582F}"/>
              </a:ext>
            </a:extLst>
          </p:cNvPr>
          <p:cNvSpPr>
            <a:spLocks noGrp="1"/>
          </p:cNvSpPr>
          <p:nvPr/>
        </p:nvSpPr>
        <p:spPr>
          <a:xfrm>
            <a:off x="10991850" y="6467475"/>
            <a:ext cx="571500" cy="219075"/>
          </a:xfrm>
          <a:prstGeom prst="rect">
            <a:avLst/>
          </a:prstGeom>
          <a:noFill/>
          <a:ln w="0">
            <a:noFill/>
          </a:ln>
        </p:spPr>
        <p:txBody>
          <a:bodyPr wrap="square" lIns="0" tIns="0" rIns="0" bIns="0" anchor="t">
            <a:noAutofit/>
          </a:bodyPr>
          <a:lstStyle/>
          <a:p>
            <a:pPr algn="r">
              <a:defRPr sz="1200" b="0">
                <a:solidFill>
                  <a:srgbClr val="526577"/>
                </a:solidFill>
                <a:latin typeface="Arial"/>
                <a:ea typeface="Arial"/>
                <a:cs typeface="Arial"/>
              </a:defRPr>
            </a:pPr>
            <a:r>
              <a:rPr sz="1200" b="0">
                <a:solidFill>
                  <a:srgbClr val="526577"/>
                </a:solidFill>
                <a:latin typeface="Arial"/>
                <a:ea typeface="Arial"/>
                <a:cs typeface="Arial"/>
              </a:rPr>
              <a:t>09</a:t>
            </a:r>
          </a:p>
        </p:txBody>
      </p:sp>
      <p:graphicFrame>
        <p:nvGraphicFramePr>
          <p:cNvPr id="12" name="Table 11"/>
          <p:cNvGraphicFramePr/>
          <p:nvPr/>
        </p:nvGraphicFramePr>
        <p:xfrm>
          <a:off x="628650" y="1914525"/>
          <a:ext cx="10934700" cy="3028950"/>
        </p:xfrm>
        <a:graphic>
          <a:graphicData uri="http://schemas.openxmlformats.org/drawingml/2006/table">
            <a:tbl>
              <a:tblPr/>
              <a:tblGrid>
                <a:gridCol w="1905000">
                  <a:extLst>
                    <a:ext uri="{9D8B030D-6E8A-4147-A177-3AD203B41FA5}">
                      <a16:colId xmlns:a16="http://schemas.microsoft.com/office/drawing/2014/main" val="20000"/>
                    </a:ext>
                  </a:extLst>
                </a:gridCol>
                <a:gridCol w="2257425">
                  <a:extLst>
                    <a:ext uri="{9D8B030D-6E8A-4147-A177-3AD203B41FA5}">
                      <a16:colId xmlns:a16="http://schemas.microsoft.com/office/drawing/2014/main" val="20001"/>
                    </a:ext>
                  </a:extLst>
                </a:gridCol>
                <a:gridCol w="2257425">
                  <a:extLst>
                    <a:ext uri="{9D8B030D-6E8A-4147-A177-3AD203B41FA5}">
                      <a16:colId xmlns:a16="http://schemas.microsoft.com/office/drawing/2014/main" val="20002"/>
                    </a:ext>
                  </a:extLst>
                </a:gridCol>
                <a:gridCol w="2257425">
                  <a:extLst>
                    <a:ext uri="{9D8B030D-6E8A-4147-A177-3AD203B41FA5}">
                      <a16:colId xmlns:a16="http://schemas.microsoft.com/office/drawing/2014/main" val="20003"/>
                    </a:ext>
                  </a:extLst>
                </a:gridCol>
                <a:gridCol w="2257425">
                  <a:extLst>
                    <a:ext uri="{9D8B030D-6E8A-4147-A177-3AD203B41FA5}">
                      <a16:colId xmlns:a16="http://schemas.microsoft.com/office/drawing/2014/main" val="20004"/>
                    </a:ext>
                  </a:extLst>
                </a:gridCol>
              </a:tblGrid>
              <a:tr h="504825">
                <a:tc>
                  <a:txBody>
                    <a:bodyPr/>
                    <a:lstStyle/>
                    <a:p>
                      <a:pPr algn="l"/>
                      <a:r>
                        <a:rPr sz="1725" b="1">
                          <a:solidFill>
                            <a:srgbClr val="FFFFFF"/>
                          </a:solidFill>
                          <a:latin typeface="Arial"/>
                          <a:ea typeface="Arial"/>
                          <a:cs typeface="Arial"/>
                        </a:rPr>
                        <a:t>Benchmark</a:t>
                      </a:r>
                    </a:p>
                  </a:txBody>
                  <a:tcPr anchor="ctr">
                    <a:solidFill>
                      <a:srgbClr val="152B3C"/>
                    </a:solidFill>
                  </a:tcPr>
                </a:tc>
                <a:tc>
                  <a:txBody>
                    <a:bodyPr/>
                    <a:lstStyle/>
                    <a:p>
                      <a:pPr algn="ctr"/>
                      <a:r>
                        <a:rPr sz="1725" b="1">
                          <a:solidFill>
                            <a:srgbClr val="FFFFFF"/>
                          </a:solidFill>
                          <a:latin typeface="Arial"/>
                          <a:ea typeface="Arial"/>
                          <a:cs typeface="Arial"/>
                        </a:rPr>
                        <a:t>True positive</a:t>
                      </a:r>
                    </a:p>
                  </a:txBody>
                  <a:tcPr anchor="ctr">
                    <a:solidFill>
                      <a:srgbClr val="152B3C"/>
                    </a:solidFill>
                  </a:tcPr>
                </a:tc>
                <a:tc>
                  <a:txBody>
                    <a:bodyPr/>
                    <a:lstStyle/>
                    <a:p>
                      <a:pPr algn="ctr"/>
                      <a:r>
                        <a:rPr sz="1725" b="1">
                          <a:solidFill>
                            <a:srgbClr val="FFFFFF"/>
                          </a:solidFill>
                          <a:latin typeface="Arial"/>
                          <a:ea typeface="Arial"/>
                          <a:cs typeface="Arial"/>
                        </a:rPr>
                        <a:t>False positive</a:t>
                      </a:r>
                    </a:p>
                  </a:txBody>
                  <a:tcPr anchor="ctr">
                    <a:solidFill>
                      <a:srgbClr val="152B3C"/>
                    </a:solidFill>
                  </a:tcPr>
                </a:tc>
                <a:tc>
                  <a:txBody>
                    <a:bodyPr/>
                    <a:lstStyle/>
                    <a:p>
                      <a:pPr algn="ctr"/>
                      <a:r>
                        <a:rPr sz="1725" b="1">
                          <a:solidFill>
                            <a:srgbClr val="FFFFFF"/>
                          </a:solidFill>
                          <a:latin typeface="Arial"/>
                          <a:ea typeface="Arial"/>
                          <a:cs typeface="Arial"/>
                        </a:rPr>
                        <a:t>False negative</a:t>
                      </a:r>
                    </a:p>
                  </a:txBody>
                  <a:tcPr anchor="ctr">
                    <a:solidFill>
                      <a:srgbClr val="152B3C"/>
                    </a:solidFill>
                  </a:tcPr>
                </a:tc>
                <a:tc>
                  <a:txBody>
                    <a:bodyPr/>
                    <a:lstStyle/>
                    <a:p>
                      <a:pPr algn="ctr"/>
                      <a:r>
                        <a:rPr sz="1725" b="1">
                          <a:solidFill>
                            <a:srgbClr val="FFFFFF"/>
                          </a:solidFill>
                          <a:latin typeface="Arial"/>
                          <a:ea typeface="Arial"/>
                          <a:cs typeface="Arial"/>
                        </a:rPr>
                        <a:t>True negative</a:t>
                      </a:r>
                    </a:p>
                  </a:txBody>
                  <a:tcPr anchor="ctr">
                    <a:solidFill>
                      <a:srgbClr val="152B3C"/>
                    </a:solidFill>
                  </a:tcPr>
                </a:tc>
                <a:extLst>
                  <a:ext uri="{0D108BD9-81ED-4DB2-BD59-A6C34878D82A}">
                    <a16:rowId xmlns:a16="http://schemas.microsoft.com/office/drawing/2014/main" val="10000"/>
                  </a:ext>
                </a:extLst>
              </a:tr>
              <a:tr h="504825">
                <a:tc>
                  <a:txBody>
                    <a:bodyPr/>
                    <a:lstStyle/>
                    <a:p>
                      <a:pPr algn="l"/>
                      <a:r>
                        <a:rPr sz="1725" b="0">
                          <a:solidFill>
                            <a:srgbClr val="172E40"/>
                          </a:solidFill>
                          <a:latin typeface="Arial"/>
                          <a:ea typeface="Arial"/>
                          <a:cs typeface="Arial"/>
                        </a:rPr>
                        <a:t>B1</a:t>
                      </a:r>
                    </a:p>
                  </a:txBody>
                  <a:tcPr anchor="ctr">
                    <a:solidFill>
                      <a:srgbClr val="FFFFFF"/>
                    </a:solidFill>
                  </a:tcPr>
                </a:tc>
                <a:tc>
                  <a:txBody>
                    <a:bodyPr/>
                    <a:lstStyle/>
                    <a:p>
                      <a:pPr algn="ctr"/>
                      <a:r>
                        <a:rPr sz="1725" b="0">
                          <a:solidFill>
                            <a:srgbClr val="172E40"/>
                          </a:solidFill>
                          <a:latin typeface="Arial"/>
                          <a:ea typeface="Arial"/>
                          <a:cs typeface="Arial"/>
                        </a:rPr>
                        <a:t>120</a:t>
                      </a:r>
                    </a:p>
                  </a:txBody>
                  <a:tcPr anchor="ctr">
                    <a:solidFill>
                      <a:srgbClr val="FFFFFF"/>
                    </a:solidFill>
                  </a:tcPr>
                </a:tc>
                <a:tc>
                  <a:txBody>
                    <a:bodyPr/>
                    <a:lstStyle/>
                    <a:p>
                      <a:pPr algn="ctr"/>
                      <a:r>
                        <a:rPr sz="1725" b="0">
                          <a:solidFill>
                            <a:srgbClr val="172E40"/>
                          </a:solidFill>
                          <a:latin typeface="Arial"/>
                          <a:ea typeface="Arial"/>
                          <a:cs typeface="Arial"/>
                        </a:rPr>
                        <a:t>143</a:t>
                      </a:r>
                    </a:p>
                  </a:txBody>
                  <a:tcPr anchor="ctr">
                    <a:solidFill>
                      <a:srgbClr val="FFFFFF"/>
                    </a:solidFill>
                  </a:tcPr>
                </a:tc>
                <a:tc>
                  <a:txBody>
                    <a:bodyPr/>
                    <a:lstStyle/>
                    <a:p>
                      <a:pPr algn="ctr"/>
                      <a:r>
                        <a:rPr sz="1725" b="0">
                          <a:solidFill>
                            <a:srgbClr val="172E40"/>
                          </a:solidFill>
                          <a:latin typeface="Arial"/>
                          <a:ea typeface="Arial"/>
                          <a:cs typeface="Arial"/>
                        </a:rPr>
                        <a:t>106</a:t>
                      </a:r>
                    </a:p>
                  </a:txBody>
                  <a:tcPr anchor="ctr">
                    <a:solidFill>
                      <a:srgbClr val="FFFFFF"/>
                    </a:solidFill>
                  </a:tcPr>
                </a:tc>
                <a:tc>
                  <a:txBody>
                    <a:bodyPr/>
                    <a:lstStyle/>
                    <a:p>
                      <a:pPr algn="ctr"/>
                      <a:r>
                        <a:rPr sz="1725" b="0">
                          <a:solidFill>
                            <a:srgbClr val="172E40"/>
                          </a:solidFill>
                          <a:latin typeface="Arial"/>
                          <a:ea typeface="Arial"/>
                          <a:cs typeface="Arial"/>
                        </a:rPr>
                        <a:t>4,536</a:t>
                      </a:r>
                    </a:p>
                  </a:txBody>
                  <a:tcPr anchor="ctr">
                    <a:solidFill>
                      <a:srgbClr val="FFFFFF"/>
                    </a:solidFill>
                  </a:tcPr>
                </a:tc>
                <a:extLst>
                  <a:ext uri="{0D108BD9-81ED-4DB2-BD59-A6C34878D82A}">
                    <a16:rowId xmlns:a16="http://schemas.microsoft.com/office/drawing/2014/main" val="10001"/>
                  </a:ext>
                </a:extLst>
              </a:tr>
              <a:tr h="504825">
                <a:tc>
                  <a:txBody>
                    <a:bodyPr/>
                    <a:lstStyle/>
                    <a:p>
                      <a:pPr algn="l"/>
                      <a:r>
                        <a:rPr sz="1725" b="0">
                          <a:solidFill>
                            <a:srgbClr val="172E40"/>
                          </a:solidFill>
                          <a:latin typeface="Arial"/>
                          <a:ea typeface="Arial"/>
                          <a:cs typeface="Arial"/>
                        </a:rPr>
                        <a:t>B2</a:t>
                      </a:r>
                    </a:p>
                  </a:txBody>
                  <a:tcPr anchor="ctr">
                    <a:solidFill>
                      <a:srgbClr val="F4F7FA"/>
                    </a:solidFill>
                  </a:tcPr>
                </a:tc>
                <a:tc>
                  <a:txBody>
                    <a:bodyPr/>
                    <a:lstStyle/>
                    <a:p>
                      <a:pPr algn="ctr"/>
                      <a:r>
                        <a:rPr sz="1725" b="0">
                          <a:solidFill>
                            <a:srgbClr val="172E40"/>
                          </a:solidFill>
                          <a:latin typeface="Arial"/>
                          <a:ea typeface="Arial"/>
                          <a:cs typeface="Arial"/>
                        </a:rPr>
                        <a:t>495</a:t>
                      </a:r>
                    </a:p>
                  </a:txBody>
                  <a:tcPr anchor="ctr">
                    <a:solidFill>
                      <a:srgbClr val="F4F7FA"/>
                    </a:solidFill>
                  </a:tcPr>
                </a:tc>
                <a:tc>
                  <a:txBody>
                    <a:bodyPr/>
                    <a:lstStyle/>
                    <a:p>
                      <a:pPr algn="ctr"/>
                      <a:r>
                        <a:rPr sz="1725" b="0">
                          <a:solidFill>
                            <a:srgbClr val="172E40"/>
                          </a:solidFill>
                          <a:latin typeface="Arial"/>
                          <a:ea typeface="Arial"/>
                          <a:cs typeface="Arial"/>
                        </a:rPr>
                        <a:t>791</a:t>
                      </a:r>
                    </a:p>
                  </a:txBody>
                  <a:tcPr anchor="ctr">
                    <a:solidFill>
                      <a:srgbClr val="F4F7FA"/>
                    </a:solidFill>
                  </a:tcPr>
                </a:tc>
                <a:tc>
                  <a:txBody>
                    <a:bodyPr/>
                    <a:lstStyle/>
                    <a:p>
                      <a:pPr algn="ctr"/>
                      <a:r>
                        <a:rPr sz="1725" b="0">
                          <a:solidFill>
                            <a:srgbClr val="172E40"/>
                          </a:solidFill>
                          <a:latin typeface="Arial"/>
                          <a:ea typeface="Arial"/>
                          <a:cs typeface="Arial"/>
                        </a:rPr>
                        <a:t>3</a:t>
                      </a:r>
                    </a:p>
                  </a:txBody>
                  <a:tcPr anchor="ctr">
                    <a:solidFill>
                      <a:srgbClr val="F4F7FA"/>
                    </a:solidFill>
                  </a:tcPr>
                </a:tc>
                <a:tc>
                  <a:txBody>
                    <a:bodyPr/>
                    <a:lstStyle/>
                    <a:p>
                      <a:pPr algn="ctr"/>
                      <a:r>
                        <a:rPr sz="1725" b="0">
                          <a:solidFill>
                            <a:srgbClr val="172E40"/>
                          </a:solidFill>
                          <a:latin typeface="Arial"/>
                          <a:ea typeface="Arial"/>
                          <a:cs typeface="Arial"/>
                        </a:rPr>
                        <a:t>40,507</a:t>
                      </a:r>
                    </a:p>
                  </a:txBody>
                  <a:tcPr anchor="ctr">
                    <a:solidFill>
                      <a:srgbClr val="F4F7FA"/>
                    </a:solidFill>
                  </a:tcPr>
                </a:tc>
                <a:extLst>
                  <a:ext uri="{0D108BD9-81ED-4DB2-BD59-A6C34878D82A}">
                    <a16:rowId xmlns:a16="http://schemas.microsoft.com/office/drawing/2014/main" val="10002"/>
                  </a:ext>
                </a:extLst>
              </a:tr>
              <a:tr h="504825">
                <a:tc>
                  <a:txBody>
                    <a:bodyPr/>
                    <a:lstStyle/>
                    <a:p>
                      <a:pPr algn="l"/>
                      <a:r>
                        <a:rPr sz="1725" b="0">
                          <a:solidFill>
                            <a:srgbClr val="172E40"/>
                          </a:solidFill>
                          <a:latin typeface="Arial"/>
                          <a:ea typeface="Arial"/>
                          <a:cs typeface="Arial"/>
                        </a:rPr>
                        <a:t>B3</a:t>
                      </a:r>
                    </a:p>
                  </a:txBody>
                  <a:tcPr anchor="ctr">
                    <a:solidFill>
                      <a:srgbClr val="FFFFFF"/>
                    </a:solidFill>
                  </a:tcPr>
                </a:tc>
                <a:tc>
                  <a:txBody>
                    <a:bodyPr/>
                    <a:lstStyle/>
                    <a:p>
                      <a:pPr algn="ctr"/>
                      <a:r>
                        <a:rPr sz="1725" b="0">
                          <a:solidFill>
                            <a:srgbClr val="172E40"/>
                          </a:solidFill>
                          <a:latin typeface="Arial"/>
                          <a:ea typeface="Arial"/>
                          <a:cs typeface="Arial"/>
                        </a:rPr>
                        <a:t>1,771</a:t>
                      </a:r>
                    </a:p>
                  </a:txBody>
                  <a:tcPr anchor="ctr">
                    <a:solidFill>
                      <a:srgbClr val="FFFFFF"/>
                    </a:solidFill>
                  </a:tcPr>
                </a:tc>
                <a:tc>
                  <a:txBody>
                    <a:bodyPr/>
                    <a:lstStyle/>
                    <a:p>
                      <a:pPr algn="ctr"/>
                      <a:r>
                        <a:rPr sz="1725" b="0">
                          <a:solidFill>
                            <a:srgbClr val="172E40"/>
                          </a:solidFill>
                          <a:latin typeface="Arial"/>
                          <a:ea typeface="Arial"/>
                          <a:cs typeface="Arial"/>
                        </a:rPr>
                        <a:t>2,268</a:t>
                      </a:r>
                    </a:p>
                  </a:txBody>
                  <a:tcPr anchor="ctr">
                    <a:solidFill>
                      <a:srgbClr val="FFFFFF"/>
                    </a:solidFill>
                  </a:tcPr>
                </a:tc>
                <a:tc>
                  <a:txBody>
                    <a:bodyPr/>
                    <a:lstStyle/>
                    <a:p>
                      <a:pPr algn="ctr"/>
                      <a:r>
                        <a:rPr sz="1725" b="0">
                          <a:solidFill>
                            <a:srgbClr val="172E40"/>
                          </a:solidFill>
                          <a:latin typeface="Arial"/>
                          <a:ea typeface="Arial"/>
                          <a:cs typeface="Arial"/>
                        </a:rPr>
                        <a:t>37</a:t>
                      </a:r>
                    </a:p>
                  </a:txBody>
                  <a:tcPr anchor="ctr">
                    <a:solidFill>
                      <a:srgbClr val="FFFFFF"/>
                    </a:solidFill>
                  </a:tcPr>
                </a:tc>
                <a:tc>
                  <a:txBody>
                    <a:bodyPr/>
                    <a:lstStyle/>
                    <a:p>
                      <a:pPr algn="ctr"/>
                      <a:r>
                        <a:rPr sz="1725" b="0">
                          <a:solidFill>
                            <a:srgbClr val="172E40"/>
                          </a:solidFill>
                          <a:latin typeface="Arial"/>
                          <a:ea typeface="Arial"/>
                          <a:cs typeface="Arial"/>
                        </a:rPr>
                        <a:t>44,065</a:t>
                      </a:r>
                    </a:p>
                  </a:txBody>
                  <a:tcPr anchor="ctr">
                    <a:solidFill>
                      <a:srgbClr val="FFFFFF"/>
                    </a:solidFill>
                  </a:tcPr>
                </a:tc>
                <a:extLst>
                  <a:ext uri="{0D108BD9-81ED-4DB2-BD59-A6C34878D82A}">
                    <a16:rowId xmlns:a16="http://schemas.microsoft.com/office/drawing/2014/main" val="10003"/>
                  </a:ext>
                </a:extLst>
              </a:tr>
              <a:tr h="504825">
                <a:tc>
                  <a:txBody>
                    <a:bodyPr/>
                    <a:lstStyle/>
                    <a:p>
                      <a:pPr algn="l"/>
                      <a:r>
                        <a:rPr sz="1725" b="0">
                          <a:solidFill>
                            <a:srgbClr val="172E40"/>
                          </a:solidFill>
                          <a:latin typeface="Arial"/>
                          <a:ea typeface="Arial"/>
                          <a:cs typeface="Arial"/>
                        </a:rPr>
                        <a:t>B4</a:t>
                      </a:r>
                    </a:p>
                  </a:txBody>
                  <a:tcPr anchor="ctr">
                    <a:solidFill>
                      <a:srgbClr val="F4F7FA"/>
                    </a:solidFill>
                  </a:tcPr>
                </a:tc>
                <a:tc>
                  <a:txBody>
                    <a:bodyPr/>
                    <a:lstStyle/>
                    <a:p>
                      <a:pPr algn="ctr"/>
                      <a:r>
                        <a:rPr sz="1725" b="0">
                          <a:solidFill>
                            <a:srgbClr val="172E40"/>
                          </a:solidFill>
                          <a:latin typeface="Arial"/>
                          <a:ea typeface="Arial"/>
                          <a:cs typeface="Arial"/>
                        </a:rPr>
                        <a:t>172</a:t>
                      </a:r>
                    </a:p>
                  </a:txBody>
                  <a:tcPr anchor="ctr">
                    <a:solidFill>
                      <a:srgbClr val="F4F7FA"/>
                    </a:solidFill>
                  </a:tcPr>
                </a:tc>
                <a:tc>
                  <a:txBody>
                    <a:bodyPr/>
                    <a:lstStyle/>
                    <a:p>
                      <a:pPr algn="ctr"/>
                      <a:r>
                        <a:rPr sz="1725" b="0">
                          <a:solidFill>
                            <a:srgbClr val="172E40"/>
                          </a:solidFill>
                          <a:latin typeface="Arial"/>
                          <a:ea typeface="Arial"/>
                          <a:cs typeface="Arial"/>
                        </a:rPr>
                        <a:t>1,252</a:t>
                      </a:r>
                    </a:p>
                  </a:txBody>
                  <a:tcPr anchor="ctr">
                    <a:solidFill>
                      <a:srgbClr val="F4F7FA"/>
                    </a:solidFill>
                  </a:tcPr>
                </a:tc>
                <a:tc>
                  <a:txBody>
                    <a:bodyPr/>
                    <a:lstStyle/>
                    <a:p>
                      <a:pPr algn="ctr"/>
                      <a:r>
                        <a:rPr sz="1725" b="0">
                          <a:solidFill>
                            <a:srgbClr val="172E40"/>
                          </a:solidFill>
                          <a:latin typeface="Arial"/>
                          <a:ea typeface="Arial"/>
                          <a:cs typeface="Arial"/>
                        </a:rPr>
                        <a:t>5</a:t>
                      </a:r>
                    </a:p>
                  </a:txBody>
                  <a:tcPr anchor="ctr">
                    <a:solidFill>
                      <a:srgbClr val="F4F7FA"/>
                    </a:solidFill>
                  </a:tcPr>
                </a:tc>
                <a:tc>
                  <a:txBody>
                    <a:bodyPr/>
                    <a:lstStyle/>
                    <a:p>
                      <a:pPr algn="ctr"/>
                      <a:r>
                        <a:rPr sz="1725" b="0">
                          <a:solidFill>
                            <a:srgbClr val="172E40"/>
                          </a:solidFill>
                          <a:latin typeface="Arial"/>
                          <a:ea typeface="Arial"/>
                          <a:cs typeface="Arial"/>
                        </a:rPr>
                        <a:t>30,638</a:t>
                      </a:r>
                    </a:p>
                  </a:txBody>
                  <a:tcPr anchor="ctr">
                    <a:solidFill>
                      <a:srgbClr val="F4F7FA"/>
                    </a:solidFill>
                  </a:tcPr>
                </a:tc>
                <a:extLst>
                  <a:ext uri="{0D108BD9-81ED-4DB2-BD59-A6C34878D82A}">
                    <a16:rowId xmlns:a16="http://schemas.microsoft.com/office/drawing/2014/main" val="10004"/>
                  </a:ext>
                </a:extLst>
              </a:tr>
              <a:tr h="504825">
                <a:tc>
                  <a:txBody>
                    <a:bodyPr/>
                    <a:lstStyle/>
                    <a:p>
                      <a:pPr algn="l"/>
                      <a:r>
                        <a:rPr sz="1725" b="0">
                          <a:solidFill>
                            <a:srgbClr val="172E40"/>
                          </a:solidFill>
                          <a:latin typeface="Arial"/>
                          <a:ea typeface="Arial"/>
                          <a:cs typeface="Arial"/>
                        </a:rPr>
                        <a:t>B5</a:t>
                      </a:r>
                    </a:p>
                  </a:txBody>
                  <a:tcPr anchor="ctr">
                    <a:solidFill>
                      <a:srgbClr val="FFFFFF"/>
                    </a:solidFill>
                  </a:tcPr>
                </a:tc>
                <a:tc>
                  <a:txBody>
                    <a:bodyPr/>
                    <a:lstStyle/>
                    <a:p>
                      <a:pPr algn="ctr"/>
                      <a:r>
                        <a:rPr sz="1725" b="0">
                          <a:solidFill>
                            <a:srgbClr val="172E40"/>
                          </a:solidFill>
                          <a:latin typeface="Arial"/>
                          <a:ea typeface="Arial"/>
                          <a:cs typeface="Arial"/>
                        </a:rPr>
                        <a:t>38</a:t>
                      </a:r>
                    </a:p>
                  </a:txBody>
                  <a:tcPr anchor="ctr">
                    <a:solidFill>
                      <a:srgbClr val="FFFFFF"/>
                    </a:solidFill>
                  </a:tcPr>
                </a:tc>
                <a:tc>
                  <a:txBody>
                    <a:bodyPr/>
                    <a:lstStyle/>
                    <a:p>
                      <a:pPr algn="ctr"/>
                      <a:r>
                        <a:rPr sz="1725" b="0">
                          <a:solidFill>
                            <a:srgbClr val="172E40"/>
                          </a:solidFill>
                          <a:latin typeface="Arial"/>
                          <a:ea typeface="Arial"/>
                          <a:cs typeface="Arial"/>
                        </a:rPr>
                        <a:t>1,062</a:t>
                      </a:r>
                    </a:p>
                  </a:txBody>
                  <a:tcPr anchor="ctr">
                    <a:solidFill>
                      <a:srgbClr val="FFFFFF"/>
                    </a:solidFill>
                  </a:tcPr>
                </a:tc>
                <a:tc>
                  <a:txBody>
                    <a:bodyPr/>
                    <a:lstStyle/>
                    <a:p>
                      <a:pPr algn="ctr"/>
                      <a:r>
                        <a:rPr sz="1725" b="0">
                          <a:solidFill>
                            <a:srgbClr val="172E40"/>
                          </a:solidFill>
                          <a:latin typeface="Arial"/>
                          <a:ea typeface="Arial"/>
                          <a:cs typeface="Arial"/>
                        </a:rPr>
                        <a:t>3</a:t>
                      </a:r>
                    </a:p>
                  </a:txBody>
                  <a:tcPr anchor="ctr">
                    <a:solidFill>
                      <a:srgbClr val="FFFFFF"/>
                    </a:solidFill>
                  </a:tcPr>
                </a:tc>
                <a:tc>
                  <a:txBody>
                    <a:bodyPr/>
                    <a:lstStyle/>
                    <a:p>
                      <a:pPr algn="ctr"/>
                      <a:r>
                        <a:rPr sz="1725" b="0">
                          <a:solidFill>
                            <a:srgbClr val="172E40"/>
                          </a:solidFill>
                          <a:latin typeface="Arial"/>
                          <a:ea typeface="Arial"/>
                          <a:cs typeface="Arial"/>
                        </a:rPr>
                        <a:t>18,265</a:t>
                      </a:r>
                    </a:p>
                  </a:txBody>
                  <a:tcPr anchor="ctr">
                    <a:solidFill>
                      <a:srgbClr val="FFFFFF"/>
                    </a:solidFill>
                  </a:tcPr>
                </a:tc>
                <a:extLst>
                  <a:ext uri="{0D108BD9-81ED-4DB2-BD59-A6C34878D82A}">
                    <a16:rowId xmlns:a16="http://schemas.microsoft.com/office/drawing/2014/main" val="10005"/>
                  </a:ext>
                </a:extLst>
              </a:tr>
            </a:tbl>
          </a:graphicData>
        </a:graphic>
      </p:graphicFrame>
      <p:sp>
        <p:nvSpPr>
          <p:cNvPr id="6" name="106 of 154 baseline misses occur in B1">
            <a:extLst>
              <a:ext uri="{FF2B5EF4-FFF2-40B4-BE49-F238E27FC236}">
                <a16:creationId xmlns:a16="http://schemas.microsoft.com/office/drawing/2014/main" id="{327778AE-58CA-4B48-87D9-FFD08D390D4C}"/>
              </a:ext>
            </a:extLst>
          </p:cNvPr>
          <p:cNvSpPr>
            <a:spLocks noGrp="1"/>
          </p:cNvSpPr>
          <p:nvPr/>
        </p:nvSpPr>
        <p:spPr>
          <a:xfrm>
            <a:off x="628650" y="5286375"/>
            <a:ext cx="10763250" cy="409575"/>
          </a:xfrm>
          <a:prstGeom prst="rect">
            <a:avLst/>
          </a:prstGeom>
          <a:noFill/>
          <a:ln w="0">
            <a:noFill/>
          </a:ln>
        </p:spPr>
        <p:txBody>
          <a:bodyPr wrap="square" lIns="0" tIns="0" rIns="0" bIns="0" anchor="t">
            <a:noAutofit/>
          </a:bodyPr>
          <a:lstStyle/>
          <a:p>
            <a:pPr algn="l">
              <a:defRPr sz="2400" b="1">
                <a:solidFill>
                  <a:srgbClr val="087E82"/>
                </a:solidFill>
                <a:latin typeface="Arial"/>
                <a:ea typeface="Arial"/>
                <a:cs typeface="Arial"/>
              </a:defRPr>
            </a:pPr>
            <a:r>
              <a:rPr sz="2400" b="1">
                <a:solidFill>
                  <a:srgbClr val="087E82"/>
                </a:solidFill>
                <a:latin typeface="Arial"/>
                <a:ea typeface="Arial"/>
                <a:cs typeface="Arial"/>
              </a:rPr>
              <a:t>106 of 154 baseline misses occur in B1</a:t>
            </a:r>
          </a:p>
        </p:txBody>
      </p:sp>
      <p:sp>
        <p:nvSpPr>
          <p:cNvPr id="7" name="This makes B1 the main source of missed hotspots in the supplied ">
            <a:extLst>
              <a:ext uri="{FF2B5EF4-FFF2-40B4-BE49-F238E27FC236}">
                <a16:creationId xmlns:a16="http://schemas.microsoft.com/office/drawing/2014/main" id="{CAE8DB3D-DD7F-468D-9FA3-9252ECE85AF3}"/>
              </a:ext>
            </a:extLst>
          </p:cNvPr>
          <p:cNvSpPr>
            <a:spLocks noGrp="1"/>
          </p:cNvSpPr>
          <p:nvPr/>
        </p:nvSpPr>
        <p:spPr>
          <a:xfrm>
            <a:off x="628650" y="5972175"/>
            <a:ext cx="10934700" cy="409575"/>
          </a:xfrm>
          <a:prstGeom prst="rect">
            <a:avLst/>
          </a:prstGeom>
          <a:noFill/>
          <a:ln w="0">
            <a:noFill/>
          </a:ln>
        </p:spPr>
        <p:txBody>
          <a:bodyPr wrap="square" lIns="0" tIns="0" rIns="0" bIns="0" anchor="t">
            <a:noAutofit/>
          </a:bodyPr>
          <a:lstStyle/>
          <a:p>
            <a:pPr algn="l">
              <a:defRPr sz="1350" b="0">
                <a:solidFill>
                  <a:srgbClr val="526577"/>
                </a:solidFill>
                <a:latin typeface="Arial"/>
                <a:ea typeface="Arial"/>
                <a:cs typeface="Arial"/>
              </a:defRPr>
            </a:pPr>
            <a:r>
              <a:rPr sz="1350" b="0">
                <a:solidFill>
                  <a:srgbClr val="526577"/>
                </a:solidFill>
                <a:latin typeface="Arial"/>
                <a:ea typeface="Arial"/>
                <a:cs typeface="Arial"/>
              </a:rPr>
              <a:t>This makes B1 the main source of missed hotspots in the supplied baseline results.</a:t>
            </a:r>
          </a:p>
        </p:txBody>
      </p:sp>
    </p:spTree>
    <p:extLst>
      <p:ext uri="{BB962C8B-B14F-4D97-AF65-F5344CB8AC3E}">
        <p14:creationId xmlns:p14="http://schemas.microsoft.com/office/powerpoint/2010/main" val="9144667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Fewer hotspots pass unchecked after referral">
            <a:extLst>
              <a:ext uri="{FF2B5EF4-FFF2-40B4-BE49-F238E27FC236}">
                <a16:creationId xmlns:a16="http://schemas.microsoft.com/office/drawing/2014/main" id="{97478BBF-9878-4681-A163-9DF59BAA0A15}"/>
              </a:ext>
            </a:extLst>
          </p:cNvPr>
          <p:cNvSpPr>
            <a:spLocks noGrp="1"/>
          </p:cNvSpPr>
          <p:nvPr/>
        </p:nvSpPr>
        <p:spPr>
          <a:xfrm>
            <a:off x="609600" y="428625"/>
            <a:ext cx="10972800" cy="609600"/>
          </a:xfrm>
          <a:prstGeom prst="rect">
            <a:avLst/>
          </a:prstGeom>
          <a:noFill/>
          <a:ln w="0">
            <a:noFill/>
          </a:ln>
        </p:spPr>
        <p:txBody>
          <a:bodyPr wrap="square" lIns="0" tIns="0" rIns="0" bIns="0" anchor="t">
            <a:noAutofit/>
          </a:bodyPr>
          <a:lstStyle/>
          <a:p>
            <a:pPr algn="l">
              <a:defRPr sz="3225" b="1">
                <a:solidFill>
                  <a:srgbClr val="152B3C"/>
                </a:solidFill>
                <a:latin typeface="Arial"/>
                <a:ea typeface="Arial"/>
                <a:cs typeface="Arial"/>
              </a:defRPr>
            </a:pPr>
            <a:r>
              <a:rPr sz="3225" b="1">
                <a:solidFill>
                  <a:srgbClr val="152B3C"/>
                </a:solidFill>
                <a:latin typeface="Arial"/>
                <a:ea typeface="Arial"/>
                <a:cs typeface="Arial"/>
              </a:rPr>
              <a:t>Fewer hotspots pass unchecked after referral</a:t>
            </a:r>
          </a:p>
        </p:txBody>
      </p:sp>
      <p:sp>
        <p:nvSpPr>
          <p:cNvPr id="2" name="Featured thresholds: 0.20/0.80. Values show the share of real hot">
            <a:extLst>
              <a:ext uri="{FF2B5EF4-FFF2-40B4-BE49-F238E27FC236}">
                <a16:creationId xmlns:a16="http://schemas.microsoft.com/office/drawing/2014/main" id="{226E8E0E-B293-4446-A482-E94947A9151F}"/>
              </a:ext>
            </a:extLst>
          </p:cNvPr>
          <p:cNvSpPr>
            <a:spLocks noGrp="1"/>
          </p:cNvSpPr>
          <p:nvPr/>
        </p:nvSpPr>
        <p:spPr>
          <a:xfrm>
            <a:off x="628650" y="1152525"/>
            <a:ext cx="10934700" cy="476250"/>
          </a:xfrm>
          <a:prstGeom prst="rect">
            <a:avLst/>
          </a:prstGeom>
          <a:noFill/>
          <a:ln w="0">
            <a:noFill/>
          </a:ln>
        </p:spPr>
        <p:txBody>
          <a:bodyPr wrap="square" lIns="0" tIns="0" rIns="0" bIns="0" anchor="t">
            <a:noAutofit/>
          </a:bodyPr>
          <a:lstStyle/>
          <a:p>
            <a:pPr algn="l">
              <a:defRPr sz="1800" b="0">
                <a:solidFill>
                  <a:srgbClr val="526577"/>
                </a:solidFill>
                <a:latin typeface="Arial"/>
                <a:ea typeface="Arial"/>
                <a:cs typeface="Arial"/>
              </a:defRPr>
            </a:pPr>
            <a:r>
              <a:rPr sz="1800" b="0">
                <a:solidFill>
                  <a:srgbClr val="526577"/>
                </a:solidFill>
                <a:latin typeface="Arial"/>
                <a:ea typeface="Arial"/>
                <a:cs typeface="Arial"/>
              </a:rPr>
              <a:t>Featured thresholds: 0.20/0.80. Values show the share of real hotspots.</a:t>
            </a:r>
          </a:p>
        </p:txBody>
      </p:sp>
      <p:sp>
        <p:nvSpPr>
          <p:cNvPr id="3" name="G19">
            <a:extLst>
              <a:ext uri="{FF2B5EF4-FFF2-40B4-BE49-F238E27FC236}">
                <a16:creationId xmlns:a16="http://schemas.microsoft.com/office/drawing/2014/main" id="{B1CD3EC8-37B7-42E2-8778-0386907F8741}"/>
              </a:ext>
            </a:extLst>
          </p:cNvPr>
          <p:cNvSpPr>
            <a:spLocks noGrp="1"/>
          </p:cNvSpPr>
          <p:nvPr/>
        </p:nvSpPr>
        <p:spPr>
          <a:xfrm>
            <a:off x="609600" y="6467475"/>
            <a:ext cx="952500" cy="219075"/>
          </a:xfrm>
          <a:prstGeom prst="rect">
            <a:avLst/>
          </a:prstGeom>
          <a:noFill/>
          <a:ln w="0">
            <a:noFill/>
          </a:ln>
        </p:spPr>
        <p:txBody>
          <a:bodyPr wrap="square" lIns="0" tIns="0" rIns="0" bIns="0" anchor="t">
            <a:noAutofit/>
          </a:bodyPr>
          <a:lstStyle/>
          <a:p>
            <a:pPr algn="l">
              <a:defRPr sz="1200" b="0">
                <a:solidFill>
                  <a:srgbClr val="526577"/>
                </a:solidFill>
                <a:latin typeface="Arial"/>
                <a:ea typeface="Arial"/>
                <a:cs typeface="Arial"/>
              </a:defRPr>
            </a:pPr>
            <a:r>
              <a:rPr sz="1200" b="0">
                <a:solidFill>
                  <a:srgbClr val="526577"/>
                </a:solidFill>
                <a:latin typeface="Arial"/>
                <a:ea typeface="Arial"/>
                <a:cs typeface="Arial"/>
              </a:rPr>
              <a:t>G19</a:t>
            </a:r>
          </a:p>
        </p:txBody>
      </p:sp>
      <p:sp>
        <p:nvSpPr>
          <p:cNvPr id="4" name="10">
            <a:extLst>
              <a:ext uri="{FF2B5EF4-FFF2-40B4-BE49-F238E27FC236}">
                <a16:creationId xmlns:a16="http://schemas.microsoft.com/office/drawing/2014/main" id="{5B3BA1B8-571A-46C7-BB59-33502360D9FE}"/>
              </a:ext>
            </a:extLst>
          </p:cNvPr>
          <p:cNvSpPr>
            <a:spLocks noGrp="1"/>
          </p:cNvSpPr>
          <p:nvPr/>
        </p:nvSpPr>
        <p:spPr>
          <a:xfrm>
            <a:off x="10991850" y="6467475"/>
            <a:ext cx="571500" cy="219075"/>
          </a:xfrm>
          <a:prstGeom prst="rect">
            <a:avLst/>
          </a:prstGeom>
          <a:noFill/>
          <a:ln w="0">
            <a:noFill/>
          </a:ln>
        </p:spPr>
        <p:txBody>
          <a:bodyPr wrap="square" lIns="0" tIns="0" rIns="0" bIns="0" anchor="t">
            <a:noAutofit/>
          </a:bodyPr>
          <a:lstStyle/>
          <a:p>
            <a:pPr algn="r">
              <a:defRPr sz="1200" b="0">
                <a:solidFill>
                  <a:srgbClr val="526577"/>
                </a:solidFill>
                <a:latin typeface="Arial"/>
                <a:ea typeface="Arial"/>
                <a:cs typeface="Arial"/>
              </a:defRPr>
            </a:pPr>
            <a:r>
              <a:rPr sz="1200" b="0">
                <a:solidFill>
                  <a:srgbClr val="526577"/>
                </a:solidFill>
                <a:latin typeface="Arial"/>
                <a:ea typeface="Arial"/>
                <a:cs typeface="Arial"/>
              </a:rPr>
              <a:t>10</a:t>
            </a:r>
          </a:p>
        </p:txBody>
      </p:sp>
      <p:graphicFrame>
        <p:nvGraphicFramePr>
          <p:cNvPr id="13" name="Chart"/>
          <p:cNvGraphicFramePr/>
          <p:nvPr/>
        </p:nvGraphicFramePr>
        <p:xfrm>
          <a:off x="666750" y="1771650"/>
          <a:ext cx="10763250" cy="3381375"/>
        </p:xfrm>
        <a:graphic>
          <a:graphicData uri="http://schemas.openxmlformats.org/drawingml/2006/chart">
            <c:chart xmlns:c="http://schemas.openxmlformats.org/drawingml/2006/chart" xmlns:r="http://schemas.openxmlformats.org/officeDocument/2006/relationships" r:id="rId3"/>
          </a:graphicData>
        </a:graphic>
      </p:graphicFrame>
      <p:sp>
        <p:nvSpPr>
          <p:cNvPr id="6" name="11.94% baseline misses">
            <a:extLst>
              <a:ext uri="{FF2B5EF4-FFF2-40B4-BE49-F238E27FC236}">
                <a16:creationId xmlns:a16="http://schemas.microsoft.com/office/drawing/2014/main" id="{1E7491DD-C8E8-44BA-B7FC-E3F9B9F6EA86}"/>
              </a:ext>
            </a:extLst>
          </p:cNvPr>
          <p:cNvSpPr>
            <a:spLocks noGrp="1"/>
          </p:cNvSpPr>
          <p:nvPr/>
        </p:nvSpPr>
        <p:spPr>
          <a:xfrm>
            <a:off x="628650" y="5314950"/>
            <a:ext cx="4953000" cy="400050"/>
          </a:xfrm>
          <a:prstGeom prst="rect">
            <a:avLst/>
          </a:prstGeom>
          <a:noFill/>
          <a:ln w="0">
            <a:noFill/>
          </a:ln>
        </p:spPr>
        <p:txBody>
          <a:bodyPr wrap="square" lIns="0" tIns="0" rIns="0" bIns="0" anchor="t">
            <a:noAutofit/>
          </a:bodyPr>
          <a:lstStyle/>
          <a:p>
            <a:pPr algn="l">
              <a:defRPr sz="2250" b="1">
                <a:solidFill>
                  <a:srgbClr val="526577"/>
                </a:solidFill>
                <a:latin typeface="Arial"/>
                <a:ea typeface="Arial"/>
                <a:cs typeface="Arial"/>
              </a:defRPr>
            </a:pPr>
            <a:r>
              <a:rPr sz="2250" b="1">
                <a:solidFill>
                  <a:srgbClr val="526577"/>
                </a:solidFill>
                <a:latin typeface="Arial"/>
                <a:ea typeface="Arial"/>
                <a:cs typeface="Arial"/>
              </a:rPr>
              <a:t>11.94% baseline misses</a:t>
            </a:r>
          </a:p>
        </p:txBody>
      </p:sp>
      <p:sp>
        <p:nvSpPr>
          <p:cNvPr id="7" name="4.77% screened-as-safe hotspots">
            <a:extLst>
              <a:ext uri="{FF2B5EF4-FFF2-40B4-BE49-F238E27FC236}">
                <a16:creationId xmlns:a16="http://schemas.microsoft.com/office/drawing/2014/main" id="{9E72DE9C-E779-4CCA-A627-34BF71E8FDFF}"/>
              </a:ext>
            </a:extLst>
          </p:cNvPr>
          <p:cNvSpPr>
            <a:spLocks noGrp="1"/>
          </p:cNvSpPr>
          <p:nvPr/>
        </p:nvSpPr>
        <p:spPr>
          <a:xfrm>
            <a:off x="6162675" y="5314950"/>
            <a:ext cx="5334000" cy="409575"/>
          </a:xfrm>
          <a:prstGeom prst="rect">
            <a:avLst/>
          </a:prstGeom>
          <a:noFill/>
          <a:ln w="0">
            <a:noFill/>
          </a:ln>
        </p:spPr>
        <p:txBody>
          <a:bodyPr wrap="square" lIns="0" tIns="0" rIns="0" bIns="0" anchor="t">
            <a:noAutofit/>
          </a:bodyPr>
          <a:lstStyle/>
          <a:p>
            <a:pPr algn="l">
              <a:defRPr sz="2250" b="1">
                <a:solidFill>
                  <a:srgbClr val="087E82"/>
                </a:solidFill>
                <a:latin typeface="Arial"/>
                <a:ea typeface="Arial"/>
                <a:cs typeface="Arial"/>
              </a:defRPr>
            </a:pPr>
            <a:r>
              <a:rPr sz="2250" b="1">
                <a:solidFill>
                  <a:srgbClr val="087E82"/>
                </a:solidFill>
                <a:latin typeface="Arial"/>
                <a:ea typeface="Arial"/>
                <a:cs typeface="Arial"/>
              </a:rPr>
              <a:t>4.77% screened-as-safe hotspots</a:t>
            </a:r>
          </a:p>
        </p:txBody>
      </p:sp>
      <p:sp>
        <p:nvSpPr>
          <p:cNvPr id="8" name="Macro averages. The 7.17 percentage-point reduction measures rout">
            <a:extLst>
              <a:ext uri="{FF2B5EF4-FFF2-40B4-BE49-F238E27FC236}">
                <a16:creationId xmlns:a16="http://schemas.microsoft.com/office/drawing/2014/main" id="{1C75B8A8-7E84-47CB-B11C-B03BF2234300}"/>
              </a:ext>
            </a:extLst>
          </p:cNvPr>
          <p:cNvSpPr>
            <a:spLocks noGrp="1"/>
          </p:cNvSpPr>
          <p:nvPr/>
        </p:nvSpPr>
        <p:spPr>
          <a:xfrm>
            <a:off x="628650" y="5876925"/>
            <a:ext cx="10934700" cy="409575"/>
          </a:xfrm>
          <a:prstGeom prst="rect">
            <a:avLst/>
          </a:prstGeom>
          <a:noFill/>
          <a:ln w="0">
            <a:noFill/>
          </a:ln>
        </p:spPr>
        <p:txBody>
          <a:bodyPr wrap="square" lIns="0" tIns="0" rIns="0" bIns="0" anchor="t">
            <a:noAutofit/>
          </a:bodyPr>
          <a:lstStyle/>
          <a:p>
            <a:pPr algn="l">
              <a:defRPr sz="1350" b="0">
                <a:solidFill>
                  <a:srgbClr val="526577"/>
                </a:solidFill>
                <a:latin typeface="Arial"/>
                <a:ea typeface="Arial"/>
                <a:cs typeface="Arial"/>
              </a:defRPr>
            </a:pPr>
            <a:r>
              <a:rPr sz="1350" b="0">
                <a:solidFill>
                  <a:srgbClr val="526577"/>
                </a:solidFill>
                <a:latin typeface="Arial"/>
                <a:ea typeface="Arial"/>
                <a:cs typeface="Arial"/>
              </a:rPr>
              <a:t>Macro averages. The 7.17 percentage-point reduction measures routing changes. Verification outcomes are unmeasured.</a:t>
            </a:r>
          </a:p>
        </p:txBody>
      </p:sp>
    </p:spTree>
    <p:extLst>
      <p:ext uri="{BB962C8B-B14F-4D97-AF65-F5344CB8AC3E}">
        <p14:creationId xmlns:p14="http://schemas.microsoft.com/office/powerpoint/2010/main" val="15550436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hreshold ablation and workload trade-off">
            <a:extLst>
              <a:ext uri="{FF2B5EF4-FFF2-40B4-BE49-F238E27FC236}">
                <a16:creationId xmlns:a16="http://schemas.microsoft.com/office/drawing/2014/main" id="{ACF3E47F-530F-42BC-938E-EBF9F33988F6}"/>
              </a:ext>
            </a:extLst>
          </p:cNvPr>
          <p:cNvSpPr>
            <a:spLocks noGrp="1"/>
          </p:cNvSpPr>
          <p:nvPr/>
        </p:nvSpPr>
        <p:spPr>
          <a:xfrm>
            <a:off x="609600" y="428625"/>
            <a:ext cx="10972800" cy="609600"/>
          </a:xfrm>
          <a:prstGeom prst="rect">
            <a:avLst/>
          </a:prstGeom>
          <a:noFill/>
          <a:ln w="0">
            <a:noFill/>
          </a:ln>
        </p:spPr>
        <p:txBody>
          <a:bodyPr wrap="square" lIns="0" tIns="0" rIns="0" bIns="0" anchor="t">
            <a:noAutofit/>
          </a:bodyPr>
          <a:lstStyle/>
          <a:p>
            <a:pPr algn="l">
              <a:defRPr sz="3225" b="1">
                <a:solidFill>
                  <a:srgbClr val="152B3C"/>
                </a:solidFill>
                <a:latin typeface="Arial"/>
                <a:ea typeface="Arial"/>
                <a:cs typeface="Arial"/>
              </a:defRPr>
            </a:pPr>
            <a:r>
              <a:rPr sz="3225" b="1">
                <a:solidFill>
                  <a:srgbClr val="152B3C"/>
                </a:solidFill>
                <a:latin typeface="Arial"/>
                <a:ea typeface="Arial"/>
                <a:cs typeface="Arial"/>
              </a:rPr>
              <a:t>Threshold ablation and workload trade-off</a:t>
            </a:r>
          </a:p>
        </p:txBody>
      </p:sp>
      <p:sp>
        <p:nvSpPr>
          <p:cNvPr id="2" name="Macro averages across five benchmarks. Routing shares use all pat">
            <a:extLst>
              <a:ext uri="{FF2B5EF4-FFF2-40B4-BE49-F238E27FC236}">
                <a16:creationId xmlns:a16="http://schemas.microsoft.com/office/drawing/2014/main" id="{D7873C25-AE8B-400E-BA1A-F68BF2F33F7D}"/>
              </a:ext>
            </a:extLst>
          </p:cNvPr>
          <p:cNvSpPr>
            <a:spLocks noGrp="1"/>
          </p:cNvSpPr>
          <p:nvPr/>
        </p:nvSpPr>
        <p:spPr>
          <a:xfrm>
            <a:off x="628650" y="1152525"/>
            <a:ext cx="10934700" cy="476250"/>
          </a:xfrm>
          <a:prstGeom prst="rect">
            <a:avLst/>
          </a:prstGeom>
          <a:noFill/>
          <a:ln w="0">
            <a:noFill/>
          </a:ln>
        </p:spPr>
        <p:txBody>
          <a:bodyPr wrap="square" lIns="0" tIns="0" rIns="0" bIns="0" anchor="t">
            <a:noAutofit/>
          </a:bodyPr>
          <a:lstStyle/>
          <a:p>
            <a:pPr algn="l">
              <a:defRPr sz="1800" b="0">
                <a:solidFill>
                  <a:srgbClr val="526577"/>
                </a:solidFill>
                <a:latin typeface="Arial"/>
                <a:ea typeface="Arial"/>
                <a:cs typeface="Arial"/>
              </a:defRPr>
            </a:pPr>
            <a:r>
              <a:rPr sz="1800" b="0">
                <a:solidFill>
                  <a:srgbClr val="526577"/>
                </a:solidFill>
                <a:latin typeface="Arial"/>
                <a:ea typeface="Arial"/>
                <a:cs typeface="Arial"/>
              </a:rPr>
              <a:t>Macro averages across five benchmarks. Routing shares use all patterns.</a:t>
            </a:r>
          </a:p>
          <a:p>
            <a:pPr algn="l">
              <a:defRPr sz="1800" b="0">
                <a:solidFill>
                  <a:srgbClr val="526577"/>
                </a:solidFill>
                <a:latin typeface="Arial"/>
                <a:ea typeface="Arial"/>
                <a:cs typeface="Arial"/>
              </a:defRPr>
            </a:pPr>
            <a:r>
              <a:rPr sz="1800" b="0">
                <a:solidFill>
                  <a:srgbClr val="526577"/>
                </a:solidFill>
                <a:latin typeface="Arial"/>
                <a:ea typeface="Arial"/>
                <a:cs typeface="Arial"/>
              </a:rPr>
              <a:t>Unchecked-hotspot rates use true hotspots as the denominator.</a:t>
            </a:r>
          </a:p>
        </p:txBody>
      </p:sp>
      <p:sp>
        <p:nvSpPr>
          <p:cNvPr id="3" name="G19">
            <a:extLst>
              <a:ext uri="{FF2B5EF4-FFF2-40B4-BE49-F238E27FC236}">
                <a16:creationId xmlns:a16="http://schemas.microsoft.com/office/drawing/2014/main" id="{9ECCBAA8-2E19-444F-BB0B-72AC27F9645C}"/>
              </a:ext>
            </a:extLst>
          </p:cNvPr>
          <p:cNvSpPr>
            <a:spLocks noGrp="1"/>
          </p:cNvSpPr>
          <p:nvPr/>
        </p:nvSpPr>
        <p:spPr>
          <a:xfrm>
            <a:off x="609600" y="6467475"/>
            <a:ext cx="952500" cy="219075"/>
          </a:xfrm>
          <a:prstGeom prst="rect">
            <a:avLst/>
          </a:prstGeom>
          <a:noFill/>
          <a:ln w="0">
            <a:noFill/>
          </a:ln>
        </p:spPr>
        <p:txBody>
          <a:bodyPr wrap="square" lIns="0" tIns="0" rIns="0" bIns="0" anchor="t">
            <a:noAutofit/>
          </a:bodyPr>
          <a:lstStyle/>
          <a:p>
            <a:pPr algn="l">
              <a:defRPr sz="1200" b="0">
                <a:solidFill>
                  <a:srgbClr val="526577"/>
                </a:solidFill>
                <a:latin typeface="Arial"/>
                <a:ea typeface="Arial"/>
                <a:cs typeface="Arial"/>
              </a:defRPr>
            </a:pPr>
            <a:r>
              <a:rPr sz="1200" b="0">
                <a:solidFill>
                  <a:srgbClr val="526577"/>
                </a:solidFill>
                <a:latin typeface="Arial"/>
                <a:ea typeface="Arial"/>
                <a:cs typeface="Arial"/>
              </a:rPr>
              <a:t>G19</a:t>
            </a:r>
          </a:p>
        </p:txBody>
      </p:sp>
      <p:sp>
        <p:nvSpPr>
          <p:cNvPr id="4" name="11">
            <a:extLst>
              <a:ext uri="{FF2B5EF4-FFF2-40B4-BE49-F238E27FC236}">
                <a16:creationId xmlns:a16="http://schemas.microsoft.com/office/drawing/2014/main" id="{B402C231-6ED7-49E5-8F34-D6E263C45E5F}"/>
              </a:ext>
            </a:extLst>
          </p:cNvPr>
          <p:cNvSpPr>
            <a:spLocks noGrp="1"/>
          </p:cNvSpPr>
          <p:nvPr/>
        </p:nvSpPr>
        <p:spPr>
          <a:xfrm>
            <a:off x="10991850" y="6467475"/>
            <a:ext cx="571500" cy="219075"/>
          </a:xfrm>
          <a:prstGeom prst="rect">
            <a:avLst/>
          </a:prstGeom>
          <a:noFill/>
          <a:ln w="0">
            <a:noFill/>
          </a:ln>
        </p:spPr>
        <p:txBody>
          <a:bodyPr wrap="square" lIns="0" tIns="0" rIns="0" bIns="0" anchor="t">
            <a:noAutofit/>
          </a:bodyPr>
          <a:lstStyle/>
          <a:p>
            <a:pPr algn="r">
              <a:defRPr sz="1200" b="0">
                <a:solidFill>
                  <a:srgbClr val="526577"/>
                </a:solidFill>
                <a:latin typeface="Arial"/>
                <a:ea typeface="Arial"/>
                <a:cs typeface="Arial"/>
              </a:defRPr>
            </a:pPr>
            <a:r>
              <a:rPr sz="1200" b="0">
                <a:solidFill>
                  <a:srgbClr val="526577"/>
                </a:solidFill>
                <a:latin typeface="Arial"/>
                <a:ea typeface="Arial"/>
                <a:cs typeface="Arial"/>
              </a:rPr>
              <a:t>11</a:t>
            </a:r>
          </a:p>
        </p:txBody>
      </p:sp>
      <p:graphicFrame>
        <p:nvGraphicFramePr>
          <p:cNvPr id="12" name="Table 11"/>
          <p:cNvGraphicFramePr/>
          <p:nvPr/>
        </p:nvGraphicFramePr>
        <p:xfrm>
          <a:off x="628650" y="2019300"/>
          <a:ext cx="10934700" cy="2518887"/>
        </p:xfrm>
        <a:graphic>
          <a:graphicData uri="http://schemas.openxmlformats.org/drawingml/2006/table">
            <a:tbl>
              <a:tblPr/>
              <a:tblGrid>
                <a:gridCol w="2076450">
                  <a:extLst>
                    <a:ext uri="{9D8B030D-6E8A-4147-A177-3AD203B41FA5}">
                      <a16:colId xmlns:a16="http://schemas.microsoft.com/office/drawing/2014/main" val="20000"/>
                    </a:ext>
                  </a:extLst>
                </a:gridCol>
                <a:gridCol w="2571750">
                  <a:extLst>
                    <a:ext uri="{9D8B030D-6E8A-4147-A177-3AD203B41FA5}">
                      <a16:colId xmlns:a16="http://schemas.microsoft.com/office/drawing/2014/main" val="20001"/>
                    </a:ext>
                  </a:extLst>
                </a:gridCol>
                <a:gridCol w="1885950">
                  <a:extLst>
                    <a:ext uri="{9D8B030D-6E8A-4147-A177-3AD203B41FA5}">
                      <a16:colId xmlns:a16="http://schemas.microsoft.com/office/drawing/2014/main" val="20002"/>
                    </a:ext>
                  </a:extLst>
                </a:gridCol>
                <a:gridCol w="1885950">
                  <a:extLst>
                    <a:ext uri="{9D8B030D-6E8A-4147-A177-3AD203B41FA5}">
                      <a16:colId xmlns:a16="http://schemas.microsoft.com/office/drawing/2014/main" val="20003"/>
                    </a:ext>
                  </a:extLst>
                </a:gridCol>
                <a:gridCol w="2514600">
                  <a:extLst>
                    <a:ext uri="{9D8B030D-6E8A-4147-A177-3AD203B41FA5}">
                      <a16:colId xmlns:a16="http://schemas.microsoft.com/office/drawing/2014/main" val="20004"/>
                    </a:ext>
                  </a:extLst>
                </a:gridCol>
              </a:tblGrid>
              <a:tr h="626269">
                <a:tc>
                  <a:txBody>
                    <a:bodyPr/>
                    <a:lstStyle/>
                    <a:p>
                      <a:pPr algn="l"/>
                      <a:r>
                        <a:rPr sz="1800" b="1">
                          <a:solidFill>
                            <a:srgbClr val="FFFFFF"/>
                          </a:solidFill>
                          <a:latin typeface="Arial"/>
                          <a:ea typeface="Arial"/>
                          <a:cs typeface="Arial"/>
                        </a:rPr>
                        <a:t>Low / high</a:t>
                      </a:r>
                    </a:p>
                  </a:txBody>
                  <a:tcPr anchor="ctr">
                    <a:solidFill>
                      <a:srgbClr val="152B3C"/>
                    </a:solidFill>
                  </a:tcPr>
                </a:tc>
                <a:tc>
                  <a:txBody>
                    <a:bodyPr/>
                    <a:lstStyle/>
                    <a:p>
                      <a:pPr algn="ctr"/>
                      <a:r>
                        <a:rPr sz="1800" b="1">
                          <a:solidFill>
                            <a:srgbClr val="FFFFFF"/>
                          </a:solidFill>
                          <a:latin typeface="Arial"/>
                          <a:ea typeface="Arial"/>
                          <a:cs typeface="Arial"/>
                        </a:rPr>
                        <a:t>Screened as safe</a:t>
                      </a:r>
                    </a:p>
                  </a:txBody>
                  <a:tcPr anchor="ctr">
                    <a:solidFill>
                      <a:srgbClr val="152B3C"/>
                    </a:solidFill>
                  </a:tcPr>
                </a:tc>
                <a:tc>
                  <a:txBody>
                    <a:bodyPr/>
                    <a:lstStyle/>
                    <a:p>
                      <a:pPr algn="ctr"/>
                      <a:r>
                        <a:rPr sz="1800" b="1">
                          <a:solidFill>
                            <a:srgbClr val="FFFFFF"/>
                          </a:solidFill>
                          <a:latin typeface="Arial"/>
                          <a:ea typeface="Arial"/>
                          <a:cs typeface="Arial"/>
                        </a:rPr>
                        <a:t>Flagged</a:t>
                      </a:r>
                    </a:p>
                  </a:txBody>
                  <a:tcPr anchor="ctr">
                    <a:solidFill>
                      <a:srgbClr val="152B3C"/>
                    </a:solidFill>
                  </a:tcPr>
                </a:tc>
                <a:tc>
                  <a:txBody>
                    <a:bodyPr/>
                    <a:lstStyle/>
                    <a:p>
                      <a:pPr algn="ctr"/>
                      <a:r>
                        <a:rPr sz="1800" b="1">
                          <a:solidFill>
                            <a:srgbClr val="FFFFFF"/>
                          </a:solidFill>
                          <a:latin typeface="Arial"/>
                          <a:ea typeface="Arial"/>
                          <a:cs typeface="Arial"/>
                        </a:rPr>
                        <a:t>Referred</a:t>
                      </a:r>
                    </a:p>
                  </a:txBody>
                  <a:tcPr anchor="ctr">
                    <a:solidFill>
                      <a:srgbClr val="152B3C"/>
                    </a:solidFill>
                  </a:tcPr>
                </a:tc>
                <a:tc>
                  <a:txBody>
                    <a:bodyPr/>
                    <a:lstStyle/>
                    <a:p>
                      <a:pPr algn="ctr"/>
                      <a:r>
                        <a:rPr sz="1800" b="1">
                          <a:solidFill>
                            <a:srgbClr val="FFFFFF"/>
                          </a:solidFill>
                          <a:latin typeface="Arial"/>
                          <a:ea typeface="Arial"/>
                          <a:cs typeface="Arial"/>
                        </a:rPr>
                        <a:t>HS passed</a:t>
                      </a:r>
                    </a:p>
                    <a:p>
                      <a:pPr algn="ctr"/>
                      <a:r>
                        <a:rPr sz="1800" b="1">
                          <a:solidFill>
                            <a:srgbClr val="FFFFFF"/>
                          </a:solidFill>
                          <a:latin typeface="Arial"/>
                          <a:ea typeface="Arial"/>
                          <a:cs typeface="Arial"/>
                        </a:rPr>
                        <a:t>unchecked</a:t>
                      </a:r>
                    </a:p>
                  </a:txBody>
                  <a:tcPr anchor="ctr">
                    <a:solidFill>
                      <a:srgbClr val="152B3C"/>
                    </a:solidFill>
                  </a:tcPr>
                </a:tc>
                <a:extLst>
                  <a:ext uri="{0D108BD9-81ED-4DB2-BD59-A6C34878D82A}">
                    <a16:rowId xmlns:a16="http://schemas.microsoft.com/office/drawing/2014/main" val="10000"/>
                  </a:ext>
                </a:extLst>
              </a:tr>
              <a:tr h="626269">
                <a:tc>
                  <a:txBody>
                    <a:bodyPr/>
                    <a:lstStyle/>
                    <a:p>
                      <a:pPr algn="l"/>
                      <a:r>
                        <a:rPr sz="1800" b="0">
                          <a:solidFill>
                            <a:srgbClr val="172E40"/>
                          </a:solidFill>
                          <a:latin typeface="Arial"/>
                          <a:ea typeface="Arial"/>
                          <a:cs typeface="Arial"/>
                        </a:rPr>
                        <a:t>0.30 / 0.70</a:t>
                      </a:r>
                    </a:p>
                  </a:txBody>
                  <a:tcPr anchor="ctr">
                    <a:solidFill>
                      <a:srgbClr val="FFFFFF"/>
                    </a:solidFill>
                  </a:tcPr>
                </a:tc>
                <a:tc>
                  <a:txBody>
                    <a:bodyPr/>
                    <a:lstStyle/>
                    <a:p>
                      <a:pPr algn="ctr"/>
                      <a:r>
                        <a:rPr sz="1800" b="0">
                          <a:solidFill>
                            <a:srgbClr val="172E40"/>
                          </a:solidFill>
                          <a:latin typeface="Arial"/>
                          <a:ea typeface="Arial"/>
                          <a:cs typeface="Arial"/>
                        </a:rPr>
                        <a:t>93.40%</a:t>
                      </a:r>
                    </a:p>
                  </a:txBody>
                  <a:tcPr anchor="ctr">
                    <a:solidFill>
                      <a:srgbClr val="FFFFFF"/>
                    </a:solidFill>
                  </a:tcPr>
                </a:tc>
                <a:tc>
                  <a:txBody>
                    <a:bodyPr/>
                    <a:lstStyle/>
                    <a:p>
                      <a:pPr algn="ctr"/>
                      <a:r>
                        <a:rPr sz="1800" b="0">
                          <a:solidFill>
                            <a:srgbClr val="172E40"/>
                          </a:solidFill>
                          <a:latin typeface="Arial"/>
                          <a:ea typeface="Arial"/>
                          <a:cs typeface="Arial"/>
                        </a:rPr>
                        <a:t>4.55%</a:t>
                      </a:r>
                    </a:p>
                  </a:txBody>
                  <a:tcPr anchor="ctr">
                    <a:solidFill>
                      <a:srgbClr val="FFFFFF"/>
                    </a:solidFill>
                  </a:tcPr>
                </a:tc>
                <a:tc>
                  <a:txBody>
                    <a:bodyPr/>
                    <a:lstStyle/>
                    <a:p>
                      <a:pPr algn="ctr"/>
                      <a:r>
                        <a:rPr sz="1800" b="0">
                          <a:solidFill>
                            <a:srgbClr val="172E40"/>
                          </a:solidFill>
                          <a:latin typeface="Arial"/>
                          <a:ea typeface="Arial"/>
                          <a:cs typeface="Arial"/>
                        </a:rPr>
                        <a:t>2.05%</a:t>
                      </a:r>
                    </a:p>
                  </a:txBody>
                  <a:tcPr anchor="ctr">
                    <a:solidFill>
                      <a:srgbClr val="FFFFFF"/>
                    </a:solidFill>
                  </a:tcPr>
                </a:tc>
                <a:tc>
                  <a:txBody>
                    <a:bodyPr/>
                    <a:lstStyle/>
                    <a:p>
                      <a:pPr algn="ctr"/>
                      <a:r>
                        <a:rPr sz="1800" b="0">
                          <a:solidFill>
                            <a:srgbClr val="172E40"/>
                          </a:solidFill>
                          <a:latin typeface="Arial"/>
                          <a:ea typeface="Arial"/>
                          <a:cs typeface="Arial"/>
                        </a:rPr>
                        <a:t>8.01%</a:t>
                      </a:r>
                    </a:p>
                  </a:txBody>
                  <a:tcPr anchor="ctr">
                    <a:solidFill>
                      <a:srgbClr val="FFFFFF"/>
                    </a:solidFill>
                  </a:tcPr>
                </a:tc>
                <a:extLst>
                  <a:ext uri="{0D108BD9-81ED-4DB2-BD59-A6C34878D82A}">
                    <a16:rowId xmlns:a16="http://schemas.microsoft.com/office/drawing/2014/main" val="10001"/>
                  </a:ext>
                </a:extLst>
              </a:tr>
              <a:tr h="626269">
                <a:tc>
                  <a:txBody>
                    <a:bodyPr/>
                    <a:lstStyle/>
                    <a:p>
                      <a:pPr algn="l"/>
                      <a:r>
                        <a:rPr sz="1800" b="1">
                          <a:solidFill>
                            <a:srgbClr val="172E40"/>
                          </a:solidFill>
                          <a:latin typeface="Arial"/>
                          <a:ea typeface="Arial"/>
                          <a:cs typeface="Arial"/>
                        </a:rPr>
                        <a:t>0.20 / 0.80</a:t>
                      </a:r>
                    </a:p>
                  </a:txBody>
                  <a:tcPr anchor="ctr">
                    <a:solidFill>
                      <a:srgbClr val="EAF3F3"/>
                    </a:solidFill>
                  </a:tcPr>
                </a:tc>
                <a:tc>
                  <a:txBody>
                    <a:bodyPr/>
                    <a:lstStyle/>
                    <a:p>
                      <a:pPr algn="ctr"/>
                      <a:r>
                        <a:rPr sz="1800" b="1">
                          <a:solidFill>
                            <a:srgbClr val="172E40"/>
                          </a:solidFill>
                          <a:latin typeface="Arial"/>
                          <a:ea typeface="Arial"/>
                          <a:cs typeface="Arial"/>
                        </a:rPr>
                        <a:t>92.43%</a:t>
                      </a:r>
                    </a:p>
                  </a:txBody>
                  <a:tcPr anchor="ctr">
                    <a:solidFill>
                      <a:srgbClr val="EAF3F3"/>
                    </a:solidFill>
                  </a:tcPr>
                </a:tc>
                <a:tc>
                  <a:txBody>
                    <a:bodyPr/>
                    <a:lstStyle/>
                    <a:p>
                      <a:pPr algn="ctr"/>
                      <a:r>
                        <a:rPr sz="1800" b="1">
                          <a:solidFill>
                            <a:srgbClr val="172E40"/>
                          </a:solidFill>
                          <a:latin typeface="Arial"/>
                          <a:ea typeface="Arial"/>
                          <a:cs typeface="Arial"/>
                        </a:rPr>
                        <a:t>4.13%</a:t>
                      </a:r>
                    </a:p>
                  </a:txBody>
                  <a:tcPr anchor="ctr">
                    <a:solidFill>
                      <a:srgbClr val="EAF3F3"/>
                    </a:solidFill>
                  </a:tcPr>
                </a:tc>
                <a:tc>
                  <a:txBody>
                    <a:bodyPr/>
                    <a:lstStyle/>
                    <a:p>
                      <a:pPr algn="ctr"/>
                      <a:r>
                        <a:rPr sz="1800" b="1">
                          <a:solidFill>
                            <a:srgbClr val="172E40"/>
                          </a:solidFill>
                          <a:latin typeface="Arial"/>
                          <a:ea typeface="Arial"/>
                          <a:cs typeface="Arial"/>
                        </a:rPr>
                        <a:t>3.44%</a:t>
                      </a:r>
                    </a:p>
                  </a:txBody>
                  <a:tcPr anchor="ctr">
                    <a:solidFill>
                      <a:srgbClr val="EAF3F3"/>
                    </a:solidFill>
                  </a:tcPr>
                </a:tc>
                <a:tc>
                  <a:txBody>
                    <a:bodyPr/>
                    <a:lstStyle/>
                    <a:p>
                      <a:pPr algn="ctr"/>
                      <a:r>
                        <a:rPr sz="1800" b="1">
                          <a:solidFill>
                            <a:srgbClr val="172E40"/>
                          </a:solidFill>
                          <a:latin typeface="Arial"/>
                          <a:ea typeface="Arial"/>
                          <a:cs typeface="Arial"/>
                        </a:rPr>
                        <a:t>4.77%</a:t>
                      </a:r>
                    </a:p>
                  </a:txBody>
                  <a:tcPr anchor="ctr">
                    <a:solidFill>
                      <a:srgbClr val="EAF3F3"/>
                    </a:solidFill>
                  </a:tcPr>
                </a:tc>
                <a:extLst>
                  <a:ext uri="{0D108BD9-81ED-4DB2-BD59-A6C34878D82A}">
                    <a16:rowId xmlns:a16="http://schemas.microsoft.com/office/drawing/2014/main" val="10002"/>
                  </a:ext>
                </a:extLst>
              </a:tr>
              <a:tr h="626269">
                <a:tc>
                  <a:txBody>
                    <a:bodyPr/>
                    <a:lstStyle/>
                    <a:p>
                      <a:pPr algn="l"/>
                      <a:r>
                        <a:rPr sz="1800" b="0">
                          <a:solidFill>
                            <a:srgbClr val="172E40"/>
                          </a:solidFill>
                          <a:latin typeface="Arial"/>
                          <a:ea typeface="Arial"/>
                          <a:cs typeface="Arial"/>
                        </a:rPr>
                        <a:t>0.10 / 0.90</a:t>
                      </a:r>
                    </a:p>
                  </a:txBody>
                  <a:tcPr anchor="ctr">
                    <a:solidFill>
                      <a:srgbClr val="FFFFFF"/>
                    </a:solidFill>
                  </a:tcPr>
                </a:tc>
                <a:tc>
                  <a:txBody>
                    <a:bodyPr/>
                    <a:lstStyle/>
                    <a:p>
                      <a:pPr algn="ctr"/>
                      <a:r>
                        <a:rPr sz="1800" b="0">
                          <a:solidFill>
                            <a:srgbClr val="172E40"/>
                          </a:solidFill>
                          <a:latin typeface="Arial"/>
                          <a:ea typeface="Arial"/>
                          <a:cs typeface="Arial"/>
                        </a:rPr>
                        <a:t>90.66%</a:t>
                      </a:r>
                    </a:p>
                  </a:txBody>
                  <a:tcPr anchor="ctr">
                    <a:solidFill>
                      <a:srgbClr val="FFFFFF"/>
                    </a:solidFill>
                  </a:tcPr>
                </a:tc>
                <a:tc>
                  <a:txBody>
                    <a:bodyPr/>
                    <a:lstStyle/>
                    <a:p>
                      <a:pPr algn="ctr"/>
                      <a:r>
                        <a:rPr sz="1800" b="0">
                          <a:solidFill>
                            <a:srgbClr val="172E40"/>
                          </a:solidFill>
                          <a:latin typeface="Arial"/>
                          <a:ea typeface="Arial"/>
                          <a:cs typeface="Arial"/>
                        </a:rPr>
                        <a:t>3.66%</a:t>
                      </a:r>
                    </a:p>
                  </a:txBody>
                  <a:tcPr anchor="ctr">
                    <a:solidFill>
                      <a:srgbClr val="FFFFFF"/>
                    </a:solidFill>
                  </a:tcPr>
                </a:tc>
                <a:tc>
                  <a:txBody>
                    <a:bodyPr/>
                    <a:lstStyle/>
                    <a:p>
                      <a:pPr algn="ctr"/>
                      <a:r>
                        <a:rPr sz="1800" b="0">
                          <a:solidFill>
                            <a:srgbClr val="172E40"/>
                          </a:solidFill>
                          <a:latin typeface="Arial"/>
                          <a:ea typeface="Arial"/>
                          <a:cs typeface="Arial"/>
                        </a:rPr>
                        <a:t>5.68%</a:t>
                      </a:r>
                    </a:p>
                  </a:txBody>
                  <a:tcPr anchor="ctr">
                    <a:solidFill>
                      <a:srgbClr val="FFFFFF"/>
                    </a:solidFill>
                  </a:tcPr>
                </a:tc>
                <a:tc>
                  <a:txBody>
                    <a:bodyPr/>
                    <a:lstStyle/>
                    <a:p>
                      <a:pPr algn="ctr"/>
                      <a:r>
                        <a:rPr sz="1800" b="0">
                          <a:solidFill>
                            <a:srgbClr val="172E40"/>
                          </a:solidFill>
                          <a:latin typeface="Arial"/>
                          <a:ea typeface="Arial"/>
                          <a:cs typeface="Arial"/>
                        </a:rPr>
                        <a:t>1.99%</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6" name="0.10/0.90 has the lowest unchecked-hotspot rate tested">
            <a:extLst>
              <a:ext uri="{FF2B5EF4-FFF2-40B4-BE49-F238E27FC236}">
                <a16:creationId xmlns:a16="http://schemas.microsoft.com/office/drawing/2014/main" id="{1CCB952E-1737-41B2-893F-AD57414B6452}"/>
              </a:ext>
            </a:extLst>
          </p:cNvPr>
          <p:cNvSpPr>
            <a:spLocks noGrp="1"/>
          </p:cNvSpPr>
          <p:nvPr/>
        </p:nvSpPr>
        <p:spPr>
          <a:xfrm>
            <a:off x="628650" y="4943475"/>
            <a:ext cx="10829925" cy="476250"/>
          </a:xfrm>
          <a:prstGeom prst="rect">
            <a:avLst/>
          </a:prstGeom>
          <a:noFill/>
          <a:ln w="0">
            <a:noFill/>
          </a:ln>
        </p:spPr>
        <p:txBody>
          <a:bodyPr wrap="square" lIns="0" tIns="0" rIns="0" bIns="0" anchor="t">
            <a:noAutofit/>
          </a:bodyPr>
          <a:lstStyle/>
          <a:p>
            <a:pPr algn="l">
              <a:defRPr sz="2400" b="1">
                <a:solidFill>
                  <a:srgbClr val="087E82"/>
                </a:solidFill>
                <a:latin typeface="Arial"/>
                <a:ea typeface="Arial"/>
                <a:cs typeface="Arial"/>
              </a:defRPr>
            </a:pPr>
            <a:r>
              <a:rPr sz="2400" b="1">
                <a:solidFill>
                  <a:srgbClr val="087E82"/>
                </a:solidFill>
                <a:latin typeface="Arial"/>
                <a:ea typeface="Arial"/>
                <a:cs typeface="Arial"/>
              </a:rPr>
              <a:t>0.10/0.90 has the lowest unchecked-hotspot rate tested</a:t>
            </a:r>
          </a:p>
        </p:txBody>
      </p:sp>
      <p:sp>
        <p:nvSpPr>
          <p:cNvPr id="7" name="Its 1.99% unchecked-hotspot rate requires 5.68% referrals.&#10;The 0.">
            <a:extLst>
              <a:ext uri="{FF2B5EF4-FFF2-40B4-BE49-F238E27FC236}">
                <a16:creationId xmlns:a16="http://schemas.microsoft.com/office/drawing/2014/main" id="{D2516BB1-F404-4002-83C8-92D4AA8C638A}"/>
              </a:ext>
            </a:extLst>
          </p:cNvPr>
          <p:cNvSpPr>
            <a:spLocks noGrp="1"/>
          </p:cNvSpPr>
          <p:nvPr/>
        </p:nvSpPr>
        <p:spPr>
          <a:xfrm>
            <a:off x="628650" y="5514975"/>
            <a:ext cx="10744200" cy="742950"/>
          </a:xfrm>
          <a:prstGeom prst="rect">
            <a:avLst/>
          </a:prstGeom>
          <a:noFill/>
          <a:ln w="0">
            <a:noFill/>
          </a:ln>
        </p:spPr>
        <p:txBody>
          <a:bodyPr wrap="square" lIns="0" tIns="0" rIns="0" bIns="0" anchor="t">
            <a:noAutofit/>
          </a:bodyPr>
          <a:lstStyle/>
          <a:p>
            <a:pPr algn="l">
              <a:defRPr sz="1950" b="0">
                <a:solidFill>
                  <a:srgbClr val="172E40"/>
                </a:solidFill>
                <a:latin typeface="Arial"/>
                <a:ea typeface="Arial"/>
                <a:cs typeface="Arial"/>
              </a:defRPr>
            </a:pPr>
            <a:r>
              <a:rPr sz="1950" b="0">
                <a:solidFill>
                  <a:srgbClr val="172E40"/>
                </a:solidFill>
                <a:latin typeface="Arial"/>
                <a:ea typeface="Arial"/>
                <a:cs typeface="Arial"/>
              </a:rPr>
              <a:t>Its 1.99% unchecked-hotspot rate requires 5.68% referrals.</a:t>
            </a:r>
          </a:p>
          <a:p>
            <a:pPr algn="l">
              <a:defRPr sz="1950" b="0">
                <a:solidFill>
                  <a:srgbClr val="172E40"/>
                </a:solidFill>
                <a:latin typeface="Arial"/>
                <a:ea typeface="Arial"/>
                <a:cs typeface="Arial"/>
              </a:defRPr>
            </a:pPr>
            <a:r>
              <a:rPr sz="1950" b="0">
                <a:solidFill>
                  <a:srgbClr val="172E40"/>
                </a:solidFill>
                <a:latin typeface="Arial"/>
                <a:ea typeface="Arial"/>
                <a:cs typeface="Arial"/>
              </a:rPr>
              <a:t>The 0.20/0.80 pair is the featured comparison, not a proven optimum.</a:t>
            </a:r>
          </a:p>
        </p:txBody>
      </p:sp>
    </p:spTree>
    <p:extLst>
      <p:ext uri="{BB962C8B-B14F-4D97-AF65-F5344CB8AC3E}">
        <p14:creationId xmlns:p14="http://schemas.microsoft.com/office/powerpoint/2010/main" val="17134740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Screening decisions and verification workload">
            <a:extLst>
              <a:ext uri="{FF2B5EF4-FFF2-40B4-BE49-F238E27FC236}">
                <a16:creationId xmlns:a16="http://schemas.microsoft.com/office/drawing/2014/main" id="{8C124A12-5E51-4626-AF11-2A1532C77140}"/>
              </a:ext>
            </a:extLst>
          </p:cNvPr>
          <p:cNvSpPr>
            <a:spLocks noGrp="1"/>
          </p:cNvSpPr>
          <p:nvPr/>
        </p:nvSpPr>
        <p:spPr>
          <a:xfrm>
            <a:off x="609600" y="428625"/>
            <a:ext cx="10972800" cy="609600"/>
          </a:xfrm>
          <a:prstGeom prst="rect">
            <a:avLst/>
          </a:prstGeom>
          <a:noFill/>
          <a:ln w="0">
            <a:noFill/>
          </a:ln>
        </p:spPr>
        <p:txBody>
          <a:bodyPr wrap="square" lIns="0" tIns="0" rIns="0" bIns="0" anchor="t">
            <a:noAutofit/>
          </a:bodyPr>
          <a:lstStyle/>
          <a:p>
            <a:pPr algn="l">
              <a:defRPr sz="3225" b="1">
                <a:solidFill>
                  <a:srgbClr val="152B3C"/>
                </a:solidFill>
                <a:latin typeface="Arial"/>
                <a:ea typeface="Arial"/>
                <a:cs typeface="Arial"/>
              </a:defRPr>
            </a:pPr>
            <a:r>
              <a:rPr sz="3225" b="1">
                <a:solidFill>
                  <a:srgbClr val="152B3C"/>
                </a:solidFill>
                <a:latin typeface="Arial"/>
                <a:ea typeface="Arial"/>
                <a:cs typeface="Arial"/>
              </a:rPr>
              <a:t>Screening decisions and verification workload</a:t>
            </a:r>
          </a:p>
        </p:txBody>
      </p:sp>
      <p:sp>
        <p:nvSpPr>
          <p:cNvPr id="2" name="Routing shares at thresholds 0.20/0.80, as percentages of all tes">
            <a:extLst>
              <a:ext uri="{FF2B5EF4-FFF2-40B4-BE49-F238E27FC236}">
                <a16:creationId xmlns:a16="http://schemas.microsoft.com/office/drawing/2014/main" id="{B145CA86-11E2-45EA-8383-F747C0371D3D}"/>
              </a:ext>
            </a:extLst>
          </p:cNvPr>
          <p:cNvSpPr>
            <a:spLocks noGrp="1"/>
          </p:cNvSpPr>
          <p:nvPr/>
        </p:nvSpPr>
        <p:spPr>
          <a:xfrm>
            <a:off x="628650" y="1152525"/>
            <a:ext cx="10934700" cy="476250"/>
          </a:xfrm>
          <a:prstGeom prst="rect">
            <a:avLst/>
          </a:prstGeom>
          <a:noFill/>
          <a:ln w="0">
            <a:noFill/>
          </a:ln>
        </p:spPr>
        <p:txBody>
          <a:bodyPr wrap="square" lIns="0" tIns="0" rIns="0" bIns="0" anchor="t">
            <a:noAutofit/>
          </a:bodyPr>
          <a:lstStyle/>
          <a:p>
            <a:pPr algn="l">
              <a:defRPr sz="1800" b="0">
                <a:solidFill>
                  <a:srgbClr val="526577"/>
                </a:solidFill>
                <a:latin typeface="Arial"/>
                <a:ea typeface="Arial"/>
                <a:cs typeface="Arial"/>
              </a:defRPr>
            </a:pPr>
            <a:r>
              <a:rPr sz="1800" b="0">
                <a:solidFill>
                  <a:srgbClr val="526577"/>
                </a:solidFill>
                <a:latin typeface="Arial"/>
                <a:ea typeface="Arial"/>
                <a:cs typeface="Arial"/>
              </a:rPr>
              <a:t>Routing shares at thresholds 0.20/0.80, as percentages of all test patterns</a:t>
            </a:r>
          </a:p>
        </p:txBody>
      </p:sp>
      <p:sp>
        <p:nvSpPr>
          <p:cNvPr id="3" name="G19">
            <a:extLst>
              <a:ext uri="{FF2B5EF4-FFF2-40B4-BE49-F238E27FC236}">
                <a16:creationId xmlns:a16="http://schemas.microsoft.com/office/drawing/2014/main" id="{CF1C10BB-153D-48C6-AC91-FEC3A87EEA31}"/>
              </a:ext>
            </a:extLst>
          </p:cNvPr>
          <p:cNvSpPr>
            <a:spLocks noGrp="1"/>
          </p:cNvSpPr>
          <p:nvPr/>
        </p:nvSpPr>
        <p:spPr>
          <a:xfrm>
            <a:off x="609600" y="6467475"/>
            <a:ext cx="952500" cy="219075"/>
          </a:xfrm>
          <a:prstGeom prst="rect">
            <a:avLst/>
          </a:prstGeom>
          <a:noFill/>
          <a:ln w="0">
            <a:noFill/>
          </a:ln>
        </p:spPr>
        <p:txBody>
          <a:bodyPr wrap="square" lIns="0" tIns="0" rIns="0" bIns="0" anchor="t">
            <a:noAutofit/>
          </a:bodyPr>
          <a:lstStyle/>
          <a:p>
            <a:pPr algn="l">
              <a:defRPr sz="1200" b="0">
                <a:solidFill>
                  <a:srgbClr val="526577"/>
                </a:solidFill>
                <a:latin typeface="Arial"/>
                <a:ea typeface="Arial"/>
                <a:cs typeface="Arial"/>
              </a:defRPr>
            </a:pPr>
            <a:r>
              <a:rPr sz="1200" b="0">
                <a:solidFill>
                  <a:srgbClr val="526577"/>
                </a:solidFill>
                <a:latin typeface="Arial"/>
                <a:ea typeface="Arial"/>
                <a:cs typeface="Arial"/>
              </a:rPr>
              <a:t>G19</a:t>
            </a:r>
          </a:p>
        </p:txBody>
      </p:sp>
      <p:sp>
        <p:nvSpPr>
          <p:cNvPr id="4" name="12">
            <a:extLst>
              <a:ext uri="{FF2B5EF4-FFF2-40B4-BE49-F238E27FC236}">
                <a16:creationId xmlns:a16="http://schemas.microsoft.com/office/drawing/2014/main" id="{AD4553D3-C39F-4F24-8483-B28CC72BB0AA}"/>
              </a:ext>
            </a:extLst>
          </p:cNvPr>
          <p:cNvSpPr>
            <a:spLocks noGrp="1"/>
          </p:cNvSpPr>
          <p:nvPr/>
        </p:nvSpPr>
        <p:spPr>
          <a:xfrm>
            <a:off x="10991850" y="6467475"/>
            <a:ext cx="571500" cy="219075"/>
          </a:xfrm>
          <a:prstGeom prst="rect">
            <a:avLst/>
          </a:prstGeom>
          <a:noFill/>
          <a:ln w="0">
            <a:noFill/>
          </a:ln>
        </p:spPr>
        <p:txBody>
          <a:bodyPr wrap="square" lIns="0" tIns="0" rIns="0" bIns="0" anchor="t">
            <a:noAutofit/>
          </a:bodyPr>
          <a:lstStyle/>
          <a:p>
            <a:pPr algn="r">
              <a:defRPr sz="1200" b="0">
                <a:solidFill>
                  <a:srgbClr val="526577"/>
                </a:solidFill>
                <a:latin typeface="Arial"/>
                <a:ea typeface="Arial"/>
                <a:cs typeface="Arial"/>
              </a:defRPr>
            </a:pPr>
            <a:r>
              <a:rPr sz="1200" b="0">
                <a:solidFill>
                  <a:srgbClr val="526577"/>
                </a:solidFill>
                <a:latin typeface="Arial"/>
                <a:ea typeface="Arial"/>
                <a:cs typeface="Arial"/>
              </a:rPr>
              <a:t>12</a:t>
            </a:r>
          </a:p>
        </p:txBody>
      </p:sp>
      <p:graphicFrame>
        <p:nvGraphicFramePr>
          <p:cNvPr id="14" name="Chart"/>
          <p:cNvGraphicFramePr/>
          <p:nvPr/>
        </p:nvGraphicFramePr>
        <p:xfrm>
          <a:off x="666750" y="1752600"/>
          <a:ext cx="10763250" cy="3228975"/>
        </p:xfrm>
        <a:graphic>
          <a:graphicData uri="http://schemas.openxmlformats.org/drawingml/2006/chart">
            <c:chart xmlns:c="http://schemas.openxmlformats.org/drawingml/2006/chart" xmlns:r="http://schemas.openxmlformats.org/officeDocument/2006/relationships" r:id="rId3"/>
          </a:graphicData>
        </a:graphic>
      </p:graphicFrame>
      <p:sp>
        <p:nvSpPr>
          <p:cNvPr id="6" name="92.43% screened">
            <a:extLst>
              <a:ext uri="{FF2B5EF4-FFF2-40B4-BE49-F238E27FC236}">
                <a16:creationId xmlns:a16="http://schemas.microsoft.com/office/drawing/2014/main" id="{EB849B04-80E4-4711-9193-A6C7D9109825}"/>
              </a:ext>
            </a:extLst>
          </p:cNvPr>
          <p:cNvSpPr>
            <a:spLocks noGrp="1"/>
          </p:cNvSpPr>
          <p:nvPr/>
        </p:nvSpPr>
        <p:spPr>
          <a:xfrm>
            <a:off x="628650" y="5238750"/>
            <a:ext cx="3476625" cy="428625"/>
          </a:xfrm>
          <a:prstGeom prst="rect">
            <a:avLst/>
          </a:prstGeom>
          <a:noFill/>
          <a:ln w="0">
            <a:noFill/>
          </a:ln>
        </p:spPr>
        <p:txBody>
          <a:bodyPr wrap="square" lIns="0" tIns="0" rIns="0" bIns="0" anchor="t">
            <a:noAutofit/>
          </a:bodyPr>
          <a:lstStyle/>
          <a:p>
            <a:pPr algn="l">
              <a:defRPr sz="2325" b="1">
                <a:solidFill>
                  <a:srgbClr val="087E82"/>
                </a:solidFill>
                <a:latin typeface="Arial"/>
                <a:ea typeface="Arial"/>
                <a:cs typeface="Arial"/>
              </a:defRPr>
            </a:pPr>
            <a:r>
              <a:rPr sz="2325" b="1">
                <a:solidFill>
                  <a:srgbClr val="087E82"/>
                </a:solidFill>
                <a:latin typeface="Arial"/>
                <a:ea typeface="Arial"/>
                <a:cs typeface="Arial"/>
              </a:rPr>
              <a:t>92.43% screened</a:t>
            </a:r>
          </a:p>
        </p:txBody>
      </p:sp>
      <p:sp>
        <p:nvSpPr>
          <p:cNvPr id="7" name="3.44% referred">
            <a:extLst>
              <a:ext uri="{FF2B5EF4-FFF2-40B4-BE49-F238E27FC236}">
                <a16:creationId xmlns:a16="http://schemas.microsoft.com/office/drawing/2014/main" id="{A837E73D-8893-4146-8548-FE66E23D9458}"/>
              </a:ext>
            </a:extLst>
          </p:cNvPr>
          <p:cNvSpPr>
            <a:spLocks noGrp="1"/>
          </p:cNvSpPr>
          <p:nvPr/>
        </p:nvSpPr>
        <p:spPr>
          <a:xfrm>
            <a:off x="4533900" y="5238750"/>
            <a:ext cx="3333750" cy="428625"/>
          </a:xfrm>
          <a:prstGeom prst="rect">
            <a:avLst/>
          </a:prstGeom>
          <a:noFill/>
          <a:ln w="0">
            <a:noFill/>
          </a:ln>
        </p:spPr>
        <p:txBody>
          <a:bodyPr wrap="square" lIns="0" tIns="0" rIns="0" bIns="0" anchor="t">
            <a:noAutofit/>
          </a:bodyPr>
          <a:lstStyle/>
          <a:p>
            <a:pPr algn="l">
              <a:defRPr sz="2325" b="1">
                <a:solidFill>
                  <a:srgbClr val="C97925"/>
                </a:solidFill>
                <a:latin typeface="Arial"/>
                <a:ea typeface="Arial"/>
                <a:cs typeface="Arial"/>
              </a:defRPr>
            </a:pPr>
            <a:r>
              <a:rPr sz="2325" b="1">
                <a:solidFill>
                  <a:srgbClr val="C97925"/>
                </a:solidFill>
                <a:latin typeface="Arial"/>
                <a:ea typeface="Arial"/>
                <a:cs typeface="Arial"/>
              </a:rPr>
              <a:t>3.44% referred</a:t>
            </a:r>
          </a:p>
        </p:txBody>
      </p:sp>
      <p:sp>
        <p:nvSpPr>
          <p:cNvPr id="8" name="4.13% flagged">
            <a:extLst>
              <a:ext uri="{FF2B5EF4-FFF2-40B4-BE49-F238E27FC236}">
                <a16:creationId xmlns:a16="http://schemas.microsoft.com/office/drawing/2014/main" id="{9441B1B0-2868-4305-991F-F9E7B4763A41}"/>
              </a:ext>
            </a:extLst>
          </p:cNvPr>
          <p:cNvSpPr>
            <a:spLocks noGrp="1"/>
          </p:cNvSpPr>
          <p:nvPr/>
        </p:nvSpPr>
        <p:spPr>
          <a:xfrm>
            <a:off x="8410575" y="5238750"/>
            <a:ext cx="3133725" cy="428625"/>
          </a:xfrm>
          <a:prstGeom prst="rect">
            <a:avLst/>
          </a:prstGeom>
          <a:noFill/>
          <a:ln w="0">
            <a:noFill/>
          </a:ln>
        </p:spPr>
        <p:txBody>
          <a:bodyPr wrap="square" lIns="0" tIns="0" rIns="0" bIns="0" anchor="t">
            <a:noAutofit/>
          </a:bodyPr>
          <a:lstStyle/>
          <a:p>
            <a:pPr algn="l">
              <a:defRPr sz="2325" b="1">
                <a:solidFill>
                  <a:srgbClr val="152B3C"/>
                </a:solidFill>
                <a:latin typeface="Arial"/>
                <a:ea typeface="Arial"/>
                <a:cs typeface="Arial"/>
              </a:defRPr>
            </a:pPr>
            <a:r>
              <a:rPr sz="2325" b="1">
                <a:solidFill>
                  <a:srgbClr val="152B3C"/>
                </a:solidFill>
                <a:latin typeface="Arial"/>
                <a:ea typeface="Arial"/>
                <a:cs typeface="Arial"/>
              </a:rPr>
              <a:t>4.13% flagged</a:t>
            </a:r>
          </a:p>
        </p:txBody>
      </p:sp>
      <p:sp>
        <p:nvSpPr>
          <p:cNvPr id="9" name="Macro averages. These routing shares indicate potential workload ">
            <a:extLst>
              <a:ext uri="{FF2B5EF4-FFF2-40B4-BE49-F238E27FC236}">
                <a16:creationId xmlns:a16="http://schemas.microsoft.com/office/drawing/2014/main" id="{1741F03B-3C07-405D-A99F-62E0E5E0C8C9}"/>
              </a:ext>
            </a:extLst>
          </p:cNvPr>
          <p:cNvSpPr>
            <a:spLocks noGrp="1"/>
          </p:cNvSpPr>
          <p:nvPr/>
        </p:nvSpPr>
        <p:spPr>
          <a:xfrm>
            <a:off x="628650" y="5876925"/>
            <a:ext cx="10934700" cy="409575"/>
          </a:xfrm>
          <a:prstGeom prst="rect">
            <a:avLst/>
          </a:prstGeom>
          <a:noFill/>
          <a:ln w="0">
            <a:noFill/>
          </a:ln>
        </p:spPr>
        <p:txBody>
          <a:bodyPr wrap="square" lIns="0" tIns="0" rIns="0" bIns="0" anchor="t">
            <a:noAutofit/>
          </a:bodyPr>
          <a:lstStyle/>
          <a:p>
            <a:pPr algn="l">
              <a:defRPr sz="1350" b="0">
                <a:solidFill>
                  <a:srgbClr val="526577"/>
                </a:solidFill>
                <a:latin typeface="Arial"/>
                <a:ea typeface="Arial"/>
                <a:cs typeface="Arial"/>
              </a:defRPr>
            </a:pPr>
            <a:r>
              <a:rPr sz="1350" b="0">
                <a:solidFill>
                  <a:srgbClr val="526577"/>
                </a:solidFill>
                <a:latin typeface="Arial"/>
                <a:ea typeface="Arial"/>
                <a:cs typeface="Arial"/>
              </a:rPr>
              <a:t>Macro averages. These routing shares indicate potential workload reduction. Runtime and simulation speed-up were not measured.</a:t>
            </a:r>
          </a:p>
        </p:txBody>
      </p:sp>
    </p:spTree>
    <p:extLst>
      <p:ext uri="{BB962C8B-B14F-4D97-AF65-F5344CB8AC3E}">
        <p14:creationId xmlns:p14="http://schemas.microsoft.com/office/powerpoint/2010/main" val="15282648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Benchmark 1: what referral changes">
            <a:extLst>
              <a:ext uri="{FF2B5EF4-FFF2-40B4-BE49-F238E27FC236}">
                <a16:creationId xmlns:a16="http://schemas.microsoft.com/office/drawing/2014/main" id="{4A1349D5-D02A-4F78-835A-CACC9C052C5C}"/>
              </a:ext>
            </a:extLst>
          </p:cNvPr>
          <p:cNvSpPr>
            <a:spLocks noGrp="1"/>
          </p:cNvSpPr>
          <p:nvPr/>
        </p:nvSpPr>
        <p:spPr>
          <a:xfrm>
            <a:off x="609600" y="428625"/>
            <a:ext cx="10972800" cy="609600"/>
          </a:xfrm>
          <a:prstGeom prst="rect">
            <a:avLst/>
          </a:prstGeom>
          <a:noFill/>
          <a:ln w="0">
            <a:noFill/>
          </a:ln>
        </p:spPr>
        <p:txBody>
          <a:bodyPr wrap="square" lIns="0" tIns="0" rIns="0" bIns="0" anchor="t">
            <a:noAutofit/>
          </a:bodyPr>
          <a:lstStyle/>
          <a:p>
            <a:pPr algn="l">
              <a:defRPr sz="3225" b="1">
                <a:solidFill>
                  <a:srgbClr val="152B3C"/>
                </a:solidFill>
                <a:latin typeface="Arial"/>
                <a:ea typeface="Arial"/>
                <a:cs typeface="Arial"/>
              </a:defRPr>
            </a:pPr>
            <a:r>
              <a:rPr sz="3225" b="1">
                <a:solidFill>
                  <a:srgbClr val="152B3C"/>
                </a:solidFill>
                <a:latin typeface="Arial"/>
                <a:ea typeface="Arial"/>
                <a:cs typeface="Arial"/>
              </a:rPr>
              <a:t>Benchmark 1: what referral changes</a:t>
            </a:r>
          </a:p>
        </p:txBody>
      </p:sp>
      <p:sp>
        <p:nvSpPr>
          <p:cNvPr id="2" name="Thresholds 0.20/0.80. The table shows true class versus routing d">
            <a:extLst>
              <a:ext uri="{FF2B5EF4-FFF2-40B4-BE49-F238E27FC236}">
                <a16:creationId xmlns:a16="http://schemas.microsoft.com/office/drawing/2014/main" id="{DE18B843-BE77-4AA7-9E63-3281B7BCB6F5}"/>
              </a:ext>
            </a:extLst>
          </p:cNvPr>
          <p:cNvSpPr>
            <a:spLocks noGrp="1"/>
          </p:cNvSpPr>
          <p:nvPr/>
        </p:nvSpPr>
        <p:spPr>
          <a:xfrm>
            <a:off x="628650" y="1152525"/>
            <a:ext cx="10934700" cy="476250"/>
          </a:xfrm>
          <a:prstGeom prst="rect">
            <a:avLst/>
          </a:prstGeom>
          <a:noFill/>
          <a:ln w="0">
            <a:noFill/>
          </a:ln>
        </p:spPr>
        <p:txBody>
          <a:bodyPr wrap="square" lIns="0" tIns="0" rIns="0" bIns="0" anchor="t">
            <a:noAutofit/>
          </a:bodyPr>
          <a:lstStyle/>
          <a:p>
            <a:pPr algn="l">
              <a:defRPr sz="1800" b="0">
                <a:solidFill>
                  <a:srgbClr val="526577"/>
                </a:solidFill>
                <a:latin typeface="Arial"/>
                <a:ea typeface="Arial"/>
                <a:cs typeface="Arial"/>
              </a:defRPr>
            </a:pPr>
            <a:r>
              <a:rPr sz="1800" b="0">
                <a:solidFill>
                  <a:srgbClr val="526577"/>
                </a:solidFill>
                <a:latin typeface="Arial"/>
                <a:ea typeface="Arial"/>
                <a:cs typeface="Arial"/>
              </a:rPr>
              <a:t>Thresholds 0.20/0.80. The table shows true class versus routing decision.</a:t>
            </a:r>
          </a:p>
        </p:txBody>
      </p:sp>
      <p:sp>
        <p:nvSpPr>
          <p:cNvPr id="3" name="G19">
            <a:extLst>
              <a:ext uri="{FF2B5EF4-FFF2-40B4-BE49-F238E27FC236}">
                <a16:creationId xmlns:a16="http://schemas.microsoft.com/office/drawing/2014/main" id="{FDEDAD67-0846-4CD2-BED4-76B3FF8CDA86}"/>
              </a:ext>
            </a:extLst>
          </p:cNvPr>
          <p:cNvSpPr>
            <a:spLocks noGrp="1"/>
          </p:cNvSpPr>
          <p:nvPr/>
        </p:nvSpPr>
        <p:spPr>
          <a:xfrm>
            <a:off x="609600" y="6467475"/>
            <a:ext cx="952500" cy="219075"/>
          </a:xfrm>
          <a:prstGeom prst="rect">
            <a:avLst/>
          </a:prstGeom>
          <a:noFill/>
          <a:ln w="0">
            <a:noFill/>
          </a:ln>
        </p:spPr>
        <p:txBody>
          <a:bodyPr wrap="square" lIns="0" tIns="0" rIns="0" bIns="0" anchor="t">
            <a:noAutofit/>
          </a:bodyPr>
          <a:lstStyle/>
          <a:p>
            <a:pPr algn="l">
              <a:defRPr sz="1200" b="0">
                <a:solidFill>
                  <a:srgbClr val="526577"/>
                </a:solidFill>
                <a:latin typeface="Arial"/>
                <a:ea typeface="Arial"/>
                <a:cs typeface="Arial"/>
              </a:defRPr>
            </a:pPr>
            <a:r>
              <a:rPr sz="1200" b="0">
                <a:solidFill>
                  <a:srgbClr val="526577"/>
                </a:solidFill>
                <a:latin typeface="Arial"/>
                <a:ea typeface="Arial"/>
                <a:cs typeface="Arial"/>
              </a:rPr>
              <a:t>G19</a:t>
            </a:r>
          </a:p>
        </p:txBody>
      </p:sp>
      <p:sp>
        <p:nvSpPr>
          <p:cNvPr id="4" name="13">
            <a:extLst>
              <a:ext uri="{FF2B5EF4-FFF2-40B4-BE49-F238E27FC236}">
                <a16:creationId xmlns:a16="http://schemas.microsoft.com/office/drawing/2014/main" id="{E96A968B-5B66-4542-87B1-E181004C2D06}"/>
              </a:ext>
            </a:extLst>
          </p:cNvPr>
          <p:cNvSpPr>
            <a:spLocks noGrp="1"/>
          </p:cNvSpPr>
          <p:nvPr/>
        </p:nvSpPr>
        <p:spPr>
          <a:xfrm>
            <a:off x="10991850" y="6467475"/>
            <a:ext cx="571500" cy="219075"/>
          </a:xfrm>
          <a:prstGeom prst="rect">
            <a:avLst/>
          </a:prstGeom>
          <a:noFill/>
          <a:ln w="0">
            <a:noFill/>
          </a:ln>
        </p:spPr>
        <p:txBody>
          <a:bodyPr wrap="square" lIns="0" tIns="0" rIns="0" bIns="0" anchor="t">
            <a:noAutofit/>
          </a:bodyPr>
          <a:lstStyle/>
          <a:p>
            <a:pPr algn="r">
              <a:defRPr sz="1200" b="0">
                <a:solidFill>
                  <a:srgbClr val="526577"/>
                </a:solidFill>
                <a:latin typeface="Arial"/>
                <a:ea typeface="Arial"/>
                <a:cs typeface="Arial"/>
              </a:defRPr>
            </a:pPr>
            <a:r>
              <a:rPr sz="1200" b="0">
                <a:solidFill>
                  <a:srgbClr val="526577"/>
                </a:solidFill>
                <a:latin typeface="Arial"/>
                <a:ea typeface="Arial"/>
                <a:cs typeface="Arial"/>
              </a:rPr>
              <a:t>13</a:t>
            </a:r>
          </a:p>
        </p:txBody>
      </p:sp>
      <p:graphicFrame>
        <p:nvGraphicFramePr>
          <p:cNvPr id="13" name="Table 12"/>
          <p:cNvGraphicFramePr/>
          <p:nvPr/>
        </p:nvGraphicFramePr>
        <p:xfrm>
          <a:off x="628650" y="2105025"/>
          <a:ext cx="10934700" cy="1943100"/>
        </p:xfrm>
        <a:graphic>
          <a:graphicData uri="http://schemas.openxmlformats.org/drawingml/2006/table">
            <a:tbl>
              <a:tblPr/>
              <a:tblGrid>
                <a:gridCol w="2228850">
                  <a:extLst>
                    <a:ext uri="{9D8B030D-6E8A-4147-A177-3AD203B41FA5}">
                      <a16:colId xmlns:a16="http://schemas.microsoft.com/office/drawing/2014/main" val="20000"/>
                    </a:ext>
                  </a:extLst>
                </a:gridCol>
                <a:gridCol w="2657475">
                  <a:extLst>
                    <a:ext uri="{9D8B030D-6E8A-4147-A177-3AD203B41FA5}">
                      <a16:colId xmlns:a16="http://schemas.microsoft.com/office/drawing/2014/main" val="20001"/>
                    </a:ext>
                  </a:extLst>
                </a:gridCol>
                <a:gridCol w="1924050">
                  <a:extLst>
                    <a:ext uri="{9D8B030D-6E8A-4147-A177-3AD203B41FA5}">
                      <a16:colId xmlns:a16="http://schemas.microsoft.com/office/drawing/2014/main" val="20002"/>
                    </a:ext>
                  </a:extLst>
                </a:gridCol>
                <a:gridCol w="1924050">
                  <a:extLst>
                    <a:ext uri="{9D8B030D-6E8A-4147-A177-3AD203B41FA5}">
                      <a16:colId xmlns:a16="http://schemas.microsoft.com/office/drawing/2014/main" val="20003"/>
                    </a:ext>
                  </a:extLst>
                </a:gridCol>
                <a:gridCol w="2200275">
                  <a:extLst>
                    <a:ext uri="{9D8B030D-6E8A-4147-A177-3AD203B41FA5}">
                      <a16:colId xmlns:a16="http://schemas.microsoft.com/office/drawing/2014/main" val="20004"/>
                    </a:ext>
                  </a:extLst>
                </a:gridCol>
              </a:tblGrid>
              <a:tr h="647700">
                <a:tc>
                  <a:txBody>
                    <a:bodyPr/>
                    <a:lstStyle/>
                    <a:p>
                      <a:pPr algn="l"/>
                      <a:r>
                        <a:rPr sz="1875" b="1">
                          <a:solidFill>
                            <a:srgbClr val="FFFFFF"/>
                          </a:solidFill>
                          <a:latin typeface="Arial"/>
                          <a:ea typeface="Arial"/>
                          <a:cs typeface="Arial"/>
                        </a:rPr>
                        <a:t>True class</a:t>
                      </a:r>
                    </a:p>
                  </a:txBody>
                  <a:tcPr anchor="ctr">
                    <a:solidFill>
                      <a:srgbClr val="152B3C"/>
                    </a:solidFill>
                  </a:tcPr>
                </a:tc>
                <a:tc>
                  <a:txBody>
                    <a:bodyPr/>
                    <a:lstStyle/>
                    <a:p>
                      <a:pPr algn="ctr"/>
                      <a:r>
                        <a:rPr sz="1875" b="1">
                          <a:solidFill>
                            <a:srgbClr val="FFFFFF"/>
                          </a:solidFill>
                          <a:latin typeface="Arial"/>
                          <a:ea typeface="Arial"/>
                          <a:cs typeface="Arial"/>
                        </a:rPr>
                        <a:t>Screened as safe</a:t>
                      </a:r>
                    </a:p>
                  </a:txBody>
                  <a:tcPr anchor="ctr">
                    <a:solidFill>
                      <a:srgbClr val="152B3C"/>
                    </a:solidFill>
                  </a:tcPr>
                </a:tc>
                <a:tc>
                  <a:txBody>
                    <a:bodyPr/>
                    <a:lstStyle/>
                    <a:p>
                      <a:pPr algn="ctr"/>
                      <a:r>
                        <a:rPr sz="1875" b="1">
                          <a:solidFill>
                            <a:srgbClr val="FFFFFF"/>
                          </a:solidFill>
                          <a:latin typeface="Arial"/>
                          <a:ea typeface="Arial"/>
                          <a:cs typeface="Arial"/>
                        </a:rPr>
                        <a:t>Referred</a:t>
                      </a:r>
                    </a:p>
                  </a:txBody>
                  <a:tcPr anchor="ctr">
                    <a:solidFill>
                      <a:srgbClr val="152B3C"/>
                    </a:solidFill>
                  </a:tcPr>
                </a:tc>
                <a:tc>
                  <a:txBody>
                    <a:bodyPr/>
                    <a:lstStyle/>
                    <a:p>
                      <a:pPr algn="ctr"/>
                      <a:r>
                        <a:rPr sz="1875" b="1">
                          <a:solidFill>
                            <a:srgbClr val="FFFFFF"/>
                          </a:solidFill>
                          <a:latin typeface="Arial"/>
                          <a:ea typeface="Arial"/>
                          <a:cs typeface="Arial"/>
                        </a:rPr>
                        <a:t>Flagged</a:t>
                      </a:r>
                    </a:p>
                  </a:txBody>
                  <a:tcPr anchor="ctr">
                    <a:solidFill>
                      <a:srgbClr val="152B3C"/>
                    </a:solidFill>
                  </a:tcPr>
                </a:tc>
                <a:tc>
                  <a:txBody>
                    <a:bodyPr/>
                    <a:lstStyle/>
                    <a:p>
                      <a:pPr algn="ctr"/>
                      <a:r>
                        <a:rPr sz="1875" b="1">
                          <a:solidFill>
                            <a:srgbClr val="FFFFFF"/>
                          </a:solidFill>
                          <a:latin typeface="Arial"/>
                          <a:ea typeface="Arial"/>
                          <a:cs typeface="Arial"/>
                        </a:rPr>
                        <a:t>Total</a:t>
                      </a:r>
                    </a:p>
                  </a:txBody>
                  <a:tcPr anchor="ctr">
                    <a:solidFill>
                      <a:srgbClr val="152B3C"/>
                    </a:solidFill>
                  </a:tcPr>
                </a:tc>
                <a:extLst>
                  <a:ext uri="{0D108BD9-81ED-4DB2-BD59-A6C34878D82A}">
                    <a16:rowId xmlns:a16="http://schemas.microsoft.com/office/drawing/2014/main" val="10000"/>
                  </a:ext>
                </a:extLst>
              </a:tr>
              <a:tr h="647700">
                <a:tc>
                  <a:txBody>
                    <a:bodyPr/>
                    <a:lstStyle/>
                    <a:p>
                      <a:pPr algn="l"/>
                      <a:r>
                        <a:rPr sz="1875" b="0">
                          <a:solidFill>
                            <a:srgbClr val="172E40"/>
                          </a:solidFill>
                          <a:latin typeface="Arial"/>
                          <a:ea typeface="Arial"/>
                          <a:cs typeface="Arial"/>
                        </a:rPr>
                        <a:t>Hotspot</a:t>
                      </a:r>
                    </a:p>
                  </a:txBody>
                  <a:tcPr anchor="ctr">
                    <a:solidFill>
                      <a:srgbClr val="FFFFFF"/>
                    </a:solidFill>
                  </a:tcPr>
                </a:tc>
                <a:tc>
                  <a:txBody>
                    <a:bodyPr/>
                    <a:lstStyle/>
                    <a:p>
                      <a:pPr algn="ctr"/>
                      <a:r>
                        <a:rPr sz="1875" b="0">
                          <a:solidFill>
                            <a:srgbClr val="172E40"/>
                          </a:solidFill>
                          <a:latin typeface="Arial"/>
                          <a:ea typeface="Arial"/>
                          <a:cs typeface="Arial"/>
                        </a:rPr>
                        <a:t>38</a:t>
                      </a:r>
                    </a:p>
                  </a:txBody>
                  <a:tcPr anchor="ctr">
                    <a:solidFill>
                      <a:srgbClr val="FFFFFF"/>
                    </a:solidFill>
                  </a:tcPr>
                </a:tc>
                <a:tc>
                  <a:txBody>
                    <a:bodyPr/>
                    <a:lstStyle/>
                    <a:p>
                      <a:pPr algn="ctr"/>
                      <a:r>
                        <a:rPr sz="1875" b="0">
                          <a:solidFill>
                            <a:srgbClr val="172E40"/>
                          </a:solidFill>
                          <a:latin typeface="Arial"/>
                          <a:ea typeface="Arial"/>
                          <a:cs typeface="Arial"/>
                        </a:rPr>
                        <a:t>136</a:t>
                      </a:r>
                    </a:p>
                  </a:txBody>
                  <a:tcPr anchor="ctr">
                    <a:solidFill>
                      <a:srgbClr val="FFFFFF"/>
                    </a:solidFill>
                  </a:tcPr>
                </a:tc>
                <a:tc>
                  <a:txBody>
                    <a:bodyPr/>
                    <a:lstStyle/>
                    <a:p>
                      <a:pPr algn="ctr"/>
                      <a:r>
                        <a:rPr sz="1875" b="0">
                          <a:solidFill>
                            <a:srgbClr val="172E40"/>
                          </a:solidFill>
                          <a:latin typeface="Arial"/>
                          <a:ea typeface="Arial"/>
                          <a:cs typeface="Arial"/>
                        </a:rPr>
                        <a:t>52</a:t>
                      </a:r>
                    </a:p>
                  </a:txBody>
                  <a:tcPr anchor="ctr">
                    <a:solidFill>
                      <a:srgbClr val="FFFFFF"/>
                    </a:solidFill>
                  </a:tcPr>
                </a:tc>
                <a:tc>
                  <a:txBody>
                    <a:bodyPr/>
                    <a:lstStyle/>
                    <a:p>
                      <a:pPr algn="ctr"/>
                      <a:r>
                        <a:rPr sz="1875" b="0">
                          <a:solidFill>
                            <a:srgbClr val="172E40"/>
                          </a:solidFill>
                          <a:latin typeface="Arial"/>
                          <a:ea typeface="Arial"/>
                          <a:cs typeface="Arial"/>
                        </a:rPr>
                        <a:t>226</a:t>
                      </a:r>
                    </a:p>
                  </a:txBody>
                  <a:tcPr anchor="ctr">
                    <a:solidFill>
                      <a:srgbClr val="FFFFFF"/>
                    </a:solidFill>
                  </a:tcPr>
                </a:tc>
                <a:extLst>
                  <a:ext uri="{0D108BD9-81ED-4DB2-BD59-A6C34878D82A}">
                    <a16:rowId xmlns:a16="http://schemas.microsoft.com/office/drawing/2014/main" val="10001"/>
                  </a:ext>
                </a:extLst>
              </a:tr>
              <a:tr h="647700">
                <a:tc>
                  <a:txBody>
                    <a:bodyPr/>
                    <a:lstStyle/>
                    <a:p>
                      <a:pPr algn="l"/>
                      <a:r>
                        <a:rPr sz="1875" b="0">
                          <a:solidFill>
                            <a:srgbClr val="172E40"/>
                          </a:solidFill>
                          <a:latin typeface="Arial"/>
                          <a:ea typeface="Arial"/>
                          <a:cs typeface="Arial"/>
                        </a:rPr>
                        <a:t>Non-hotspot</a:t>
                      </a:r>
                    </a:p>
                  </a:txBody>
                  <a:tcPr anchor="ctr">
                    <a:solidFill>
                      <a:srgbClr val="F4F7FA"/>
                    </a:solidFill>
                  </a:tcPr>
                </a:tc>
                <a:tc>
                  <a:txBody>
                    <a:bodyPr/>
                    <a:lstStyle/>
                    <a:p>
                      <a:pPr algn="ctr"/>
                      <a:r>
                        <a:rPr sz="1875" b="0">
                          <a:solidFill>
                            <a:srgbClr val="172E40"/>
                          </a:solidFill>
                          <a:latin typeface="Arial"/>
                          <a:ea typeface="Arial"/>
                          <a:cs typeface="Arial"/>
                        </a:rPr>
                        <a:t>4,204</a:t>
                      </a:r>
                    </a:p>
                  </a:txBody>
                  <a:tcPr anchor="ctr">
                    <a:solidFill>
                      <a:srgbClr val="F4F7FA"/>
                    </a:solidFill>
                  </a:tcPr>
                </a:tc>
                <a:tc>
                  <a:txBody>
                    <a:bodyPr/>
                    <a:lstStyle/>
                    <a:p>
                      <a:pPr algn="ctr"/>
                      <a:r>
                        <a:rPr sz="1875" b="0">
                          <a:solidFill>
                            <a:srgbClr val="172E40"/>
                          </a:solidFill>
                          <a:latin typeface="Arial"/>
                          <a:ea typeface="Arial"/>
                          <a:cs typeface="Arial"/>
                        </a:rPr>
                        <a:t>458</a:t>
                      </a:r>
                    </a:p>
                  </a:txBody>
                  <a:tcPr anchor="ctr">
                    <a:solidFill>
                      <a:srgbClr val="F4F7FA"/>
                    </a:solidFill>
                  </a:tcPr>
                </a:tc>
                <a:tc>
                  <a:txBody>
                    <a:bodyPr/>
                    <a:lstStyle/>
                    <a:p>
                      <a:pPr algn="ctr"/>
                      <a:r>
                        <a:rPr sz="1875" b="0">
                          <a:solidFill>
                            <a:srgbClr val="172E40"/>
                          </a:solidFill>
                          <a:latin typeface="Arial"/>
                          <a:ea typeface="Arial"/>
                          <a:cs typeface="Arial"/>
                        </a:rPr>
                        <a:t>17</a:t>
                      </a:r>
                    </a:p>
                  </a:txBody>
                  <a:tcPr anchor="ctr">
                    <a:solidFill>
                      <a:srgbClr val="F4F7FA"/>
                    </a:solidFill>
                  </a:tcPr>
                </a:tc>
                <a:tc>
                  <a:txBody>
                    <a:bodyPr/>
                    <a:lstStyle/>
                    <a:p>
                      <a:pPr algn="ctr"/>
                      <a:r>
                        <a:rPr sz="1875" b="0">
                          <a:solidFill>
                            <a:srgbClr val="172E40"/>
                          </a:solidFill>
                          <a:latin typeface="Arial"/>
                          <a:ea typeface="Arial"/>
                          <a:cs typeface="Arial"/>
                        </a:rPr>
                        <a:t>4,679</a:t>
                      </a:r>
                    </a:p>
                  </a:txBody>
                  <a:tcPr anchor="ctr">
                    <a:solidFill>
                      <a:srgbClr val="F4F7FA"/>
                    </a:solidFill>
                  </a:tcPr>
                </a:tc>
                <a:extLst>
                  <a:ext uri="{0D108BD9-81ED-4DB2-BD59-A6C34878D82A}">
                    <a16:rowId xmlns:a16="http://schemas.microsoft.com/office/drawing/2014/main" val="10002"/>
                  </a:ext>
                </a:extLst>
              </a:tr>
            </a:tbl>
          </a:graphicData>
        </a:graphic>
      </p:graphicFrame>
      <p:sp>
        <p:nvSpPr>
          <p:cNvPr id="6" name="106 baseline misses">
            <a:extLst>
              <a:ext uri="{FF2B5EF4-FFF2-40B4-BE49-F238E27FC236}">
                <a16:creationId xmlns:a16="http://schemas.microsoft.com/office/drawing/2014/main" id="{1DD8BB23-8773-4C42-9DFB-15436F1E44A3}"/>
              </a:ext>
            </a:extLst>
          </p:cNvPr>
          <p:cNvSpPr>
            <a:spLocks noGrp="1"/>
          </p:cNvSpPr>
          <p:nvPr/>
        </p:nvSpPr>
        <p:spPr>
          <a:xfrm>
            <a:off x="628650" y="4533900"/>
            <a:ext cx="4953000" cy="466725"/>
          </a:xfrm>
          <a:prstGeom prst="rect">
            <a:avLst/>
          </a:prstGeom>
          <a:noFill/>
          <a:ln w="0">
            <a:noFill/>
          </a:ln>
        </p:spPr>
        <p:txBody>
          <a:bodyPr wrap="square" lIns="0" tIns="0" rIns="0" bIns="0" anchor="t">
            <a:noAutofit/>
          </a:bodyPr>
          <a:lstStyle/>
          <a:p>
            <a:pPr algn="l">
              <a:defRPr sz="2625" b="1">
                <a:solidFill>
                  <a:srgbClr val="8295A6"/>
                </a:solidFill>
                <a:latin typeface="Arial"/>
                <a:ea typeface="Arial"/>
                <a:cs typeface="Arial"/>
              </a:defRPr>
            </a:pPr>
            <a:r>
              <a:rPr sz="2625" b="1">
                <a:solidFill>
                  <a:srgbClr val="8295A6"/>
                </a:solidFill>
                <a:latin typeface="Arial"/>
                <a:ea typeface="Arial"/>
                <a:cs typeface="Arial"/>
              </a:rPr>
              <a:t>106 baseline misses</a:t>
            </a:r>
          </a:p>
        </p:txBody>
      </p:sp>
      <p:sp>
        <p:nvSpPr>
          <p:cNvPr id="7" name="38 hotspots passed unchecked">
            <a:extLst>
              <a:ext uri="{FF2B5EF4-FFF2-40B4-BE49-F238E27FC236}">
                <a16:creationId xmlns:a16="http://schemas.microsoft.com/office/drawing/2014/main" id="{0A308580-9394-43BF-94EF-D5314CB2B3F7}"/>
              </a:ext>
            </a:extLst>
          </p:cNvPr>
          <p:cNvSpPr>
            <a:spLocks noGrp="1"/>
          </p:cNvSpPr>
          <p:nvPr/>
        </p:nvSpPr>
        <p:spPr>
          <a:xfrm>
            <a:off x="6286500" y="4533900"/>
            <a:ext cx="5238750" cy="466725"/>
          </a:xfrm>
          <a:prstGeom prst="rect">
            <a:avLst/>
          </a:prstGeom>
          <a:noFill/>
          <a:ln w="0">
            <a:noFill/>
          </a:ln>
        </p:spPr>
        <p:txBody>
          <a:bodyPr wrap="square" lIns="0" tIns="0" rIns="0" bIns="0" anchor="t">
            <a:noAutofit/>
          </a:bodyPr>
          <a:lstStyle/>
          <a:p>
            <a:pPr algn="l">
              <a:defRPr sz="2625" b="1">
                <a:solidFill>
                  <a:srgbClr val="087E82"/>
                </a:solidFill>
                <a:latin typeface="Arial"/>
                <a:ea typeface="Arial"/>
                <a:cs typeface="Arial"/>
              </a:defRPr>
            </a:pPr>
            <a:r>
              <a:rPr sz="2625" b="1">
                <a:solidFill>
                  <a:srgbClr val="087E82"/>
                </a:solidFill>
                <a:latin typeface="Arial"/>
                <a:ea typeface="Arial"/>
                <a:cs typeface="Arial"/>
              </a:rPr>
              <a:t>38 hotspots passed unchecked</a:t>
            </a:r>
          </a:p>
        </p:txBody>
      </p:sp>
      <p:sp>
        <p:nvSpPr>
          <p:cNvPr id="8" name="Referral changes the routing of 68 baseline misses.&#10;The verificat">
            <a:extLst>
              <a:ext uri="{FF2B5EF4-FFF2-40B4-BE49-F238E27FC236}">
                <a16:creationId xmlns:a16="http://schemas.microsoft.com/office/drawing/2014/main" id="{C577FE78-1A4A-4D18-A27A-4E759344CBC0}"/>
              </a:ext>
            </a:extLst>
          </p:cNvPr>
          <p:cNvSpPr>
            <a:spLocks noGrp="1"/>
          </p:cNvSpPr>
          <p:nvPr/>
        </p:nvSpPr>
        <p:spPr>
          <a:xfrm>
            <a:off x="628650" y="5238750"/>
            <a:ext cx="10810875" cy="838200"/>
          </a:xfrm>
          <a:prstGeom prst="rect">
            <a:avLst/>
          </a:prstGeom>
          <a:noFill/>
          <a:ln w="0">
            <a:noFill/>
          </a:ln>
        </p:spPr>
        <p:txBody>
          <a:bodyPr wrap="square" lIns="0" tIns="0" rIns="0" bIns="0" anchor="t">
            <a:noAutofit/>
          </a:bodyPr>
          <a:lstStyle/>
          <a:p>
            <a:pPr algn="l">
              <a:defRPr sz="2025" b="0">
                <a:solidFill>
                  <a:srgbClr val="172E40"/>
                </a:solidFill>
                <a:latin typeface="Arial"/>
                <a:ea typeface="Arial"/>
                <a:cs typeface="Arial"/>
              </a:defRPr>
            </a:pPr>
            <a:r>
              <a:rPr sz="2025" b="0">
                <a:solidFill>
                  <a:srgbClr val="172E40"/>
                </a:solidFill>
                <a:latin typeface="Arial"/>
                <a:ea typeface="Arial"/>
                <a:cs typeface="Arial"/>
              </a:rPr>
              <a:t>Referral changes the routing of 68 baseline misses.</a:t>
            </a:r>
          </a:p>
          <a:p>
            <a:pPr algn="l">
              <a:defRPr sz="2025" b="0">
                <a:solidFill>
                  <a:srgbClr val="172E40"/>
                </a:solidFill>
                <a:latin typeface="Arial"/>
                <a:ea typeface="Arial"/>
                <a:cs typeface="Arial"/>
              </a:defRPr>
            </a:pPr>
            <a:r>
              <a:rPr sz="2025" b="0">
                <a:solidFill>
                  <a:srgbClr val="172E40"/>
                </a:solidFill>
                <a:latin typeface="Arial"/>
                <a:ea typeface="Arial"/>
                <a:cs typeface="Arial"/>
              </a:rPr>
              <a:t>The verification queue contains 594 patterns, including 136 true hotspots.</a:t>
            </a:r>
          </a:p>
        </p:txBody>
      </p:sp>
    </p:spTree>
    <p:extLst>
      <p:ext uri="{BB962C8B-B14F-4D97-AF65-F5344CB8AC3E}">
        <p14:creationId xmlns:p14="http://schemas.microsoft.com/office/powerpoint/2010/main" val="161119480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Limitations and next steps">
            <a:extLst>
              <a:ext uri="{FF2B5EF4-FFF2-40B4-BE49-F238E27FC236}">
                <a16:creationId xmlns:a16="http://schemas.microsoft.com/office/drawing/2014/main" id="{4B2F9511-FF7A-4A23-B86A-2867E01A5999}"/>
              </a:ext>
            </a:extLst>
          </p:cNvPr>
          <p:cNvSpPr>
            <a:spLocks noGrp="1"/>
          </p:cNvSpPr>
          <p:nvPr/>
        </p:nvSpPr>
        <p:spPr>
          <a:xfrm>
            <a:off x="609600" y="428625"/>
            <a:ext cx="10972800" cy="609600"/>
          </a:xfrm>
          <a:prstGeom prst="rect">
            <a:avLst/>
          </a:prstGeom>
          <a:noFill/>
          <a:ln w="0">
            <a:noFill/>
          </a:ln>
        </p:spPr>
        <p:txBody>
          <a:bodyPr wrap="square" lIns="0" tIns="0" rIns="0" bIns="0" anchor="t">
            <a:noAutofit/>
          </a:bodyPr>
          <a:lstStyle/>
          <a:p>
            <a:pPr algn="l">
              <a:defRPr sz="3225" b="1">
                <a:solidFill>
                  <a:srgbClr val="152B3C"/>
                </a:solidFill>
                <a:latin typeface="Arial"/>
                <a:ea typeface="Arial"/>
                <a:cs typeface="Arial"/>
              </a:defRPr>
            </a:pPr>
            <a:r>
              <a:rPr sz="3225" b="1">
                <a:solidFill>
                  <a:srgbClr val="152B3C"/>
                </a:solidFill>
                <a:latin typeface="Arial"/>
                <a:ea typeface="Arial"/>
                <a:cs typeface="Arial"/>
              </a:rPr>
              <a:t>Limitations and next steps</a:t>
            </a:r>
          </a:p>
        </p:txBody>
      </p:sp>
      <p:sp>
        <p:nvSpPr>
          <p:cNvPr id="2" name="G19">
            <a:extLst>
              <a:ext uri="{FF2B5EF4-FFF2-40B4-BE49-F238E27FC236}">
                <a16:creationId xmlns:a16="http://schemas.microsoft.com/office/drawing/2014/main" id="{F20FBC56-93CD-46E8-B374-6910D614009A}"/>
              </a:ext>
            </a:extLst>
          </p:cNvPr>
          <p:cNvSpPr>
            <a:spLocks noGrp="1"/>
          </p:cNvSpPr>
          <p:nvPr/>
        </p:nvSpPr>
        <p:spPr>
          <a:xfrm>
            <a:off x="609600" y="6467475"/>
            <a:ext cx="952500" cy="219075"/>
          </a:xfrm>
          <a:prstGeom prst="rect">
            <a:avLst/>
          </a:prstGeom>
          <a:noFill/>
          <a:ln w="0">
            <a:noFill/>
          </a:ln>
        </p:spPr>
        <p:txBody>
          <a:bodyPr wrap="square" lIns="0" tIns="0" rIns="0" bIns="0" anchor="t">
            <a:noAutofit/>
          </a:bodyPr>
          <a:lstStyle/>
          <a:p>
            <a:pPr algn="l">
              <a:defRPr sz="1200" b="0">
                <a:solidFill>
                  <a:srgbClr val="526577"/>
                </a:solidFill>
                <a:latin typeface="Arial"/>
                <a:ea typeface="Arial"/>
                <a:cs typeface="Arial"/>
              </a:defRPr>
            </a:pPr>
            <a:r>
              <a:rPr sz="1200" b="0">
                <a:solidFill>
                  <a:srgbClr val="526577"/>
                </a:solidFill>
                <a:latin typeface="Arial"/>
                <a:ea typeface="Arial"/>
                <a:cs typeface="Arial"/>
              </a:rPr>
              <a:t>G19</a:t>
            </a:r>
          </a:p>
        </p:txBody>
      </p:sp>
      <p:sp>
        <p:nvSpPr>
          <p:cNvPr id="3" name="14">
            <a:extLst>
              <a:ext uri="{FF2B5EF4-FFF2-40B4-BE49-F238E27FC236}">
                <a16:creationId xmlns:a16="http://schemas.microsoft.com/office/drawing/2014/main" id="{A9610726-F0DF-4C7B-B4F0-3B18C16527DB}"/>
              </a:ext>
            </a:extLst>
          </p:cNvPr>
          <p:cNvSpPr>
            <a:spLocks noGrp="1"/>
          </p:cNvSpPr>
          <p:nvPr/>
        </p:nvSpPr>
        <p:spPr>
          <a:xfrm>
            <a:off x="10991850" y="6467475"/>
            <a:ext cx="571500" cy="219075"/>
          </a:xfrm>
          <a:prstGeom prst="rect">
            <a:avLst/>
          </a:prstGeom>
          <a:noFill/>
          <a:ln w="0">
            <a:noFill/>
          </a:ln>
        </p:spPr>
        <p:txBody>
          <a:bodyPr wrap="square" lIns="0" tIns="0" rIns="0" bIns="0" anchor="t">
            <a:noAutofit/>
          </a:bodyPr>
          <a:lstStyle/>
          <a:p>
            <a:pPr algn="r">
              <a:defRPr sz="1200" b="0">
                <a:solidFill>
                  <a:srgbClr val="526577"/>
                </a:solidFill>
                <a:latin typeface="Arial"/>
                <a:ea typeface="Arial"/>
                <a:cs typeface="Arial"/>
              </a:defRPr>
            </a:pPr>
            <a:r>
              <a:rPr sz="1200" b="0">
                <a:solidFill>
                  <a:srgbClr val="526577"/>
                </a:solidFill>
                <a:latin typeface="Arial"/>
                <a:ea typeface="Arial"/>
                <a:cs typeface="Arial"/>
              </a:rPr>
              <a:t>14</a:t>
            </a:r>
          </a:p>
        </p:txBody>
      </p:sp>
      <p:graphicFrame>
        <p:nvGraphicFramePr>
          <p:cNvPr id="10" name="Table 9"/>
          <p:cNvGraphicFramePr/>
          <p:nvPr/>
        </p:nvGraphicFramePr>
        <p:xfrm>
          <a:off x="628650" y="1695450"/>
          <a:ext cx="10934700" cy="3381375"/>
        </p:xfrm>
        <a:graphic>
          <a:graphicData uri="http://schemas.openxmlformats.org/drawingml/2006/table">
            <a:tbl>
              <a:tblPr/>
              <a:tblGrid>
                <a:gridCol w="5076825">
                  <a:extLst>
                    <a:ext uri="{9D8B030D-6E8A-4147-A177-3AD203B41FA5}">
                      <a16:colId xmlns:a16="http://schemas.microsoft.com/office/drawing/2014/main" val="20000"/>
                    </a:ext>
                  </a:extLst>
                </a:gridCol>
                <a:gridCol w="5857875">
                  <a:extLst>
                    <a:ext uri="{9D8B030D-6E8A-4147-A177-3AD203B41FA5}">
                      <a16:colId xmlns:a16="http://schemas.microsoft.com/office/drawing/2014/main" val="20001"/>
                    </a:ext>
                  </a:extLst>
                </a:gridCol>
              </a:tblGrid>
              <a:tr h="676275">
                <a:tc>
                  <a:txBody>
                    <a:bodyPr/>
                    <a:lstStyle/>
                    <a:p>
                      <a:pPr algn="l"/>
                      <a:r>
                        <a:rPr sz="1800" b="1">
                          <a:solidFill>
                            <a:srgbClr val="FFFFFF"/>
                          </a:solidFill>
                          <a:latin typeface="Arial"/>
                          <a:ea typeface="Arial"/>
                          <a:cs typeface="Arial"/>
                        </a:rPr>
                        <a:t>Current evidence limit</a:t>
                      </a:r>
                    </a:p>
                  </a:txBody>
                  <a:tcPr anchor="ctr">
                    <a:solidFill>
                      <a:srgbClr val="152B3C"/>
                    </a:solidFill>
                  </a:tcPr>
                </a:tc>
                <a:tc>
                  <a:txBody>
                    <a:bodyPr/>
                    <a:lstStyle/>
                    <a:p>
                      <a:pPr algn="ctr"/>
                      <a:r>
                        <a:rPr sz="1800" b="1">
                          <a:solidFill>
                            <a:srgbClr val="FFFFFF"/>
                          </a:solidFill>
                          <a:latin typeface="Arial"/>
                          <a:ea typeface="Arial"/>
                          <a:cs typeface="Arial"/>
                        </a:rPr>
                        <a:t>Next step</a:t>
                      </a:r>
                    </a:p>
                  </a:txBody>
                  <a:tcPr anchor="ctr">
                    <a:solidFill>
                      <a:srgbClr val="152B3C"/>
                    </a:solidFill>
                  </a:tcPr>
                </a:tc>
                <a:extLst>
                  <a:ext uri="{0D108BD9-81ED-4DB2-BD59-A6C34878D82A}">
                    <a16:rowId xmlns:a16="http://schemas.microsoft.com/office/drawing/2014/main" val="10000"/>
                  </a:ext>
                </a:extLst>
              </a:tr>
              <a:tr h="676275">
                <a:tc>
                  <a:txBody>
                    <a:bodyPr/>
                    <a:lstStyle/>
                    <a:p>
                      <a:pPr algn="l"/>
                      <a:r>
                        <a:rPr sz="1800" b="0">
                          <a:solidFill>
                            <a:srgbClr val="172E40"/>
                          </a:solidFill>
                          <a:latin typeface="Arial"/>
                          <a:ea typeface="Arial"/>
                          <a:cs typeface="Arial"/>
                        </a:rPr>
                        <a:t>No downstream verification results</a:t>
                      </a:r>
                    </a:p>
                  </a:txBody>
                  <a:tcPr anchor="ctr">
                    <a:solidFill>
                      <a:srgbClr val="FFFFFF"/>
                    </a:solidFill>
                  </a:tcPr>
                </a:tc>
                <a:tc>
                  <a:txBody>
                    <a:bodyPr/>
                    <a:lstStyle/>
                    <a:p>
                      <a:pPr algn="ctr"/>
                      <a:r>
                        <a:rPr sz="1800" b="0">
                          <a:solidFill>
                            <a:srgbClr val="172E40"/>
                          </a:solidFill>
                          <a:latin typeface="Arial"/>
                          <a:ea typeface="Arial"/>
                          <a:cs typeface="Arial"/>
                        </a:rPr>
                        <a:t>Integrate a verifier and measure final detection metrics</a:t>
                      </a:r>
                    </a:p>
                  </a:txBody>
                  <a:tcPr anchor="ctr">
                    <a:solidFill>
                      <a:srgbClr val="FFFFFF"/>
                    </a:solidFill>
                  </a:tcPr>
                </a:tc>
                <a:extLst>
                  <a:ext uri="{0D108BD9-81ED-4DB2-BD59-A6C34878D82A}">
                    <a16:rowId xmlns:a16="http://schemas.microsoft.com/office/drawing/2014/main" val="10001"/>
                  </a:ext>
                </a:extLst>
              </a:tr>
              <a:tr h="676275">
                <a:tc>
                  <a:txBody>
                    <a:bodyPr/>
                    <a:lstStyle/>
                    <a:p>
                      <a:pPr algn="l"/>
                      <a:r>
                        <a:rPr sz="1800" b="0">
                          <a:solidFill>
                            <a:srgbClr val="172E40"/>
                          </a:solidFill>
                          <a:latin typeface="Arial"/>
                          <a:ea typeface="Arial"/>
                          <a:cs typeface="Arial"/>
                        </a:rPr>
                        <a:t>No measured runtime or simulation cost</a:t>
                      </a:r>
                    </a:p>
                  </a:txBody>
                  <a:tcPr anchor="ctr">
                    <a:solidFill>
                      <a:srgbClr val="F4F7FA"/>
                    </a:solidFill>
                  </a:tcPr>
                </a:tc>
                <a:tc>
                  <a:txBody>
                    <a:bodyPr/>
                    <a:lstStyle/>
                    <a:p>
                      <a:pPr algn="ctr"/>
                      <a:r>
                        <a:rPr sz="1800" b="0">
                          <a:solidFill>
                            <a:srgbClr val="172E40"/>
                          </a:solidFill>
                          <a:latin typeface="Arial"/>
                          <a:ea typeface="Arial"/>
                          <a:cs typeface="Arial"/>
                        </a:rPr>
                        <a:t>Benchmark inference and end-to-end verification time</a:t>
                      </a:r>
                    </a:p>
                  </a:txBody>
                  <a:tcPr anchor="ctr">
                    <a:solidFill>
                      <a:srgbClr val="F4F7FA"/>
                    </a:solidFill>
                  </a:tcPr>
                </a:tc>
                <a:extLst>
                  <a:ext uri="{0D108BD9-81ED-4DB2-BD59-A6C34878D82A}">
                    <a16:rowId xmlns:a16="http://schemas.microsoft.com/office/drawing/2014/main" val="10002"/>
                  </a:ext>
                </a:extLst>
              </a:tr>
              <a:tr h="676275">
                <a:tc>
                  <a:txBody>
                    <a:bodyPr/>
                    <a:lstStyle/>
                    <a:p>
                      <a:pPr algn="l"/>
                      <a:r>
                        <a:rPr sz="1800" b="0">
                          <a:solidFill>
                            <a:srgbClr val="172E40"/>
                          </a:solidFill>
                          <a:latin typeface="Arial"/>
                          <a:ea typeface="Arial"/>
                          <a:cs typeface="Arial"/>
                        </a:rPr>
                        <a:t>No calibration or threshold selection study</a:t>
                      </a:r>
                    </a:p>
                  </a:txBody>
                  <a:tcPr anchor="ctr">
                    <a:solidFill>
                      <a:srgbClr val="FFFFFF"/>
                    </a:solidFill>
                  </a:tcPr>
                </a:tc>
                <a:tc>
                  <a:txBody>
                    <a:bodyPr/>
                    <a:lstStyle/>
                    <a:p>
                      <a:pPr algn="ctr"/>
                      <a:r>
                        <a:rPr sz="1800" b="0">
                          <a:solidFill>
                            <a:srgbClr val="172E40"/>
                          </a:solidFill>
                          <a:latin typeface="Arial"/>
                          <a:ea typeface="Arial"/>
                          <a:cs typeface="Arial"/>
                        </a:rPr>
                        <a:t>Calibrate scores and choose thresholds on validation data</a:t>
                      </a:r>
                    </a:p>
                  </a:txBody>
                  <a:tcPr anchor="ctr">
                    <a:solidFill>
                      <a:srgbClr val="FFFFFF"/>
                    </a:solidFill>
                  </a:tcPr>
                </a:tc>
                <a:extLst>
                  <a:ext uri="{0D108BD9-81ED-4DB2-BD59-A6C34878D82A}">
                    <a16:rowId xmlns:a16="http://schemas.microsoft.com/office/drawing/2014/main" val="10003"/>
                  </a:ext>
                </a:extLst>
              </a:tr>
              <a:tr h="676275">
                <a:tc>
                  <a:txBody>
                    <a:bodyPr/>
                    <a:lstStyle/>
                    <a:p>
                      <a:pPr algn="l"/>
                      <a:r>
                        <a:rPr sz="1800" b="0">
                          <a:solidFill>
                            <a:srgbClr val="172E40"/>
                          </a:solidFill>
                          <a:latin typeface="Arial"/>
                          <a:ea typeface="Arial"/>
                          <a:cs typeface="Arial"/>
                        </a:rPr>
                        <a:t>Single saved run per benchmark</a:t>
                      </a:r>
                    </a:p>
                  </a:txBody>
                  <a:tcPr anchor="ctr">
                    <a:solidFill>
                      <a:srgbClr val="F4F7FA"/>
                    </a:solidFill>
                  </a:tcPr>
                </a:tc>
                <a:tc>
                  <a:txBody>
                    <a:bodyPr/>
                    <a:lstStyle/>
                    <a:p>
                      <a:pPr algn="ctr"/>
                      <a:r>
                        <a:rPr sz="1800" b="0">
                          <a:solidFill>
                            <a:srgbClr val="172E40"/>
                          </a:solidFill>
                          <a:latin typeface="Arial"/>
                          <a:ea typeface="Arial"/>
                          <a:cs typeface="Arial"/>
                        </a:rPr>
                        <a:t>Repeat runs and test sensitivity to random initialization</a:t>
                      </a:r>
                    </a:p>
                  </a:txBody>
                  <a:tcPr anchor="ctr">
                    <a:solidFill>
                      <a:srgbClr val="F4F7FA"/>
                    </a:solidFill>
                  </a:tcPr>
                </a:tc>
                <a:extLst>
                  <a:ext uri="{0D108BD9-81ED-4DB2-BD59-A6C34878D82A}">
                    <a16:rowId xmlns:a16="http://schemas.microsoft.com/office/drawing/2014/main" val="10004"/>
                  </a:ext>
                </a:extLst>
              </a:tr>
            </a:tbl>
          </a:graphicData>
        </a:graphic>
      </p:graphicFrame>
      <p:sp>
        <p:nvSpPr>
          <p:cNvPr id="5" name="Persistent confident errors require model improvement">
            <a:extLst>
              <a:ext uri="{FF2B5EF4-FFF2-40B4-BE49-F238E27FC236}">
                <a16:creationId xmlns:a16="http://schemas.microsoft.com/office/drawing/2014/main" id="{6E3C353C-6462-47C9-88F4-DB0729B590CF}"/>
              </a:ext>
            </a:extLst>
          </p:cNvPr>
          <p:cNvSpPr>
            <a:spLocks noGrp="1"/>
          </p:cNvSpPr>
          <p:nvPr/>
        </p:nvSpPr>
        <p:spPr>
          <a:xfrm>
            <a:off x="628650" y="5400675"/>
            <a:ext cx="10753725" cy="438150"/>
          </a:xfrm>
          <a:prstGeom prst="rect">
            <a:avLst/>
          </a:prstGeom>
          <a:noFill/>
          <a:ln w="0">
            <a:noFill/>
          </a:ln>
        </p:spPr>
        <p:txBody>
          <a:bodyPr wrap="square" lIns="0" tIns="0" rIns="0" bIns="0" anchor="t">
            <a:noAutofit/>
          </a:bodyPr>
          <a:lstStyle/>
          <a:p>
            <a:pPr algn="l">
              <a:defRPr sz="2325" b="1">
                <a:solidFill>
                  <a:srgbClr val="087E82"/>
                </a:solidFill>
                <a:latin typeface="Arial"/>
                <a:ea typeface="Arial"/>
                <a:cs typeface="Arial"/>
              </a:defRPr>
            </a:pPr>
            <a:r>
              <a:rPr sz="2325" b="1">
                <a:solidFill>
                  <a:srgbClr val="087E82"/>
                </a:solidFill>
                <a:latin typeface="Arial"/>
                <a:ea typeface="Arial"/>
                <a:cs typeface="Arial"/>
              </a:rPr>
              <a:t>Persistent confident errors require model improvement</a:t>
            </a:r>
          </a:p>
        </p:txBody>
      </p:sp>
      <p:sp>
        <p:nvSpPr>
          <p:cNvPr id="6" name="For B3, widening referral from 0.30/0.70 to 0.10/0.90 changes unc">
            <a:extLst>
              <a:ext uri="{FF2B5EF4-FFF2-40B4-BE49-F238E27FC236}">
                <a16:creationId xmlns:a16="http://schemas.microsoft.com/office/drawing/2014/main" id="{B0ADFCB3-5E1C-48E3-943D-E7ECBDA2E1FF}"/>
              </a:ext>
            </a:extLst>
          </p:cNvPr>
          <p:cNvSpPr>
            <a:spLocks noGrp="1"/>
          </p:cNvSpPr>
          <p:nvPr/>
        </p:nvSpPr>
        <p:spPr>
          <a:xfrm>
            <a:off x="628650" y="5915025"/>
            <a:ext cx="10934700" cy="409575"/>
          </a:xfrm>
          <a:prstGeom prst="rect">
            <a:avLst/>
          </a:prstGeom>
          <a:noFill/>
          <a:ln w="0">
            <a:noFill/>
          </a:ln>
        </p:spPr>
        <p:txBody>
          <a:bodyPr wrap="square" lIns="0" tIns="0" rIns="0" bIns="0" anchor="t">
            <a:noAutofit/>
          </a:bodyPr>
          <a:lstStyle/>
          <a:p>
            <a:pPr algn="l">
              <a:defRPr sz="1350" b="0">
                <a:solidFill>
                  <a:srgbClr val="526577"/>
                </a:solidFill>
                <a:latin typeface="Arial"/>
                <a:ea typeface="Arial"/>
                <a:cs typeface="Arial"/>
              </a:defRPr>
            </a:pPr>
            <a:r>
              <a:rPr sz="1350" b="0">
                <a:solidFill>
                  <a:srgbClr val="526577"/>
                </a:solidFill>
                <a:latin typeface="Arial"/>
                <a:ea typeface="Arial"/>
                <a:cs typeface="Arial"/>
              </a:rPr>
              <a:t>For B3, widening referral from 0.30/0.70 to 0.10/0.90 changes unchecked hotspots only from 36 to 34.</a:t>
            </a:r>
          </a:p>
        </p:txBody>
      </p:sp>
    </p:spTree>
    <p:extLst>
      <p:ext uri="{BB962C8B-B14F-4D97-AF65-F5344CB8AC3E}">
        <p14:creationId xmlns:p14="http://schemas.microsoft.com/office/powerpoint/2010/main" val="6494341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152B3C"/>
        </a:solidFill>
        <a:effectLst/>
      </p:bgPr>
    </p:bg>
    <p:spTree>
      <p:nvGrpSpPr>
        <p:cNvPr id="1" name=""/>
        <p:cNvGrpSpPr/>
        <p:nvPr/>
      </p:nvGrpSpPr>
      <p:grpSpPr>
        <a:xfrm>
          <a:off x="0" y="0"/>
          <a:ext cx="0" cy="0"/>
          <a:chOff x="0" y="0"/>
          <a:chExt cx="0" cy="0"/>
        </a:xfrm>
      </p:grpSpPr>
      <p:sp>
        <p:nvSpPr>
          <p:cNvPr id="10" name="Conclusion">
            <a:extLst>
              <a:ext uri="{FF2B5EF4-FFF2-40B4-BE49-F238E27FC236}">
                <a16:creationId xmlns:a16="http://schemas.microsoft.com/office/drawing/2014/main" id="{19F74B26-2495-404D-A68E-60EC06583A14}"/>
              </a:ext>
            </a:extLst>
          </p:cNvPr>
          <p:cNvSpPr>
            <a:spLocks noGrp="1"/>
          </p:cNvSpPr>
          <p:nvPr/>
        </p:nvSpPr>
        <p:spPr>
          <a:xfrm>
            <a:off x="609600" y="428625"/>
            <a:ext cx="10972800" cy="609600"/>
          </a:xfrm>
          <a:prstGeom prst="rect">
            <a:avLst/>
          </a:prstGeom>
          <a:noFill/>
          <a:ln w="0">
            <a:noFill/>
          </a:ln>
        </p:spPr>
        <p:txBody>
          <a:bodyPr wrap="square" lIns="0" tIns="0" rIns="0" bIns="0" anchor="t">
            <a:noAutofit/>
          </a:bodyPr>
          <a:lstStyle/>
          <a:p>
            <a:pPr algn="l">
              <a:defRPr sz="3225" b="1">
                <a:solidFill>
                  <a:srgbClr val="FFFFFF"/>
                </a:solidFill>
                <a:latin typeface="Arial"/>
                <a:ea typeface="Arial"/>
                <a:cs typeface="Arial"/>
              </a:defRPr>
            </a:pPr>
            <a:r>
              <a:rPr sz="3225" b="1">
                <a:solidFill>
                  <a:srgbClr val="FFFFFF"/>
                </a:solidFill>
                <a:latin typeface="Arial"/>
                <a:ea typeface="Arial"/>
                <a:cs typeface="Arial"/>
              </a:rPr>
              <a:t>Conclusion</a:t>
            </a:r>
          </a:p>
        </p:txBody>
      </p:sp>
      <p:sp>
        <p:nvSpPr>
          <p:cNvPr id="2" name="G19">
            <a:extLst>
              <a:ext uri="{FF2B5EF4-FFF2-40B4-BE49-F238E27FC236}">
                <a16:creationId xmlns:a16="http://schemas.microsoft.com/office/drawing/2014/main" id="{4BAB38B5-B2E3-4CB2-9F9F-DB74DA2D98B7}"/>
              </a:ext>
            </a:extLst>
          </p:cNvPr>
          <p:cNvSpPr>
            <a:spLocks noGrp="1"/>
          </p:cNvSpPr>
          <p:nvPr/>
        </p:nvSpPr>
        <p:spPr>
          <a:xfrm>
            <a:off x="609600" y="6467475"/>
            <a:ext cx="952500" cy="219075"/>
          </a:xfrm>
          <a:prstGeom prst="rect">
            <a:avLst/>
          </a:prstGeom>
          <a:noFill/>
          <a:ln w="0">
            <a:noFill/>
          </a:ln>
        </p:spPr>
        <p:txBody>
          <a:bodyPr wrap="square" lIns="0" tIns="0" rIns="0" bIns="0" anchor="t">
            <a:noAutofit/>
          </a:bodyPr>
          <a:lstStyle/>
          <a:p>
            <a:pPr algn="l">
              <a:defRPr sz="1200" b="0">
                <a:solidFill>
                  <a:srgbClr val="A4C5D1"/>
                </a:solidFill>
                <a:latin typeface="Arial"/>
                <a:ea typeface="Arial"/>
                <a:cs typeface="Arial"/>
              </a:defRPr>
            </a:pPr>
            <a:r>
              <a:rPr sz="1200" b="0">
                <a:solidFill>
                  <a:srgbClr val="A4C5D1"/>
                </a:solidFill>
                <a:latin typeface="Arial"/>
                <a:ea typeface="Arial"/>
                <a:cs typeface="Arial"/>
              </a:rPr>
              <a:t>G19</a:t>
            </a:r>
          </a:p>
        </p:txBody>
      </p:sp>
      <p:sp>
        <p:nvSpPr>
          <p:cNvPr id="3" name="15">
            <a:extLst>
              <a:ext uri="{FF2B5EF4-FFF2-40B4-BE49-F238E27FC236}">
                <a16:creationId xmlns:a16="http://schemas.microsoft.com/office/drawing/2014/main" id="{24E9A852-9A0A-417A-8489-EDFF60773C0E}"/>
              </a:ext>
            </a:extLst>
          </p:cNvPr>
          <p:cNvSpPr>
            <a:spLocks noGrp="1"/>
          </p:cNvSpPr>
          <p:nvPr/>
        </p:nvSpPr>
        <p:spPr>
          <a:xfrm>
            <a:off x="10991850" y="6467475"/>
            <a:ext cx="571500" cy="219075"/>
          </a:xfrm>
          <a:prstGeom prst="rect">
            <a:avLst/>
          </a:prstGeom>
          <a:noFill/>
          <a:ln w="0">
            <a:noFill/>
          </a:ln>
        </p:spPr>
        <p:txBody>
          <a:bodyPr wrap="square" lIns="0" tIns="0" rIns="0" bIns="0" anchor="t">
            <a:noAutofit/>
          </a:bodyPr>
          <a:lstStyle/>
          <a:p>
            <a:pPr algn="r">
              <a:defRPr sz="1200" b="0">
                <a:solidFill>
                  <a:srgbClr val="A4C5D1"/>
                </a:solidFill>
                <a:latin typeface="Arial"/>
                <a:ea typeface="Arial"/>
                <a:cs typeface="Arial"/>
              </a:defRPr>
            </a:pPr>
            <a:r>
              <a:rPr sz="1200" b="0">
                <a:solidFill>
                  <a:srgbClr val="A4C5D1"/>
                </a:solidFill>
                <a:latin typeface="Arial"/>
                <a:ea typeface="Arial"/>
                <a:cs typeface="Arial"/>
              </a:rPr>
              <a:t>15</a:t>
            </a:r>
          </a:p>
        </p:txBody>
      </p:sp>
      <p:sp>
        <p:nvSpPr>
          <p:cNvPr id="4" name="The decision layer reduces the hotspots&#10;that pass without further">
            <a:extLst>
              <a:ext uri="{FF2B5EF4-FFF2-40B4-BE49-F238E27FC236}">
                <a16:creationId xmlns:a16="http://schemas.microsoft.com/office/drawing/2014/main" id="{2F1AB789-17FA-480C-9A61-49FD77544644}"/>
              </a:ext>
            </a:extLst>
          </p:cNvPr>
          <p:cNvSpPr>
            <a:spLocks noGrp="1"/>
          </p:cNvSpPr>
          <p:nvPr/>
        </p:nvSpPr>
        <p:spPr>
          <a:xfrm>
            <a:off x="628650" y="1543050"/>
            <a:ext cx="10763250" cy="1104900"/>
          </a:xfrm>
          <a:prstGeom prst="rect">
            <a:avLst/>
          </a:prstGeom>
          <a:noFill/>
          <a:ln w="0">
            <a:noFill/>
          </a:ln>
        </p:spPr>
        <p:txBody>
          <a:bodyPr wrap="square" lIns="0" tIns="0" rIns="0" bIns="0" anchor="t">
            <a:noAutofit/>
          </a:bodyPr>
          <a:lstStyle/>
          <a:p>
            <a:pPr algn="l">
              <a:defRPr sz="3300" b="1">
                <a:solidFill>
                  <a:srgbClr val="FFFFFF"/>
                </a:solidFill>
                <a:latin typeface="Arial"/>
                <a:ea typeface="Arial"/>
                <a:cs typeface="Arial"/>
              </a:defRPr>
            </a:pPr>
            <a:r>
              <a:rPr sz="3300" b="1">
                <a:solidFill>
                  <a:srgbClr val="FFFFFF"/>
                </a:solidFill>
                <a:latin typeface="Arial"/>
                <a:ea typeface="Arial"/>
                <a:cs typeface="Arial"/>
              </a:rPr>
              <a:t>The decision layer reduces the hotspots</a:t>
            </a:r>
          </a:p>
          <a:p>
            <a:pPr algn="l">
              <a:defRPr sz="3300" b="1">
                <a:solidFill>
                  <a:srgbClr val="FFFFFF"/>
                </a:solidFill>
                <a:latin typeface="Arial"/>
                <a:ea typeface="Arial"/>
                <a:cs typeface="Arial"/>
              </a:defRPr>
            </a:pPr>
            <a:r>
              <a:rPr sz="3300" b="1">
                <a:solidFill>
                  <a:srgbClr val="FFFFFF"/>
                </a:solidFill>
                <a:latin typeface="Arial"/>
                <a:ea typeface="Arial"/>
                <a:cs typeface="Arial"/>
              </a:rPr>
              <a:t>that pass without further attention</a:t>
            </a:r>
          </a:p>
        </p:txBody>
      </p:sp>
      <p:sp>
        <p:nvSpPr>
          <p:cNvPr id="5" name="7.17 pp">
            <a:extLst>
              <a:ext uri="{FF2B5EF4-FFF2-40B4-BE49-F238E27FC236}">
                <a16:creationId xmlns:a16="http://schemas.microsoft.com/office/drawing/2014/main" id="{520EC126-7387-4E3A-A146-83225B54C3A4}"/>
              </a:ext>
            </a:extLst>
          </p:cNvPr>
          <p:cNvSpPr>
            <a:spLocks noGrp="1"/>
          </p:cNvSpPr>
          <p:nvPr/>
        </p:nvSpPr>
        <p:spPr>
          <a:xfrm>
            <a:off x="628650" y="3248025"/>
            <a:ext cx="4953000" cy="866775"/>
          </a:xfrm>
          <a:prstGeom prst="rect">
            <a:avLst/>
          </a:prstGeom>
          <a:noFill/>
          <a:ln w="0">
            <a:noFill/>
          </a:ln>
        </p:spPr>
        <p:txBody>
          <a:bodyPr wrap="square" lIns="0" tIns="0" rIns="0" bIns="0" anchor="t">
            <a:noAutofit/>
          </a:bodyPr>
          <a:lstStyle/>
          <a:p>
            <a:pPr algn="l">
              <a:defRPr sz="5100" b="1">
                <a:solidFill>
                  <a:srgbClr val="84C6CB"/>
                </a:solidFill>
                <a:latin typeface="Arial"/>
                <a:ea typeface="Arial"/>
                <a:cs typeface="Arial"/>
              </a:defRPr>
            </a:pPr>
            <a:r>
              <a:rPr sz="5100" b="1">
                <a:solidFill>
                  <a:srgbClr val="84C6CB"/>
                </a:solidFill>
                <a:latin typeface="Arial"/>
                <a:ea typeface="Arial"/>
                <a:cs typeface="Arial"/>
              </a:rPr>
              <a:t>7.17 pp</a:t>
            </a:r>
          </a:p>
        </p:txBody>
      </p:sp>
      <p:sp>
        <p:nvSpPr>
          <p:cNvPr id="6" name="Lower macro unchecked-hotspot rate&#10;at thresholds 0.20/0.80">
            <a:extLst>
              <a:ext uri="{FF2B5EF4-FFF2-40B4-BE49-F238E27FC236}">
                <a16:creationId xmlns:a16="http://schemas.microsoft.com/office/drawing/2014/main" id="{0C785427-4958-40AC-99FC-806BB1405652}"/>
              </a:ext>
            </a:extLst>
          </p:cNvPr>
          <p:cNvSpPr>
            <a:spLocks noGrp="1"/>
          </p:cNvSpPr>
          <p:nvPr/>
        </p:nvSpPr>
        <p:spPr>
          <a:xfrm>
            <a:off x="657225" y="4238625"/>
            <a:ext cx="5143500" cy="723900"/>
          </a:xfrm>
          <a:prstGeom prst="rect">
            <a:avLst/>
          </a:prstGeom>
          <a:noFill/>
          <a:ln w="0">
            <a:noFill/>
          </a:ln>
        </p:spPr>
        <p:txBody>
          <a:bodyPr wrap="square" lIns="0" tIns="0" rIns="0" bIns="0" anchor="t">
            <a:noAutofit/>
          </a:bodyPr>
          <a:lstStyle/>
          <a:p>
            <a:pPr algn="l">
              <a:defRPr sz="2025" b="0">
                <a:solidFill>
                  <a:srgbClr val="D8E7ED"/>
                </a:solidFill>
                <a:latin typeface="Arial"/>
                <a:ea typeface="Arial"/>
                <a:cs typeface="Arial"/>
              </a:defRPr>
            </a:pPr>
            <a:r>
              <a:rPr sz="2025" b="0">
                <a:solidFill>
                  <a:srgbClr val="D8E7ED"/>
                </a:solidFill>
                <a:latin typeface="Arial"/>
                <a:ea typeface="Arial"/>
                <a:cs typeface="Arial"/>
              </a:rPr>
              <a:t>Lower macro unchecked-hotspot rate</a:t>
            </a:r>
          </a:p>
          <a:p>
            <a:pPr algn="l">
              <a:defRPr sz="2025" b="0">
                <a:solidFill>
                  <a:srgbClr val="D8E7ED"/>
                </a:solidFill>
                <a:latin typeface="Arial"/>
                <a:ea typeface="Arial"/>
                <a:cs typeface="Arial"/>
              </a:defRPr>
            </a:pPr>
            <a:r>
              <a:rPr sz="2025" b="0">
                <a:solidFill>
                  <a:srgbClr val="D8E7ED"/>
                </a:solidFill>
                <a:latin typeface="Arial"/>
                <a:ea typeface="Arial"/>
                <a:cs typeface="Arial"/>
              </a:rPr>
              <a:t>at thresholds 0.20/0.80</a:t>
            </a:r>
          </a:p>
        </p:txBody>
      </p:sp>
      <p:sp>
        <p:nvSpPr>
          <p:cNvPr id="7" name="3.44%">
            <a:extLst>
              <a:ext uri="{FF2B5EF4-FFF2-40B4-BE49-F238E27FC236}">
                <a16:creationId xmlns:a16="http://schemas.microsoft.com/office/drawing/2014/main" id="{A4C762BD-C48B-4E9A-91FE-6804E7D7DB25}"/>
              </a:ext>
            </a:extLst>
          </p:cNvPr>
          <p:cNvSpPr>
            <a:spLocks noGrp="1"/>
          </p:cNvSpPr>
          <p:nvPr/>
        </p:nvSpPr>
        <p:spPr>
          <a:xfrm>
            <a:off x="6819900" y="3248025"/>
            <a:ext cx="4667250" cy="866775"/>
          </a:xfrm>
          <a:prstGeom prst="rect">
            <a:avLst/>
          </a:prstGeom>
          <a:noFill/>
          <a:ln w="0">
            <a:noFill/>
          </a:ln>
        </p:spPr>
        <p:txBody>
          <a:bodyPr wrap="square" lIns="0" tIns="0" rIns="0" bIns="0" anchor="t">
            <a:noAutofit/>
          </a:bodyPr>
          <a:lstStyle/>
          <a:p>
            <a:pPr algn="l">
              <a:defRPr sz="5100" b="1">
                <a:solidFill>
                  <a:srgbClr val="84C6CB"/>
                </a:solidFill>
                <a:latin typeface="Arial"/>
                <a:ea typeface="Arial"/>
                <a:cs typeface="Arial"/>
              </a:defRPr>
            </a:pPr>
            <a:r>
              <a:rPr sz="5100" b="1">
                <a:solidFill>
                  <a:srgbClr val="84C6CB"/>
                </a:solidFill>
                <a:latin typeface="Arial"/>
                <a:ea typeface="Arial"/>
                <a:cs typeface="Arial"/>
              </a:rPr>
              <a:t>3.44%</a:t>
            </a:r>
          </a:p>
        </p:txBody>
      </p:sp>
      <p:sp>
        <p:nvSpPr>
          <p:cNvPr id="8" name="Macro share of patterns&#10;referred for verification">
            <a:extLst>
              <a:ext uri="{FF2B5EF4-FFF2-40B4-BE49-F238E27FC236}">
                <a16:creationId xmlns:a16="http://schemas.microsoft.com/office/drawing/2014/main" id="{3AB13B1A-A886-434B-9AAF-73C9D9687E5D}"/>
              </a:ext>
            </a:extLst>
          </p:cNvPr>
          <p:cNvSpPr>
            <a:spLocks noGrp="1"/>
          </p:cNvSpPr>
          <p:nvPr/>
        </p:nvSpPr>
        <p:spPr>
          <a:xfrm>
            <a:off x="6848475" y="4238625"/>
            <a:ext cx="4638675" cy="723900"/>
          </a:xfrm>
          <a:prstGeom prst="rect">
            <a:avLst/>
          </a:prstGeom>
          <a:noFill/>
          <a:ln w="0">
            <a:noFill/>
          </a:ln>
        </p:spPr>
        <p:txBody>
          <a:bodyPr wrap="square" lIns="0" tIns="0" rIns="0" bIns="0" anchor="t">
            <a:noAutofit/>
          </a:bodyPr>
          <a:lstStyle/>
          <a:p>
            <a:pPr algn="l">
              <a:defRPr sz="2025" b="0">
                <a:solidFill>
                  <a:srgbClr val="D8E7ED"/>
                </a:solidFill>
                <a:latin typeface="Arial"/>
                <a:ea typeface="Arial"/>
                <a:cs typeface="Arial"/>
              </a:defRPr>
            </a:pPr>
            <a:r>
              <a:rPr sz="2025" b="0">
                <a:solidFill>
                  <a:srgbClr val="D8E7ED"/>
                </a:solidFill>
                <a:latin typeface="Arial"/>
                <a:ea typeface="Arial"/>
                <a:cs typeface="Arial"/>
              </a:rPr>
              <a:t>Macro share of patterns</a:t>
            </a:r>
          </a:p>
          <a:p>
            <a:pPr algn="l">
              <a:defRPr sz="2025" b="0">
                <a:solidFill>
                  <a:srgbClr val="D8E7ED"/>
                </a:solidFill>
                <a:latin typeface="Arial"/>
                <a:ea typeface="Arial"/>
                <a:cs typeface="Arial"/>
              </a:defRPr>
            </a:pPr>
            <a:r>
              <a:rPr sz="2025" b="0">
                <a:solidFill>
                  <a:srgbClr val="D8E7ED"/>
                </a:solidFill>
                <a:latin typeface="Arial"/>
                <a:ea typeface="Arial"/>
                <a:cs typeface="Arial"/>
              </a:rPr>
              <a:t>referred for verification</a:t>
            </a:r>
          </a:p>
        </p:txBody>
      </p:sp>
      <p:sp>
        <p:nvSpPr>
          <p:cNvPr id="9" name="The results support further evaluation of ML pre-screening.&#10;Final">
            <a:extLst>
              <a:ext uri="{FF2B5EF4-FFF2-40B4-BE49-F238E27FC236}">
                <a16:creationId xmlns:a16="http://schemas.microsoft.com/office/drawing/2014/main" id="{76A49703-75D7-477A-B3BD-330CF0F16D63}"/>
              </a:ext>
            </a:extLst>
          </p:cNvPr>
          <p:cNvSpPr>
            <a:spLocks noGrp="1"/>
          </p:cNvSpPr>
          <p:nvPr/>
        </p:nvSpPr>
        <p:spPr>
          <a:xfrm>
            <a:off x="628650" y="5581650"/>
            <a:ext cx="10810875" cy="695325"/>
          </a:xfrm>
          <a:prstGeom prst="rect">
            <a:avLst/>
          </a:prstGeom>
          <a:noFill/>
          <a:ln w="0">
            <a:noFill/>
          </a:ln>
        </p:spPr>
        <p:txBody>
          <a:bodyPr wrap="square" lIns="0" tIns="0" rIns="0" bIns="0" anchor="t">
            <a:noAutofit/>
          </a:bodyPr>
          <a:lstStyle/>
          <a:p>
            <a:pPr algn="l">
              <a:defRPr sz="1950" b="0">
                <a:solidFill>
                  <a:srgbClr val="FFFFFF"/>
                </a:solidFill>
                <a:latin typeface="Arial"/>
                <a:ea typeface="Arial"/>
                <a:cs typeface="Arial"/>
              </a:defRPr>
            </a:pPr>
            <a:r>
              <a:rPr sz="1950" b="0">
                <a:solidFill>
                  <a:srgbClr val="FFFFFF"/>
                </a:solidFill>
                <a:latin typeface="Arial"/>
                <a:ea typeface="Arial"/>
                <a:cs typeface="Arial"/>
              </a:rPr>
              <a:t>The results support further evaluation of ML pre-screening.</a:t>
            </a:r>
          </a:p>
          <a:p>
            <a:pPr algn="l">
              <a:defRPr sz="1950" b="0">
                <a:solidFill>
                  <a:srgbClr val="FFFFFF"/>
                </a:solidFill>
                <a:latin typeface="Arial"/>
                <a:ea typeface="Arial"/>
                <a:cs typeface="Arial"/>
              </a:defRPr>
            </a:pPr>
            <a:r>
              <a:rPr sz="1950" b="0">
                <a:solidFill>
                  <a:srgbClr val="FFFFFF"/>
                </a:solidFill>
                <a:latin typeface="Arial"/>
                <a:ea typeface="Arial"/>
                <a:cs typeface="Arial"/>
              </a:rPr>
              <a:t>Final detection reliability and runtime savings need verification evidence.</a:t>
            </a:r>
          </a:p>
        </p:txBody>
      </p:sp>
    </p:spTree>
    <p:extLst>
      <p:ext uri="{BB962C8B-B14F-4D97-AF65-F5344CB8AC3E}">
        <p14:creationId xmlns:p14="http://schemas.microsoft.com/office/powerpoint/2010/main" val="92866480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7F6F1A8-CBDD-2492-F3E7-CF02A65A7A5A}"/>
              </a:ext>
            </a:extLst>
          </p:cNvPr>
          <p:cNvSpPr txBox="1"/>
          <p:nvPr/>
        </p:nvSpPr>
        <p:spPr>
          <a:xfrm>
            <a:off x="988142" y="693174"/>
            <a:ext cx="4070555" cy="584775"/>
          </a:xfrm>
          <a:prstGeom prst="rect">
            <a:avLst/>
          </a:prstGeom>
          <a:noFill/>
        </p:spPr>
        <p:txBody>
          <a:bodyPr wrap="square" rtlCol="0">
            <a:spAutoFit/>
          </a:bodyPr>
          <a:lstStyle/>
          <a:p>
            <a:r>
              <a:rPr lang="en-IN" sz="3200" dirty="0">
                <a:latin typeface="Amasis MT Pro Black" panose="02040A04050005020304" pitchFamily="18" charset="0"/>
                <a:ea typeface="ADLaM Display" panose="020F0502020204030204" pitchFamily="2" charset="0"/>
                <a:cs typeface="ADLaM Display" panose="020F0502020204030204" pitchFamily="2" charset="0"/>
              </a:rPr>
              <a:t>Work Allocation</a:t>
            </a:r>
          </a:p>
        </p:txBody>
      </p:sp>
      <p:graphicFrame>
        <p:nvGraphicFramePr>
          <p:cNvPr id="3" name="Table 2">
            <a:extLst>
              <a:ext uri="{FF2B5EF4-FFF2-40B4-BE49-F238E27FC236}">
                <a16:creationId xmlns:a16="http://schemas.microsoft.com/office/drawing/2014/main" id="{425D16B4-3041-C6D8-7ED1-7C17C5E060BF}"/>
              </a:ext>
            </a:extLst>
          </p:cNvPr>
          <p:cNvGraphicFramePr>
            <a:graphicFrameLocks noGrp="1"/>
          </p:cNvGraphicFramePr>
          <p:nvPr>
            <p:extLst>
              <p:ext uri="{D42A27DB-BD31-4B8C-83A1-F6EECF244321}">
                <p14:modId xmlns:p14="http://schemas.microsoft.com/office/powerpoint/2010/main" val="1384349264"/>
              </p:ext>
            </p:extLst>
          </p:nvPr>
        </p:nvGraphicFramePr>
        <p:xfrm>
          <a:off x="838200" y="1622322"/>
          <a:ext cx="10515600" cy="4321279"/>
        </p:xfrm>
        <a:graphic>
          <a:graphicData uri="http://schemas.openxmlformats.org/drawingml/2006/table">
            <a:tbl>
              <a:tblPr firstRow="1" firstCol="1" bandRow="1">
                <a:tableStyleId>{5C22544A-7EE6-4342-B048-85BDC9FD1C3A}</a:tableStyleId>
              </a:tblPr>
              <a:tblGrid>
                <a:gridCol w="5257800">
                  <a:extLst>
                    <a:ext uri="{9D8B030D-6E8A-4147-A177-3AD203B41FA5}">
                      <a16:colId xmlns:a16="http://schemas.microsoft.com/office/drawing/2014/main" val="786423227"/>
                    </a:ext>
                  </a:extLst>
                </a:gridCol>
                <a:gridCol w="5257800">
                  <a:extLst>
                    <a:ext uri="{9D8B030D-6E8A-4147-A177-3AD203B41FA5}">
                      <a16:colId xmlns:a16="http://schemas.microsoft.com/office/drawing/2014/main" val="334049815"/>
                    </a:ext>
                  </a:extLst>
                </a:gridCol>
              </a:tblGrid>
              <a:tr h="321631">
                <a:tc>
                  <a:txBody>
                    <a:bodyPr/>
                    <a:lstStyle/>
                    <a:p>
                      <a:pPr>
                        <a:lnSpc>
                          <a:spcPct val="115000"/>
                        </a:lnSpc>
                        <a:spcAft>
                          <a:spcPts val="800"/>
                        </a:spcAft>
                        <a:buNone/>
                      </a:pPr>
                      <a:r>
                        <a:rPr lang="en-IN" sz="1200" kern="100">
                          <a:effectLst/>
                        </a:rPr>
                        <a:t>Team Member</a:t>
                      </a:r>
                      <a:endParaRPr lang="en-IN" sz="12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1200" kern="100">
                          <a:effectLst/>
                        </a:rPr>
                        <a:t>Work Done</a:t>
                      </a:r>
                      <a:endParaRPr lang="en-IN" sz="12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850052019"/>
                  </a:ext>
                </a:extLst>
              </a:tr>
              <a:tr h="999912">
                <a:tc>
                  <a:txBody>
                    <a:bodyPr/>
                    <a:lstStyle/>
                    <a:p>
                      <a:pPr>
                        <a:lnSpc>
                          <a:spcPct val="115000"/>
                        </a:lnSpc>
                        <a:spcAft>
                          <a:spcPts val="800"/>
                        </a:spcAft>
                        <a:buNone/>
                      </a:pPr>
                      <a:r>
                        <a:rPr lang="en-IN" sz="1200" kern="100" dirty="0" err="1">
                          <a:effectLst/>
                        </a:rPr>
                        <a:t>Bonthala</a:t>
                      </a:r>
                      <a:r>
                        <a:rPr lang="en-IN" sz="1200" kern="100">
                          <a:effectLst/>
                        </a:rPr>
                        <a:t> Sai </a:t>
                      </a:r>
                      <a:r>
                        <a:rPr lang="en-IN" sz="1200" kern="100" dirty="0">
                          <a:effectLst/>
                        </a:rPr>
                        <a:t>Kiran</a:t>
                      </a:r>
                    </a:p>
                    <a:p>
                      <a:pPr>
                        <a:lnSpc>
                          <a:spcPct val="115000"/>
                        </a:lnSpc>
                        <a:spcAft>
                          <a:spcPts val="800"/>
                        </a:spcAft>
                        <a:buNone/>
                      </a:pPr>
                      <a:r>
                        <a:rPr lang="en-IN" sz="1200" kern="100" dirty="0">
                          <a:effectLst/>
                        </a:rPr>
                        <a:t>24BVD1106</a:t>
                      </a:r>
                      <a:endParaRPr lang="en-IN" sz="12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1200" kern="100">
                          <a:effectLst/>
                        </a:rPr>
                        <a:t>Prepared and organized the ICCAD-12 dataset, performed image preprocessing, developed and trained the baseline CNN model, and generated the initial hotspot prediction results.</a:t>
                      </a:r>
                      <a:endParaRPr lang="en-IN" sz="12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033162561"/>
                  </a:ext>
                </a:extLst>
              </a:tr>
              <a:tr h="999912">
                <a:tc>
                  <a:txBody>
                    <a:bodyPr/>
                    <a:lstStyle/>
                    <a:p>
                      <a:pPr>
                        <a:lnSpc>
                          <a:spcPct val="115000"/>
                        </a:lnSpc>
                        <a:spcAft>
                          <a:spcPts val="800"/>
                        </a:spcAft>
                        <a:buNone/>
                      </a:pPr>
                      <a:r>
                        <a:rPr lang="en-IN" sz="1200" kern="100" dirty="0">
                          <a:effectLst/>
                        </a:rPr>
                        <a:t>Banda </a:t>
                      </a:r>
                      <a:r>
                        <a:rPr lang="en-IN" sz="1200" kern="100" dirty="0" err="1">
                          <a:effectLst/>
                        </a:rPr>
                        <a:t>Sirichandana</a:t>
                      </a:r>
                      <a:endParaRPr lang="en-IN" sz="1200" kern="100" dirty="0">
                        <a:effectLst/>
                      </a:endParaRPr>
                    </a:p>
                    <a:p>
                      <a:pPr>
                        <a:lnSpc>
                          <a:spcPct val="115000"/>
                        </a:lnSpc>
                        <a:spcAft>
                          <a:spcPts val="800"/>
                        </a:spcAft>
                        <a:buNone/>
                      </a:pPr>
                      <a:r>
                        <a:rPr lang="en-IN" sz="1200" kern="100" dirty="0">
                          <a:effectLst/>
                        </a:rPr>
                        <a:t>24BVD1114</a:t>
                      </a:r>
                      <a:endParaRPr lang="en-IN" sz="12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1200" kern="100">
                          <a:effectLst/>
                        </a:rPr>
                        <a:t>Reviewed related research papers, studied existing lithography hotspot detection methods, formulated the problem and motivation, prepared the literature review, and contributed to the final project documentation.</a:t>
                      </a:r>
                      <a:endParaRPr lang="en-IN" sz="12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106852555"/>
                  </a:ext>
                </a:extLst>
              </a:tr>
              <a:tr h="999912">
                <a:tc>
                  <a:txBody>
                    <a:bodyPr/>
                    <a:lstStyle/>
                    <a:p>
                      <a:pPr>
                        <a:lnSpc>
                          <a:spcPct val="115000"/>
                        </a:lnSpc>
                        <a:spcAft>
                          <a:spcPts val="800"/>
                        </a:spcAft>
                        <a:buNone/>
                      </a:pPr>
                      <a:r>
                        <a:rPr lang="en-IN" sz="1200" kern="100" dirty="0">
                          <a:effectLst/>
                        </a:rPr>
                        <a:t>Kamal Sharma</a:t>
                      </a:r>
                    </a:p>
                    <a:p>
                      <a:pPr>
                        <a:lnSpc>
                          <a:spcPct val="115000"/>
                        </a:lnSpc>
                        <a:spcAft>
                          <a:spcPts val="800"/>
                        </a:spcAft>
                        <a:buNone/>
                      </a:pPr>
                      <a:r>
                        <a:rPr lang="en-IN" sz="1200" kern="100" dirty="0">
                          <a:effectLst/>
                        </a:rPr>
                        <a:t>24BVD1114</a:t>
                      </a:r>
                      <a:endParaRPr lang="en-IN" sz="12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1200" kern="100">
                          <a:effectLst/>
                        </a:rPr>
                        <a:t>Developed the confidence-based referral mechanism using SAFE, NEEDS_CHECK, and RISKY categories, implemented different confidence thresholds, and generated the referral results.</a:t>
                      </a:r>
                      <a:endParaRPr lang="en-IN" sz="12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531892296"/>
                  </a:ext>
                </a:extLst>
              </a:tr>
              <a:tr h="999912">
                <a:tc>
                  <a:txBody>
                    <a:bodyPr/>
                    <a:lstStyle/>
                    <a:p>
                      <a:pPr>
                        <a:lnSpc>
                          <a:spcPct val="115000"/>
                        </a:lnSpc>
                        <a:spcAft>
                          <a:spcPts val="800"/>
                        </a:spcAft>
                        <a:buNone/>
                      </a:pPr>
                      <a:r>
                        <a:rPr lang="en-IN" sz="1200" kern="100" dirty="0">
                          <a:effectLst/>
                        </a:rPr>
                        <a:t>Karthikeyan R V</a:t>
                      </a:r>
                    </a:p>
                    <a:p>
                      <a:pPr>
                        <a:lnSpc>
                          <a:spcPct val="115000"/>
                        </a:lnSpc>
                        <a:spcAft>
                          <a:spcPts val="800"/>
                        </a:spcAft>
                        <a:buNone/>
                      </a:pPr>
                      <a:r>
                        <a:rPr lang="en-IN" sz="1200" kern="100" dirty="0">
                          <a:effectLst/>
                        </a:rPr>
                        <a:t>24BVD1114</a:t>
                      </a:r>
                      <a:endParaRPr lang="en-IN" sz="12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1200" kern="100" dirty="0">
                          <a:effectLst/>
                        </a:rPr>
                        <a:t>Conducted the final testing and comparison, </a:t>
                      </a:r>
                      <a:r>
                        <a:rPr lang="en-IN" sz="1200" kern="100" dirty="0" err="1">
                          <a:effectLst/>
                        </a:rPr>
                        <a:t>analyzed</a:t>
                      </a:r>
                      <a:r>
                        <a:rPr lang="en-IN" sz="1200" kern="100" dirty="0">
                          <a:effectLst/>
                        </a:rPr>
                        <a:t> the baseline and proposed results, generated performance tables and charts, and prepared the final result analysis and report documentation.</a:t>
                      </a:r>
                      <a:endParaRPr lang="en-IN" sz="12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627111466"/>
                  </a:ext>
                </a:extLst>
              </a:tr>
            </a:tbl>
          </a:graphicData>
        </a:graphic>
      </p:graphicFrame>
    </p:spTree>
    <p:extLst>
      <p:ext uri="{BB962C8B-B14F-4D97-AF65-F5344CB8AC3E}">
        <p14:creationId xmlns:p14="http://schemas.microsoft.com/office/powerpoint/2010/main" val="40738891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References and project materials">
            <a:extLst>
              <a:ext uri="{FF2B5EF4-FFF2-40B4-BE49-F238E27FC236}">
                <a16:creationId xmlns:a16="http://schemas.microsoft.com/office/drawing/2014/main" id="{7E05C913-BD9A-4244-B16C-DD89A7DAD8CC}"/>
              </a:ext>
            </a:extLst>
          </p:cNvPr>
          <p:cNvSpPr>
            <a:spLocks noGrp="1"/>
          </p:cNvSpPr>
          <p:nvPr/>
        </p:nvSpPr>
        <p:spPr>
          <a:xfrm>
            <a:off x="609600" y="428625"/>
            <a:ext cx="10972800" cy="609600"/>
          </a:xfrm>
          <a:prstGeom prst="rect">
            <a:avLst/>
          </a:prstGeom>
          <a:noFill/>
          <a:ln w="0">
            <a:noFill/>
          </a:ln>
        </p:spPr>
        <p:txBody>
          <a:bodyPr wrap="square" lIns="0" tIns="0" rIns="0" bIns="0" anchor="t">
            <a:noAutofit/>
          </a:bodyPr>
          <a:lstStyle/>
          <a:p>
            <a:pPr algn="l">
              <a:defRPr sz="3225" b="1">
                <a:solidFill>
                  <a:srgbClr val="152B3C"/>
                </a:solidFill>
                <a:latin typeface="Arial"/>
                <a:ea typeface="Arial"/>
                <a:cs typeface="Arial"/>
              </a:defRPr>
            </a:pPr>
            <a:r>
              <a:rPr sz="3225" b="1">
                <a:solidFill>
                  <a:srgbClr val="152B3C"/>
                </a:solidFill>
                <a:latin typeface="Arial"/>
                <a:ea typeface="Arial"/>
                <a:cs typeface="Arial"/>
              </a:rPr>
              <a:t>References and project materials</a:t>
            </a:r>
          </a:p>
        </p:txBody>
      </p:sp>
      <p:sp>
        <p:nvSpPr>
          <p:cNvPr id="2" name="G19">
            <a:extLst>
              <a:ext uri="{FF2B5EF4-FFF2-40B4-BE49-F238E27FC236}">
                <a16:creationId xmlns:a16="http://schemas.microsoft.com/office/drawing/2014/main" id="{A01F4B38-CE7A-43DB-B7C5-CDA6444CB400}"/>
              </a:ext>
            </a:extLst>
          </p:cNvPr>
          <p:cNvSpPr>
            <a:spLocks noGrp="1"/>
          </p:cNvSpPr>
          <p:nvPr/>
        </p:nvSpPr>
        <p:spPr>
          <a:xfrm>
            <a:off x="609600" y="6467475"/>
            <a:ext cx="952500" cy="219075"/>
          </a:xfrm>
          <a:prstGeom prst="rect">
            <a:avLst/>
          </a:prstGeom>
          <a:noFill/>
          <a:ln w="0">
            <a:noFill/>
          </a:ln>
        </p:spPr>
        <p:txBody>
          <a:bodyPr wrap="square" lIns="0" tIns="0" rIns="0" bIns="0" anchor="t">
            <a:noAutofit/>
          </a:bodyPr>
          <a:lstStyle/>
          <a:p>
            <a:pPr algn="l">
              <a:defRPr sz="1200" b="0">
                <a:solidFill>
                  <a:srgbClr val="526577"/>
                </a:solidFill>
                <a:latin typeface="Arial"/>
                <a:ea typeface="Arial"/>
                <a:cs typeface="Arial"/>
              </a:defRPr>
            </a:pPr>
            <a:r>
              <a:rPr sz="1200" b="0">
                <a:solidFill>
                  <a:srgbClr val="526577"/>
                </a:solidFill>
                <a:latin typeface="Arial"/>
                <a:ea typeface="Arial"/>
                <a:cs typeface="Arial"/>
              </a:rPr>
              <a:t>G19</a:t>
            </a:r>
          </a:p>
        </p:txBody>
      </p:sp>
      <p:sp>
        <p:nvSpPr>
          <p:cNvPr id="3" name="16">
            <a:extLst>
              <a:ext uri="{FF2B5EF4-FFF2-40B4-BE49-F238E27FC236}">
                <a16:creationId xmlns:a16="http://schemas.microsoft.com/office/drawing/2014/main" id="{5061005C-D2D1-42FB-8F1C-F086B9F6E48E}"/>
              </a:ext>
            </a:extLst>
          </p:cNvPr>
          <p:cNvSpPr>
            <a:spLocks noGrp="1"/>
          </p:cNvSpPr>
          <p:nvPr/>
        </p:nvSpPr>
        <p:spPr>
          <a:xfrm>
            <a:off x="10991850" y="6467475"/>
            <a:ext cx="571500" cy="219075"/>
          </a:xfrm>
          <a:prstGeom prst="rect">
            <a:avLst/>
          </a:prstGeom>
          <a:noFill/>
          <a:ln w="0">
            <a:noFill/>
          </a:ln>
        </p:spPr>
        <p:txBody>
          <a:bodyPr wrap="square" lIns="0" tIns="0" rIns="0" bIns="0" anchor="t">
            <a:noAutofit/>
          </a:bodyPr>
          <a:lstStyle/>
          <a:p>
            <a:pPr algn="r">
              <a:defRPr sz="1200" b="0">
                <a:solidFill>
                  <a:srgbClr val="526577"/>
                </a:solidFill>
                <a:latin typeface="Arial"/>
                <a:ea typeface="Arial"/>
                <a:cs typeface="Arial"/>
              </a:defRPr>
            </a:pPr>
            <a:r>
              <a:rPr sz="1200" b="0">
                <a:solidFill>
                  <a:srgbClr val="526577"/>
                </a:solidFill>
                <a:latin typeface="Arial"/>
                <a:ea typeface="Arial"/>
                <a:cs typeface="Arial"/>
              </a:rPr>
              <a:t>16</a:t>
            </a:r>
          </a:p>
        </p:txBody>
      </p:sp>
      <p:sp>
        <p:nvSpPr>
          <p:cNvPr id="4" name="Reference study">
            <a:extLst>
              <a:ext uri="{FF2B5EF4-FFF2-40B4-BE49-F238E27FC236}">
                <a16:creationId xmlns:a16="http://schemas.microsoft.com/office/drawing/2014/main" id="{E72C82DF-3603-4D1A-B012-9C8E8810D308}"/>
              </a:ext>
            </a:extLst>
          </p:cNvPr>
          <p:cNvSpPr>
            <a:spLocks noGrp="1"/>
          </p:cNvSpPr>
          <p:nvPr/>
        </p:nvSpPr>
        <p:spPr>
          <a:xfrm>
            <a:off x="628650" y="1581150"/>
            <a:ext cx="10668000" cy="371475"/>
          </a:xfrm>
          <a:prstGeom prst="rect">
            <a:avLst/>
          </a:prstGeom>
          <a:noFill/>
          <a:ln w="0">
            <a:noFill/>
          </a:ln>
        </p:spPr>
        <p:txBody>
          <a:bodyPr wrap="square" lIns="0" tIns="0" rIns="0" bIns="0" anchor="t">
            <a:noAutofit/>
          </a:bodyPr>
          <a:lstStyle/>
          <a:p>
            <a:pPr algn="l">
              <a:defRPr sz="2100" b="1">
                <a:solidFill>
                  <a:srgbClr val="087E82"/>
                </a:solidFill>
                <a:latin typeface="Arial"/>
                <a:ea typeface="Arial"/>
                <a:cs typeface="Arial"/>
              </a:defRPr>
            </a:pPr>
            <a:r>
              <a:rPr sz="2100" b="1">
                <a:solidFill>
                  <a:srgbClr val="087E82"/>
                </a:solidFill>
                <a:latin typeface="Arial"/>
                <a:ea typeface="Arial"/>
                <a:cs typeface="Arial"/>
              </a:rPr>
              <a:t>Reference study</a:t>
            </a:r>
          </a:p>
        </p:txBody>
      </p:sp>
      <p:sp>
        <p:nvSpPr>
          <p:cNvPr id="5" name="A. Verma, K. Akhilesh Rao and D. S. Hegde.&#10;Lithography Hotspot De">
            <a:extLst>
              <a:ext uri="{FF2B5EF4-FFF2-40B4-BE49-F238E27FC236}">
                <a16:creationId xmlns:a16="http://schemas.microsoft.com/office/drawing/2014/main" id="{B6E278EC-2B0B-4BCB-9725-26E6076362F2}"/>
              </a:ext>
            </a:extLst>
          </p:cNvPr>
          <p:cNvSpPr>
            <a:spLocks noGrp="1"/>
          </p:cNvSpPr>
          <p:nvPr/>
        </p:nvSpPr>
        <p:spPr>
          <a:xfrm>
            <a:off x="628650" y="2047875"/>
            <a:ext cx="10734675" cy="1057275"/>
          </a:xfrm>
          <a:prstGeom prst="rect">
            <a:avLst/>
          </a:prstGeom>
          <a:noFill/>
          <a:ln w="0">
            <a:noFill/>
          </a:ln>
        </p:spPr>
        <p:txBody>
          <a:bodyPr wrap="square" lIns="0" tIns="0" rIns="0" bIns="0" anchor="t">
            <a:noAutofit/>
          </a:bodyPr>
          <a:lstStyle/>
          <a:p>
            <a:pPr algn="l">
              <a:defRPr sz="1950" b="0">
                <a:solidFill>
                  <a:srgbClr val="172E40"/>
                </a:solidFill>
                <a:latin typeface="Arial"/>
                <a:ea typeface="Arial"/>
                <a:cs typeface="Arial"/>
              </a:defRPr>
            </a:pPr>
            <a:r>
              <a:rPr sz="1950" b="0">
                <a:solidFill>
                  <a:srgbClr val="172E40"/>
                </a:solidFill>
                <a:latin typeface="Arial"/>
                <a:ea typeface="Arial"/>
                <a:cs typeface="Arial"/>
              </a:rPr>
              <a:t>A. Verma, K. Akhilesh Rao and D. S. Hegde.</a:t>
            </a:r>
          </a:p>
          <a:p>
            <a:pPr algn="l">
              <a:defRPr sz="1950" b="0">
                <a:solidFill>
                  <a:srgbClr val="172E40"/>
                </a:solidFill>
                <a:latin typeface="Arial"/>
                <a:ea typeface="Arial"/>
                <a:cs typeface="Arial"/>
              </a:defRPr>
            </a:pPr>
            <a:r>
              <a:rPr sz="1950" b="0">
                <a:solidFill>
                  <a:srgbClr val="172E40"/>
                </a:solidFill>
                <a:latin typeface="Arial"/>
                <a:ea typeface="Arial"/>
                <a:cs typeface="Arial"/>
              </a:rPr>
              <a:t>Lithography Hotspot Detection using Deep Learning.</a:t>
            </a:r>
          </a:p>
          <a:p>
            <a:pPr algn="l">
              <a:defRPr sz="1950" b="0">
                <a:solidFill>
                  <a:srgbClr val="172E40"/>
                </a:solidFill>
                <a:latin typeface="Arial"/>
                <a:ea typeface="Arial"/>
                <a:cs typeface="Arial"/>
              </a:defRPr>
            </a:pPr>
            <a:r>
              <a:rPr sz="1950" b="0">
                <a:solidFill>
                  <a:srgbClr val="172E40"/>
                </a:solidFill>
                <a:latin typeface="Arial"/>
                <a:ea typeface="Arial"/>
                <a:cs typeface="Arial"/>
              </a:rPr>
              <a:t>IIT Bombay. Supplied reference paper, publication date not stated.</a:t>
            </a:r>
          </a:p>
        </p:txBody>
      </p:sp>
      <p:sp>
        <p:nvSpPr>
          <p:cNvPr id="6" name="Assignment brief">
            <a:extLst>
              <a:ext uri="{FF2B5EF4-FFF2-40B4-BE49-F238E27FC236}">
                <a16:creationId xmlns:a16="http://schemas.microsoft.com/office/drawing/2014/main" id="{1C2796CB-C1C4-4B9C-B06F-60F169878419}"/>
              </a:ext>
            </a:extLst>
          </p:cNvPr>
          <p:cNvSpPr>
            <a:spLocks noGrp="1"/>
          </p:cNvSpPr>
          <p:nvPr/>
        </p:nvSpPr>
        <p:spPr>
          <a:xfrm>
            <a:off x="628650" y="3486150"/>
            <a:ext cx="10668000" cy="371475"/>
          </a:xfrm>
          <a:prstGeom prst="rect">
            <a:avLst/>
          </a:prstGeom>
          <a:noFill/>
          <a:ln w="0">
            <a:noFill/>
          </a:ln>
        </p:spPr>
        <p:txBody>
          <a:bodyPr wrap="square" lIns="0" tIns="0" rIns="0" bIns="0" anchor="t">
            <a:noAutofit/>
          </a:bodyPr>
          <a:lstStyle/>
          <a:p>
            <a:pPr algn="l">
              <a:defRPr sz="2100" b="1">
                <a:solidFill>
                  <a:srgbClr val="087E82"/>
                </a:solidFill>
                <a:latin typeface="Arial"/>
                <a:ea typeface="Arial"/>
                <a:cs typeface="Arial"/>
              </a:defRPr>
            </a:pPr>
            <a:r>
              <a:rPr sz="2100" b="1">
                <a:solidFill>
                  <a:srgbClr val="087E82"/>
                </a:solidFill>
                <a:latin typeface="Arial"/>
                <a:ea typeface="Arial"/>
                <a:cs typeface="Arial"/>
              </a:rPr>
              <a:t>Assignment brief</a:t>
            </a:r>
          </a:p>
        </p:txBody>
      </p:sp>
      <p:sp>
        <p:nvSpPr>
          <p:cNvPr id="7" name="Digital Assignment II, September 2026. AI and Machine Learning fo">
            <a:extLst>
              <a:ext uri="{FF2B5EF4-FFF2-40B4-BE49-F238E27FC236}">
                <a16:creationId xmlns:a16="http://schemas.microsoft.com/office/drawing/2014/main" id="{B26CFC36-A242-490A-AABC-CB666465F5B7}"/>
              </a:ext>
            </a:extLst>
          </p:cNvPr>
          <p:cNvSpPr>
            <a:spLocks noGrp="1"/>
          </p:cNvSpPr>
          <p:nvPr/>
        </p:nvSpPr>
        <p:spPr>
          <a:xfrm>
            <a:off x="628650" y="3952875"/>
            <a:ext cx="10734675" cy="733425"/>
          </a:xfrm>
          <a:prstGeom prst="rect">
            <a:avLst/>
          </a:prstGeom>
          <a:noFill/>
          <a:ln w="0">
            <a:noFill/>
          </a:ln>
        </p:spPr>
        <p:txBody>
          <a:bodyPr wrap="square" lIns="0" tIns="0" rIns="0" bIns="0" anchor="t">
            <a:noAutofit/>
          </a:bodyPr>
          <a:lstStyle/>
          <a:p>
            <a:pPr algn="l">
              <a:defRPr sz="1950" b="0">
                <a:solidFill>
                  <a:srgbClr val="172E40"/>
                </a:solidFill>
                <a:latin typeface="Arial"/>
                <a:ea typeface="Arial"/>
                <a:cs typeface="Arial"/>
              </a:defRPr>
            </a:pPr>
            <a:r>
              <a:rPr sz="1950" b="0">
                <a:solidFill>
                  <a:srgbClr val="172E40"/>
                </a:solidFill>
                <a:latin typeface="Arial"/>
                <a:ea typeface="Arial"/>
                <a:cs typeface="Arial"/>
              </a:rPr>
              <a:t>Digital Assignment II, September 2026. AI and Machine Learning for IC,</a:t>
            </a:r>
          </a:p>
          <a:p>
            <a:pPr algn="l">
              <a:defRPr sz="1950" b="0">
                <a:solidFill>
                  <a:srgbClr val="172E40"/>
                </a:solidFill>
                <a:latin typeface="Arial"/>
                <a:ea typeface="Arial"/>
                <a:cs typeface="Arial"/>
              </a:defRPr>
            </a:pPr>
            <a:r>
              <a:rPr sz="1950" b="0">
                <a:solidFill>
                  <a:srgbClr val="172E40"/>
                </a:solidFill>
                <a:latin typeface="Arial"/>
                <a:ea typeface="Arial"/>
                <a:cs typeface="Arial"/>
              </a:rPr>
              <a:t>BEVD402L. G19 project statement and group allocation.</a:t>
            </a:r>
          </a:p>
        </p:txBody>
      </p:sp>
      <p:sp>
        <p:nvSpPr>
          <p:cNvPr id="8" name="Group project implementation and results">
            <a:extLst>
              <a:ext uri="{FF2B5EF4-FFF2-40B4-BE49-F238E27FC236}">
                <a16:creationId xmlns:a16="http://schemas.microsoft.com/office/drawing/2014/main" id="{C4949C59-9153-4129-88D1-DD031F87DD55}"/>
              </a:ext>
            </a:extLst>
          </p:cNvPr>
          <p:cNvSpPr>
            <a:spLocks noGrp="1"/>
          </p:cNvSpPr>
          <p:nvPr/>
        </p:nvSpPr>
        <p:spPr>
          <a:xfrm>
            <a:off x="628650" y="5067300"/>
            <a:ext cx="10763250" cy="371475"/>
          </a:xfrm>
          <a:prstGeom prst="rect">
            <a:avLst/>
          </a:prstGeom>
          <a:noFill/>
          <a:ln w="0">
            <a:noFill/>
          </a:ln>
        </p:spPr>
        <p:txBody>
          <a:bodyPr wrap="square" lIns="0" tIns="0" rIns="0" bIns="0" anchor="t">
            <a:noAutofit/>
          </a:bodyPr>
          <a:lstStyle/>
          <a:p>
            <a:pPr algn="l">
              <a:defRPr sz="2100" b="1">
                <a:solidFill>
                  <a:srgbClr val="087E82"/>
                </a:solidFill>
                <a:latin typeface="Arial"/>
                <a:ea typeface="Arial"/>
                <a:cs typeface="Arial"/>
              </a:defRPr>
            </a:pPr>
            <a:r>
              <a:rPr sz="2100" b="1">
                <a:solidFill>
                  <a:srgbClr val="087E82"/>
                </a:solidFill>
                <a:latin typeface="Arial"/>
                <a:ea typeface="Arial"/>
                <a:cs typeface="Arial"/>
              </a:rPr>
              <a:t>Group project implementation and results</a:t>
            </a:r>
          </a:p>
        </p:txBody>
      </p:sp>
      <p:sp>
        <p:nvSpPr>
          <p:cNvPr id="9" name="Baseline CNN, referral logic and final comparison scripts.&#10;Saved ">
            <a:extLst>
              <a:ext uri="{FF2B5EF4-FFF2-40B4-BE49-F238E27FC236}">
                <a16:creationId xmlns:a16="http://schemas.microsoft.com/office/drawing/2014/main" id="{1B0B0FAC-4237-4805-9DAF-4F37730D0131}"/>
              </a:ext>
            </a:extLst>
          </p:cNvPr>
          <p:cNvSpPr>
            <a:spLocks noGrp="1"/>
          </p:cNvSpPr>
          <p:nvPr/>
        </p:nvSpPr>
        <p:spPr>
          <a:xfrm>
            <a:off x="628650" y="5534025"/>
            <a:ext cx="10744200" cy="714375"/>
          </a:xfrm>
          <a:prstGeom prst="rect">
            <a:avLst/>
          </a:prstGeom>
          <a:noFill/>
          <a:ln w="0">
            <a:noFill/>
          </a:ln>
        </p:spPr>
        <p:txBody>
          <a:bodyPr wrap="square" lIns="0" tIns="0" rIns="0" bIns="0" anchor="t">
            <a:noAutofit/>
          </a:bodyPr>
          <a:lstStyle/>
          <a:p>
            <a:pPr algn="l">
              <a:defRPr sz="1875" b="0">
                <a:solidFill>
                  <a:srgbClr val="172E40"/>
                </a:solidFill>
                <a:latin typeface="Arial"/>
                <a:ea typeface="Arial"/>
                <a:cs typeface="Arial"/>
              </a:defRPr>
            </a:pPr>
            <a:r>
              <a:rPr sz="1875" b="0">
                <a:solidFill>
                  <a:srgbClr val="172E40"/>
                </a:solidFill>
                <a:latin typeface="Arial"/>
                <a:ea typeface="Arial"/>
                <a:cs typeface="Arial"/>
              </a:rPr>
              <a:t>Baseline CNN, referral logic and final comparison scripts.</a:t>
            </a:r>
          </a:p>
          <a:p>
            <a:pPr algn="l">
              <a:defRPr sz="1875" b="0">
                <a:solidFill>
                  <a:srgbClr val="172E40"/>
                </a:solidFill>
                <a:latin typeface="Arial"/>
                <a:ea typeface="Arial"/>
                <a:cs typeface="Arial"/>
              </a:defRPr>
            </a:pPr>
            <a:r>
              <a:rPr sz="1875" b="0">
                <a:solidFill>
                  <a:srgbClr val="172E40"/>
                </a:solidFill>
                <a:latin typeface="Arial"/>
                <a:ea typeface="Arial"/>
                <a:cs typeface="Arial"/>
              </a:rPr>
              <a:t>Saved models, test predictions and benchmark summary tables.</a:t>
            </a:r>
          </a:p>
        </p:txBody>
      </p:sp>
    </p:spTree>
    <p:extLst>
      <p:ext uri="{BB962C8B-B14F-4D97-AF65-F5344CB8AC3E}">
        <p14:creationId xmlns:p14="http://schemas.microsoft.com/office/powerpoint/2010/main" val="140094908"/>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2570</Words>
  <Application>Microsoft Office PowerPoint</Application>
  <DocSecurity>0</DocSecurity>
  <PresentationFormat>Widescreen</PresentationFormat>
  <Paragraphs>347</Paragraphs>
  <Slides>17</Slides>
  <Notes>16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Amasis MT Pro Black</vt:lpstr>
      <vt:lpstr>Aptos</vt: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harigive57@gmail.com</cp:lastModifiedBy>
  <cp:revision>1</cp:revision>
  <dcterms:created xsi:type="dcterms:W3CDTF">2026-09-19T13:12:43Z</dcterms:created>
  <dcterms:modified xsi:type="dcterms:W3CDTF">2026-09-20T13:12:21Z</dcterms:modified>
</cp:coreProperties>
</file>